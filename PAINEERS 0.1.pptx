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DM Sans" pitchFamily="2" charset="0"/>
      <p:regular r:id="rId13"/>
    </p:embeddedFont>
    <p:embeddedFont>
      <p:font typeface="DM Sans Bold" charset="0"/>
      <p:regular r:id="rId14"/>
    </p:embeddedFont>
    <p:embeddedFont>
      <p:font typeface="DM Sans Bold Italics" panose="020B0604020202020204" charset="0"/>
      <p:regular r:id="rId15"/>
    </p:embeddedFont>
    <p:embeddedFont>
      <p:font typeface="DM Sans Italics" panose="020B0604020202020204" charset="0"/>
      <p:regular r:id="rId16"/>
    </p:embeddedFont>
    <p:embeddedFont>
      <p:font typeface="Now Bold" panose="020B0604020202020204" charset="0"/>
      <p:regular r:id="rId17"/>
    </p:embeddedFont>
    <p:embeddedFont>
      <p:font typeface="Touvlo" panose="020B0604020202020204" charset="0"/>
      <p:regular r:id="rId18"/>
    </p:embeddedFont>
    <p:embeddedFont>
      <p:font typeface="Touvlo Bold" panose="020B0604020202020204" charset="0"/>
      <p:regular r:id="rId19"/>
    </p:embeddedFont>
    <p:embeddedFont>
      <p:font typeface="Touvlo Bold Italics" panose="020B0604020202020204" charset="0"/>
      <p:regular r:id="rId20"/>
    </p:embeddedFont>
    <p:embeddedFont>
      <p:font typeface="Touvlo Italics"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54" autoAdjust="0"/>
    <p:restoredTop sz="94622" autoAdjust="0"/>
  </p:normalViewPr>
  <p:slideViewPr>
    <p:cSldViewPr>
      <p:cViewPr>
        <p:scale>
          <a:sx n="30" d="100"/>
          <a:sy n="30" d="100"/>
        </p:scale>
        <p:origin x="1752" y="6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jpe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image" Target="../media/image15.jpeg"/><Relationship Id="rId1" Type="http://schemas.openxmlformats.org/officeDocument/2006/relationships/slideLayout" Target="../slideLayouts/slideLayout7.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4" Type="http://schemas.openxmlformats.org/officeDocument/2006/relationships/image" Target="../media/image28.svg"/></Relationships>
</file>

<file path=ppt/slides/_rels/slide6.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8.svg"/></Relationships>
</file>

<file path=ppt/slides/_rels/slide9.xml.rels><?xml version="1.0" encoding="UTF-8" standalone="yes"?>
<Relationships xmlns="http://schemas.openxmlformats.org/package/2006/relationships"><Relationship Id="rId3" Type="http://schemas.openxmlformats.org/officeDocument/2006/relationships/image" Target="../media/image40.sv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svg"/><Relationship Id="rId4" Type="http://schemas.openxmlformats.org/officeDocument/2006/relationships/image" Target="../media/image41.png"/></Relationships>
</file>

<file path=ppt/slides/_rels/slide10.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s>
</file>

<file path=ppt/slides/_rels/slide1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7.xml"/><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49.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1392544" y="4154952"/>
            <a:ext cx="11958151" cy="1929323"/>
            <a:chOff x="0" y="0"/>
            <a:chExt cx="3149472" cy="508135"/>
          </a:xfrm>
        </p:grpSpPr>
        <p:sp>
          <p:nvSpPr>
            <p:cNvPr id="3" name="Freeform 3"/>
            <p:cNvSpPr/>
            <p:nvPr/>
          </p:nvSpPr>
          <p:spPr>
            <a:xfrm>
              <a:off x="0" y="0"/>
              <a:ext cx="3149472" cy="508135"/>
            </a:xfrm>
            <a:custGeom>
              <a:avLst/>
              <a:gdLst/>
              <a:ahLst/>
              <a:cxnLst/>
              <a:rect l="l" t="t" r="r" b="b"/>
              <a:pathLst>
                <a:path w="3149472" h="508135">
                  <a:moveTo>
                    <a:pt x="0" y="0"/>
                  </a:moveTo>
                  <a:lnTo>
                    <a:pt x="3149472" y="0"/>
                  </a:lnTo>
                  <a:lnTo>
                    <a:pt x="3149472" y="508135"/>
                  </a:lnTo>
                  <a:lnTo>
                    <a:pt x="0" y="508135"/>
                  </a:lnTo>
                  <a:close/>
                </a:path>
              </a:pathLst>
            </a:custGeom>
            <a:solidFill>
              <a:srgbClr val="145DA0"/>
            </a:solidFill>
          </p:spPr>
        </p:sp>
        <p:sp>
          <p:nvSpPr>
            <p:cNvPr id="4" name="TextBox 4"/>
            <p:cNvSpPr txBox="1"/>
            <p:nvPr/>
          </p:nvSpPr>
          <p:spPr>
            <a:xfrm>
              <a:off x="0" y="-28575"/>
              <a:ext cx="3149472" cy="536710"/>
            </a:xfrm>
            <a:prstGeom prst="rect">
              <a:avLst/>
            </a:prstGeom>
          </p:spPr>
          <p:txBody>
            <a:bodyPr lIns="50800" tIns="50800" rIns="50800" bIns="50800" rtlCol="0" anchor="ctr"/>
            <a:lstStyle/>
            <a:p>
              <a:pPr algn="ctr">
                <a:lnSpc>
                  <a:spcPts val="2590"/>
                </a:lnSpc>
              </a:pPr>
              <a:endParaRPr/>
            </a:p>
          </p:txBody>
        </p:sp>
      </p:grpSp>
      <p:sp>
        <p:nvSpPr>
          <p:cNvPr id="5" name="Freeform 5"/>
          <p:cNvSpPr/>
          <p:nvPr/>
        </p:nvSpPr>
        <p:spPr>
          <a:xfrm>
            <a:off x="11208957" y="-1011147"/>
            <a:ext cx="2647750" cy="2647750"/>
          </a:xfrm>
          <a:custGeom>
            <a:avLst/>
            <a:gdLst/>
            <a:ahLst/>
            <a:cxnLst/>
            <a:rect l="l" t="t" r="r" b="b"/>
            <a:pathLst>
              <a:path w="2647750" h="2647750">
                <a:moveTo>
                  <a:pt x="0" y="0"/>
                </a:moveTo>
                <a:lnTo>
                  <a:pt x="2647750" y="0"/>
                </a:lnTo>
                <a:lnTo>
                  <a:pt x="2647750" y="2647750"/>
                </a:lnTo>
                <a:lnTo>
                  <a:pt x="0" y="26477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0380940" y="649592"/>
            <a:ext cx="7516996" cy="8987817"/>
            <a:chOff x="0" y="0"/>
            <a:chExt cx="8603361" cy="10286746"/>
          </a:xfrm>
        </p:grpSpPr>
        <p:sp>
          <p:nvSpPr>
            <p:cNvPr id="7" name="Freeform 7"/>
            <p:cNvSpPr/>
            <p:nvPr/>
          </p:nvSpPr>
          <p:spPr>
            <a:xfrm>
              <a:off x="-2794" y="-127"/>
              <a:ext cx="8606155" cy="10286873"/>
            </a:xfrm>
            <a:custGeom>
              <a:avLst/>
              <a:gdLst/>
              <a:ahLst/>
              <a:cxnLst/>
              <a:rect l="l" t="t" r="r" b="b"/>
              <a:pathLst>
                <a:path w="8606155" h="10286873">
                  <a:moveTo>
                    <a:pt x="8606155" y="10251440"/>
                  </a:moveTo>
                  <a:cubicBezTo>
                    <a:pt x="8606155" y="10284587"/>
                    <a:pt x="8595487" y="10286873"/>
                    <a:pt x="8567674" y="10286873"/>
                  </a:cubicBezTo>
                  <a:cubicBezTo>
                    <a:pt x="5713095" y="10286238"/>
                    <a:pt x="2858643" y="10286238"/>
                    <a:pt x="4064" y="10286238"/>
                  </a:cubicBezTo>
                  <a:cubicBezTo>
                    <a:pt x="0" y="10272395"/>
                    <a:pt x="6350" y="10259822"/>
                    <a:pt x="9271" y="10246995"/>
                  </a:cubicBezTo>
                  <a:cubicBezTo>
                    <a:pt x="134747" y="9685401"/>
                    <a:pt x="260350" y="9123934"/>
                    <a:pt x="386207" y="8562467"/>
                  </a:cubicBezTo>
                  <a:cubicBezTo>
                    <a:pt x="565658" y="7761986"/>
                    <a:pt x="745490" y="6961632"/>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5"/>
                    <a:pt x="8605139" y="6846316"/>
                    <a:pt x="8606155" y="10251440"/>
                  </a:cubicBezTo>
                  <a:close/>
                </a:path>
              </a:pathLst>
            </a:custGeom>
            <a:blipFill>
              <a:blip r:embed="rId4"/>
              <a:stretch>
                <a:fillRect t="-12765" b="-12765"/>
              </a:stretch>
            </a:blipFill>
          </p:spPr>
        </p:sp>
      </p:grpSp>
      <p:sp>
        <p:nvSpPr>
          <p:cNvPr id="8" name="TextBox 8"/>
          <p:cNvSpPr txBox="1"/>
          <p:nvPr/>
        </p:nvSpPr>
        <p:spPr>
          <a:xfrm>
            <a:off x="1834580" y="7822232"/>
            <a:ext cx="7913921" cy="464704"/>
          </a:xfrm>
          <a:prstGeom prst="rect">
            <a:avLst/>
          </a:prstGeom>
        </p:spPr>
        <p:txBody>
          <a:bodyPr lIns="0" tIns="0" rIns="0" bIns="0" rtlCol="0" anchor="t">
            <a:spAutoFit/>
          </a:bodyPr>
          <a:lstStyle/>
          <a:p>
            <a:pPr marL="0" lvl="0" indent="0" algn="ctr">
              <a:lnSpc>
                <a:spcPts val="3727"/>
              </a:lnSpc>
              <a:spcBef>
                <a:spcPct val="0"/>
              </a:spcBef>
            </a:pPr>
            <a:r>
              <a:rPr lang="en-US" sz="3030" i="1" dirty="0">
                <a:solidFill>
                  <a:srgbClr val="56AEFF"/>
                </a:solidFill>
                <a:latin typeface="DM Sans Italics"/>
                <a:ea typeface="DM Sans Italics"/>
                <a:cs typeface="DM Sans Italics"/>
                <a:sym typeface="DM Sans Italics"/>
              </a:rPr>
              <a:t>Supervised by ENG\Hassan Amgad</a:t>
            </a:r>
          </a:p>
        </p:txBody>
      </p:sp>
      <p:sp>
        <p:nvSpPr>
          <p:cNvPr id="9" name="TextBox 9"/>
          <p:cNvSpPr txBox="1"/>
          <p:nvPr/>
        </p:nvSpPr>
        <p:spPr>
          <a:xfrm>
            <a:off x="105462" y="4019264"/>
            <a:ext cx="11573336" cy="1846659"/>
          </a:xfrm>
          <a:prstGeom prst="rect">
            <a:avLst/>
          </a:prstGeom>
        </p:spPr>
        <p:txBody>
          <a:bodyPr wrap="square" lIns="0" tIns="0" rIns="0" bIns="0" rtlCol="0" anchor="t">
            <a:spAutoFit/>
          </a:bodyPr>
          <a:lstStyle/>
          <a:p>
            <a:pPr algn="ctr"/>
            <a:r>
              <a:rPr lang="en-US" sz="4000" b="1" dirty="0">
                <a:solidFill>
                  <a:srgbClr val="CFF4FF"/>
                </a:solidFill>
                <a:latin typeface="Now Bold"/>
                <a:ea typeface="Now Bold"/>
                <a:cs typeface="Now Bold"/>
                <a:sym typeface="Now Bold"/>
              </a:rPr>
              <a:t>PAYROLL PROCESSING AND MANAGEMENT </a:t>
            </a:r>
          </a:p>
          <a:p>
            <a:pPr algn="ctr"/>
            <a:r>
              <a:rPr lang="en-US" sz="4000" b="1" dirty="0">
                <a:solidFill>
                  <a:srgbClr val="CFF4FF"/>
                </a:solidFill>
                <a:latin typeface="Now Bold"/>
                <a:ea typeface="Now Bold"/>
                <a:cs typeface="Now Bold"/>
                <a:sym typeface="Now Bold"/>
              </a:rPr>
              <a:t>IN</a:t>
            </a:r>
          </a:p>
          <a:p>
            <a:pPr algn="ctr"/>
            <a:r>
              <a:rPr lang="en-US" sz="4000" b="1" dirty="0">
                <a:solidFill>
                  <a:srgbClr val="CFF4FF"/>
                </a:solidFill>
                <a:latin typeface="Now Bold"/>
                <a:ea typeface="Now Bold"/>
                <a:cs typeface="Now Bold"/>
                <a:sym typeface="Now Bold"/>
              </a:rPr>
              <a:t> ORACLE ERP</a:t>
            </a:r>
          </a:p>
        </p:txBody>
      </p:sp>
      <p:sp>
        <p:nvSpPr>
          <p:cNvPr id="10" name="TextBox 10"/>
          <p:cNvSpPr txBox="1"/>
          <p:nvPr/>
        </p:nvSpPr>
        <p:spPr>
          <a:xfrm>
            <a:off x="2598623" y="1434054"/>
            <a:ext cx="2126388" cy="395573"/>
          </a:xfrm>
          <a:prstGeom prst="rect">
            <a:avLst/>
          </a:prstGeom>
        </p:spPr>
        <p:txBody>
          <a:bodyPr lIns="0" tIns="0" rIns="0" bIns="0" rtlCol="0" anchor="t">
            <a:spAutoFit/>
          </a:bodyPr>
          <a:lstStyle/>
          <a:p>
            <a:pPr algn="l">
              <a:lnSpc>
                <a:spcPts val="3131"/>
              </a:lnSpc>
            </a:pPr>
            <a:r>
              <a:rPr lang="en-US" sz="2545" i="1" spc="-50">
                <a:solidFill>
                  <a:srgbClr val="56AEFF"/>
                </a:solidFill>
                <a:latin typeface="DM Sans Italics"/>
                <a:ea typeface="DM Sans Italics"/>
                <a:cs typeface="DM Sans Italics"/>
                <a:sym typeface="DM Sans Italics"/>
              </a:rPr>
              <a:t>Pioneers</a:t>
            </a:r>
          </a:p>
        </p:txBody>
      </p:sp>
      <p:sp>
        <p:nvSpPr>
          <p:cNvPr id="11" name="Freeform 11"/>
          <p:cNvSpPr/>
          <p:nvPr/>
        </p:nvSpPr>
        <p:spPr>
          <a:xfrm>
            <a:off x="1573748" y="1146060"/>
            <a:ext cx="846187" cy="981086"/>
          </a:xfrm>
          <a:custGeom>
            <a:avLst/>
            <a:gdLst/>
            <a:ahLst/>
            <a:cxnLst/>
            <a:rect l="l" t="t" r="r" b="b"/>
            <a:pathLst>
              <a:path w="846187" h="981086">
                <a:moveTo>
                  <a:pt x="0" y="0"/>
                </a:moveTo>
                <a:lnTo>
                  <a:pt x="846186" y="0"/>
                </a:lnTo>
                <a:lnTo>
                  <a:pt x="846186" y="981086"/>
                </a:lnTo>
                <a:lnTo>
                  <a:pt x="0" y="98108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Freeform 12"/>
          <p:cNvSpPr/>
          <p:nvPr/>
        </p:nvSpPr>
        <p:spPr>
          <a:xfrm>
            <a:off x="-295175" y="8630507"/>
            <a:ext cx="2647750" cy="2647750"/>
          </a:xfrm>
          <a:custGeom>
            <a:avLst/>
            <a:gdLst/>
            <a:ahLst/>
            <a:cxnLst/>
            <a:rect l="l" t="t" r="r" b="b"/>
            <a:pathLst>
              <a:path w="2647750" h="2647750">
                <a:moveTo>
                  <a:pt x="0" y="0"/>
                </a:moveTo>
                <a:lnTo>
                  <a:pt x="2647750" y="0"/>
                </a:lnTo>
                <a:lnTo>
                  <a:pt x="2647750" y="2647751"/>
                </a:lnTo>
                <a:lnTo>
                  <a:pt x="0" y="26477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TextBox 13"/>
          <p:cNvSpPr txBox="1"/>
          <p:nvPr/>
        </p:nvSpPr>
        <p:spPr>
          <a:xfrm>
            <a:off x="1062161" y="6720456"/>
            <a:ext cx="9659937" cy="542925"/>
          </a:xfrm>
          <a:prstGeom prst="rect">
            <a:avLst/>
          </a:prstGeom>
        </p:spPr>
        <p:txBody>
          <a:bodyPr lIns="0" tIns="0" rIns="0" bIns="0" rtlCol="0" anchor="t">
            <a:spAutoFit/>
          </a:bodyPr>
          <a:lstStyle/>
          <a:p>
            <a:pPr algn="ctr">
              <a:lnSpc>
                <a:spcPts val="4209"/>
              </a:lnSpc>
            </a:pPr>
            <a:r>
              <a:rPr lang="en-US" sz="3507" b="1" dirty="0">
                <a:solidFill>
                  <a:srgbClr val="56AEFF"/>
                </a:solidFill>
                <a:latin typeface="Now Bold"/>
                <a:ea typeface="Now Bold"/>
                <a:cs typeface="Now Bold"/>
                <a:sym typeface="Now Bold"/>
              </a:rPr>
              <a:t>NXT23_ONL2_ERP2_G1</a:t>
            </a:r>
          </a:p>
        </p:txBody>
      </p:sp>
      <p:sp>
        <p:nvSpPr>
          <p:cNvPr id="14" name="TextBox 14"/>
          <p:cNvSpPr txBox="1"/>
          <p:nvPr/>
        </p:nvSpPr>
        <p:spPr>
          <a:xfrm>
            <a:off x="1834581" y="8852946"/>
            <a:ext cx="7913921" cy="393700"/>
          </a:xfrm>
          <a:prstGeom prst="rect">
            <a:avLst/>
          </a:prstGeom>
        </p:spPr>
        <p:txBody>
          <a:bodyPr lIns="0" tIns="0" rIns="0" bIns="0" rtlCol="0" anchor="t">
            <a:spAutoFit/>
          </a:bodyPr>
          <a:lstStyle/>
          <a:p>
            <a:pPr algn="ctr">
              <a:lnSpc>
                <a:spcPts val="3124"/>
              </a:lnSpc>
              <a:spcBef>
                <a:spcPct val="0"/>
              </a:spcBef>
            </a:pPr>
            <a:r>
              <a:rPr lang="en-US" sz="2499" b="1" i="1" spc="57" dirty="0">
                <a:solidFill>
                  <a:srgbClr val="56AEFF"/>
                </a:solidFill>
                <a:latin typeface="Touvlo Bold Italics"/>
                <a:ea typeface="Touvlo Bold Italics"/>
                <a:cs typeface="Touvlo Bold Italics"/>
                <a:sym typeface="Touvlo Bold Italics"/>
              </a:rPr>
              <a:t>Team</a:t>
            </a:r>
            <a:r>
              <a:rPr lang="en-US" sz="2499" i="1" spc="57" dirty="0">
                <a:solidFill>
                  <a:srgbClr val="56AEFF"/>
                </a:solidFill>
                <a:latin typeface="Touvlo Italics"/>
                <a:ea typeface="Touvlo Italics"/>
                <a:cs typeface="Touvlo Italics"/>
                <a:sym typeface="Touvlo Italics"/>
              </a:rPr>
              <a:t>: PIONEERS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p:nvPr/>
        </p:nvGrpSpPr>
        <p:grpSpPr>
          <a:xfrm>
            <a:off x="10000675" y="1509629"/>
            <a:ext cx="6992751" cy="8074770"/>
            <a:chOff x="0" y="0"/>
            <a:chExt cx="5499100" cy="6350000"/>
          </a:xfrm>
        </p:grpSpPr>
        <p:sp>
          <p:nvSpPr>
            <p:cNvPr id="3" name="Freeform 3"/>
            <p:cNvSpPr/>
            <p:nvPr/>
          </p:nvSpPr>
          <p:spPr>
            <a:xfrm>
              <a:off x="0" y="0"/>
              <a:ext cx="5499100" cy="6350000"/>
            </a:xfrm>
            <a:custGeom>
              <a:avLst/>
              <a:gdLst/>
              <a:ahLst/>
              <a:cxnLst/>
              <a:rect l="l" t="t" r="r" b="b"/>
              <a:pathLst>
                <a:path w="5499100" h="6350000">
                  <a:moveTo>
                    <a:pt x="2749550" y="6350000"/>
                  </a:moveTo>
                  <a:lnTo>
                    <a:pt x="0" y="4762500"/>
                  </a:lnTo>
                  <a:lnTo>
                    <a:pt x="0" y="1587500"/>
                  </a:lnTo>
                  <a:lnTo>
                    <a:pt x="2749550" y="0"/>
                  </a:lnTo>
                  <a:lnTo>
                    <a:pt x="5499100" y="1587500"/>
                  </a:lnTo>
                  <a:lnTo>
                    <a:pt x="5499100" y="4762500"/>
                  </a:lnTo>
                  <a:lnTo>
                    <a:pt x="2749550" y="6350000"/>
                  </a:lnTo>
                  <a:close/>
                </a:path>
              </a:pathLst>
            </a:custGeom>
            <a:solidFill>
              <a:srgbClr val="56AEFF"/>
            </a:solidFill>
            <a:ln w="12700">
              <a:solidFill>
                <a:srgbClr val="000000"/>
              </a:solidFill>
            </a:ln>
          </p:spPr>
        </p:sp>
      </p:grpSp>
      <p:grpSp>
        <p:nvGrpSpPr>
          <p:cNvPr id="4" name="Group 4"/>
          <p:cNvGrpSpPr/>
          <p:nvPr/>
        </p:nvGrpSpPr>
        <p:grpSpPr>
          <a:xfrm>
            <a:off x="10143550" y="1698193"/>
            <a:ext cx="6697476" cy="7733806"/>
            <a:chOff x="0" y="0"/>
            <a:chExt cx="5499100" cy="6350000"/>
          </a:xfrm>
        </p:grpSpPr>
        <p:sp>
          <p:nvSpPr>
            <p:cNvPr id="5" name="Freeform 5"/>
            <p:cNvSpPr/>
            <p:nvPr/>
          </p:nvSpPr>
          <p:spPr>
            <a:xfrm>
              <a:off x="0" y="0"/>
              <a:ext cx="5499100" cy="6350000"/>
            </a:xfrm>
            <a:custGeom>
              <a:avLst/>
              <a:gdLst/>
              <a:ahLst/>
              <a:cxnLst/>
              <a:rect l="l" t="t" r="r" b="b"/>
              <a:pathLst>
                <a:path w="5499100" h="6350000">
                  <a:moveTo>
                    <a:pt x="2749550" y="6350000"/>
                  </a:moveTo>
                  <a:lnTo>
                    <a:pt x="0" y="4762500"/>
                  </a:lnTo>
                  <a:lnTo>
                    <a:pt x="0" y="1587500"/>
                  </a:lnTo>
                  <a:lnTo>
                    <a:pt x="2749550" y="0"/>
                  </a:lnTo>
                  <a:lnTo>
                    <a:pt x="5499100" y="1587500"/>
                  </a:lnTo>
                  <a:lnTo>
                    <a:pt x="5499100" y="4762500"/>
                  </a:lnTo>
                  <a:lnTo>
                    <a:pt x="2749550" y="6350000"/>
                  </a:lnTo>
                  <a:close/>
                </a:path>
              </a:pathLst>
            </a:custGeom>
            <a:blipFill>
              <a:blip r:embed="rId2"/>
              <a:stretch>
                <a:fillRect l="-36659" r="-36659"/>
              </a:stretch>
            </a:blipFill>
          </p:spPr>
        </p:sp>
      </p:grpSp>
      <p:sp>
        <p:nvSpPr>
          <p:cNvPr id="6" name="Freeform 6"/>
          <p:cNvSpPr/>
          <p:nvPr/>
        </p:nvSpPr>
        <p:spPr>
          <a:xfrm>
            <a:off x="-7631327" y="597505"/>
            <a:ext cx="9077445" cy="9077445"/>
          </a:xfrm>
          <a:custGeom>
            <a:avLst/>
            <a:gdLst/>
            <a:ahLst/>
            <a:cxnLst/>
            <a:rect l="l" t="t" r="r" b="b"/>
            <a:pathLst>
              <a:path w="9077445" h="9077445">
                <a:moveTo>
                  <a:pt x="0" y="0"/>
                </a:moveTo>
                <a:lnTo>
                  <a:pt x="9077444" y="0"/>
                </a:lnTo>
                <a:lnTo>
                  <a:pt x="9077444" y="9077445"/>
                </a:lnTo>
                <a:lnTo>
                  <a:pt x="0" y="907744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1446117" y="6551778"/>
            <a:ext cx="3532119" cy="944039"/>
          </a:xfrm>
          <a:custGeom>
            <a:avLst/>
            <a:gdLst/>
            <a:ahLst/>
            <a:cxnLst/>
            <a:rect l="l" t="t" r="r" b="b"/>
            <a:pathLst>
              <a:path w="3532119" h="944039">
                <a:moveTo>
                  <a:pt x="0" y="0"/>
                </a:moveTo>
                <a:lnTo>
                  <a:pt x="3532119" y="0"/>
                </a:lnTo>
                <a:lnTo>
                  <a:pt x="3532119" y="944039"/>
                </a:lnTo>
                <a:lnTo>
                  <a:pt x="0" y="94403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546984" y="1076242"/>
            <a:ext cx="8437330" cy="857250"/>
          </a:xfrm>
          <a:prstGeom prst="rect">
            <a:avLst/>
          </a:prstGeom>
        </p:spPr>
        <p:txBody>
          <a:bodyPr lIns="0" tIns="0" rIns="0" bIns="0" rtlCol="0" anchor="t">
            <a:spAutoFit/>
          </a:bodyPr>
          <a:lstStyle/>
          <a:p>
            <a:pPr marL="0" lvl="0" indent="0" algn="ctr">
              <a:lnSpc>
                <a:spcPts val="6625"/>
              </a:lnSpc>
              <a:spcBef>
                <a:spcPct val="0"/>
              </a:spcBef>
            </a:pPr>
            <a:r>
              <a:rPr lang="en-US" sz="5521" b="1" dirty="0">
                <a:solidFill>
                  <a:srgbClr val="56AEFF"/>
                </a:solidFill>
                <a:latin typeface="Now Bold"/>
                <a:ea typeface="Now Bold"/>
                <a:cs typeface="Now Bold"/>
                <a:sym typeface="Now Bold"/>
              </a:rPr>
              <a:t>PIONEERS TEAM</a:t>
            </a:r>
          </a:p>
        </p:txBody>
      </p:sp>
      <p:sp>
        <p:nvSpPr>
          <p:cNvPr id="9" name="Freeform 9"/>
          <p:cNvSpPr/>
          <p:nvPr/>
        </p:nvSpPr>
        <p:spPr>
          <a:xfrm>
            <a:off x="5765649" y="6551778"/>
            <a:ext cx="3527653" cy="942846"/>
          </a:xfrm>
          <a:custGeom>
            <a:avLst/>
            <a:gdLst/>
            <a:ahLst/>
            <a:cxnLst/>
            <a:rect l="l" t="t" r="r" b="b"/>
            <a:pathLst>
              <a:path w="3527653" h="942846">
                <a:moveTo>
                  <a:pt x="0" y="0"/>
                </a:moveTo>
                <a:lnTo>
                  <a:pt x="3527653" y="0"/>
                </a:lnTo>
                <a:lnTo>
                  <a:pt x="3527653" y="942846"/>
                </a:lnTo>
                <a:lnTo>
                  <a:pt x="0" y="94284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Freeform 10"/>
          <p:cNvSpPr/>
          <p:nvPr/>
        </p:nvSpPr>
        <p:spPr>
          <a:xfrm>
            <a:off x="3447970" y="4535842"/>
            <a:ext cx="3546724" cy="947943"/>
          </a:xfrm>
          <a:custGeom>
            <a:avLst/>
            <a:gdLst/>
            <a:ahLst/>
            <a:cxnLst/>
            <a:rect l="l" t="t" r="r" b="b"/>
            <a:pathLst>
              <a:path w="3546724" h="947943">
                <a:moveTo>
                  <a:pt x="0" y="0"/>
                </a:moveTo>
                <a:lnTo>
                  <a:pt x="3546724" y="0"/>
                </a:lnTo>
                <a:lnTo>
                  <a:pt x="3546724" y="947943"/>
                </a:lnTo>
                <a:lnTo>
                  <a:pt x="0" y="94794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a:off x="6019081" y="3005779"/>
            <a:ext cx="3274221" cy="875110"/>
          </a:xfrm>
          <a:custGeom>
            <a:avLst/>
            <a:gdLst/>
            <a:ahLst/>
            <a:cxnLst/>
            <a:rect l="l" t="t" r="r" b="b"/>
            <a:pathLst>
              <a:path w="3274221" h="875110">
                <a:moveTo>
                  <a:pt x="0" y="0"/>
                </a:moveTo>
                <a:lnTo>
                  <a:pt x="3274221" y="0"/>
                </a:lnTo>
                <a:lnTo>
                  <a:pt x="3274221" y="875110"/>
                </a:lnTo>
                <a:lnTo>
                  <a:pt x="0" y="87511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Freeform 12"/>
          <p:cNvSpPr/>
          <p:nvPr/>
        </p:nvSpPr>
        <p:spPr>
          <a:xfrm>
            <a:off x="1446117" y="3005779"/>
            <a:ext cx="3443912" cy="920464"/>
          </a:xfrm>
          <a:custGeom>
            <a:avLst/>
            <a:gdLst/>
            <a:ahLst/>
            <a:cxnLst/>
            <a:rect l="l" t="t" r="r" b="b"/>
            <a:pathLst>
              <a:path w="3443912" h="920464">
                <a:moveTo>
                  <a:pt x="0" y="0"/>
                </a:moveTo>
                <a:lnTo>
                  <a:pt x="3443912" y="0"/>
                </a:lnTo>
                <a:lnTo>
                  <a:pt x="3443912" y="920463"/>
                </a:lnTo>
                <a:lnTo>
                  <a:pt x="0" y="92046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TextBox 13"/>
          <p:cNvSpPr txBox="1"/>
          <p:nvPr/>
        </p:nvSpPr>
        <p:spPr>
          <a:xfrm>
            <a:off x="1574004" y="3164301"/>
            <a:ext cx="3188138" cy="452908"/>
          </a:xfrm>
          <a:prstGeom prst="rect">
            <a:avLst/>
          </a:prstGeom>
        </p:spPr>
        <p:txBody>
          <a:bodyPr lIns="0" tIns="0" rIns="0" bIns="0" rtlCol="0" anchor="t">
            <a:spAutoFit/>
          </a:bodyPr>
          <a:lstStyle/>
          <a:p>
            <a:pPr algn="ctr">
              <a:lnSpc>
                <a:spcPts val="3709"/>
              </a:lnSpc>
              <a:spcBef>
                <a:spcPct val="0"/>
              </a:spcBef>
            </a:pPr>
            <a:r>
              <a:rPr lang="en-US" sz="2687" dirty="0">
                <a:solidFill>
                  <a:srgbClr val="FFFFFF"/>
                </a:solidFill>
                <a:latin typeface="DM Sans"/>
                <a:ea typeface="DM Sans"/>
                <a:cs typeface="DM Sans"/>
                <a:sym typeface="DM Sans"/>
              </a:rPr>
              <a:t>Azza Abdallah</a:t>
            </a:r>
          </a:p>
        </p:txBody>
      </p:sp>
      <p:sp>
        <p:nvSpPr>
          <p:cNvPr id="14" name="TextBox 14"/>
          <p:cNvSpPr txBox="1"/>
          <p:nvPr/>
        </p:nvSpPr>
        <p:spPr>
          <a:xfrm>
            <a:off x="3627263" y="4759547"/>
            <a:ext cx="3188138" cy="452908"/>
          </a:xfrm>
          <a:prstGeom prst="rect">
            <a:avLst/>
          </a:prstGeom>
        </p:spPr>
        <p:txBody>
          <a:bodyPr lIns="0" tIns="0" rIns="0" bIns="0" rtlCol="0" anchor="t">
            <a:spAutoFit/>
          </a:bodyPr>
          <a:lstStyle/>
          <a:p>
            <a:pPr algn="ctr">
              <a:lnSpc>
                <a:spcPts val="3709"/>
              </a:lnSpc>
              <a:spcBef>
                <a:spcPct val="0"/>
              </a:spcBef>
            </a:pPr>
            <a:r>
              <a:rPr lang="en-US" sz="2687" dirty="0">
                <a:solidFill>
                  <a:srgbClr val="FFFFFF"/>
                </a:solidFill>
                <a:latin typeface="DM Sans"/>
                <a:ea typeface="DM Sans"/>
                <a:cs typeface="DM Sans"/>
                <a:sym typeface="DM Sans"/>
              </a:rPr>
              <a:t>Aya Sleem</a:t>
            </a:r>
          </a:p>
        </p:txBody>
      </p:sp>
      <p:sp>
        <p:nvSpPr>
          <p:cNvPr id="15" name="TextBox 15"/>
          <p:cNvSpPr txBox="1"/>
          <p:nvPr/>
        </p:nvSpPr>
        <p:spPr>
          <a:xfrm>
            <a:off x="6105164" y="3164301"/>
            <a:ext cx="3188138" cy="452908"/>
          </a:xfrm>
          <a:prstGeom prst="rect">
            <a:avLst/>
          </a:prstGeom>
        </p:spPr>
        <p:txBody>
          <a:bodyPr lIns="0" tIns="0" rIns="0" bIns="0" rtlCol="0" anchor="t">
            <a:spAutoFit/>
          </a:bodyPr>
          <a:lstStyle/>
          <a:p>
            <a:pPr algn="ctr">
              <a:lnSpc>
                <a:spcPts val="3709"/>
              </a:lnSpc>
              <a:spcBef>
                <a:spcPct val="0"/>
              </a:spcBef>
            </a:pPr>
            <a:r>
              <a:rPr lang="en-US" sz="2687" dirty="0">
                <a:solidFill>
                  <a:srgbClr val="FFFFFF"/>
                </a:solidFill>
                <a:latin typeface="DM Sans"/>
                <a:ea typeface="DM Sans"/>
                <a:cs typeface="DM Sans"/>
                <a:sym typeface="DM Sans"/>
              </a:rPr>
              <a:t>Hadeer </a:t>
            </a:r>
            <a:r>
              <a:rPr lang="en-US" sz="2687" dirty="0" err="1">
                <a:solidFill>
                  <a:srgbClr val="FFFFFF"/>
                </a:solidFill>
                <a:latin typeface="DM Sans"/>
                <a:ea typeface="DM Sans"/>
                <a:cs typeface="DM Sans"/>
                <a:sym typeface="DM Sans"/>
              </a:rPr>
              <a:t>Aboelnasr</a:t>
            </a:r>
            <a:endParaRPr lang="en-US" sz="2687" dirty="0">
              <a:solidFill>
                <a:srgbClr val="FFFFFF"/>
              </a:solidFill>
              <a:latin typeface="DM Sans"/>
              <a:ea typeface="DM Sans"/>
              <a:cs typeface="DM Sans"/>
              <a:sym typeface="DM Sans"/>
            </a:endParaRPr>
          </a:p>
        </p:txBody>
      </p:sp>
      <p:sp>
        <p:nvSpPr>
          <p:cNvPr id="16" name="TextBox 16"/>
          <p:cNvSpPr txBox="1"/>
          <p:nvPr/>
        </p:nvSpPr>
        <p:spPr>
          <a:xfrm>
            <a:off x="1618107" y="6744766"/>
            <a:ext cx="3188138" cy="452908"/>
          </a:xfrm>
          <a:prstGeom prst="rect">
            <a:avLst/>
          </a:prstGeom>
        </p:spPr>
        <p:txBody>
          <a:bodyPr lIns="0" tIns="0" rIns="0" bIns="0" rtlCol="0" anchor="t">
            <a:spAutoFit/>
          </a:bodyPr>
          <a:lstStyle/>
          <a:p>
            <a:pPr algn="ctr">
              <a:lnSpc>
                <a:spcPts val="3709"/>
              </a:lnSpc>
              <a:spcBef>
                <a:spcPct val="0"/>
              </a:spcBef>
            </a:pPr>
            <a:r>
              <a:rPr lang="en-US" sz="2687" dirty="0">
                <a:solidFill>
                  <a:srgbClr val="FFFFFF"/>
                </a:solidFill>
                <a:latin typeface="DM Sans"/>
                <a:ea typeface="DM Sans"/>
                <a:cs typeface="DM Sans"/>
                <a:sym typeface="DM Sans"/>
              </a:rPr>
              <a:t>Marwa Adel</a:t>
            </a:r>
          </a:p>
        </p:txBody>
      </p:sp>
      <p:sp>
        <p:nvSpPr>
          <p:cNvPr id="17" name="TextBox 17"/>
          <p:cNvSpPr txBox="1"/>
          <p:nvPr/>
        </p:nvSpPr>
        <p:spPr>
          <a:xfrm>
            <a:off x="5935406" y="6744766"/>
            <a:ext cx="3188138" cy="452908"/>
          </a:xfrm>
          <a:prstGeom prst="rect">
            <a:avLst/>
          </a:prstGeom>
        </p:spPr>
        <p:txBody>
          <a:bodyPr lIns="0" tIns="0" rIns="0" bIns="0" rtlCol="0" anchor="t">
            <a:spAutoFit/>
          </a:bodyPr>
          <a:lstStyle/>
          <a:p>
            <a:pPr algn="ctr">
              <a:lnSpc>
                <a:spcPts val="3709"/>
              </a:lnSpc>
              <a:spcBef>
                <a:spcPct val="0"/>
              </a:spcBef>
            </a:pPr>
            <a:r>
              <a:rPr lang="en-US" sz="2687" dirty="0">
                <a:solidFill>
                  <a:srgbClr val="FFFFFF"/>
                </a:solidFill>
                <a:latin typeface="DM Sans"/>
                <a:ea typeface="DM Sans"/>
                <a:cs typeface="DM Sans"/>
                <a:sym typeface="DM Sans"/>
              </a:rPr>
              <a:t>Jihad Nour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fade">
                                      <p:cBhvr>
                                        <p:cTn id="12" dur="1000"/>
                                        <p:tgtEl>
                                          <p:spTgt spid="14">
                                            <p:txEl>
                                              <p:pRg st="0" end="0"/>
                                            </p:txEl>
                                          </p:spTgt>
                                        </p:tgtEl>
                                      </p:cBhvr>
                                    </p:animEffect>
                                    <p:anim calcmode="lin" valueType="num">
                                      <p:cBhvr>
                                        <p:cTn id="13"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animEffect transition="in" filter="fade">
                                      <p:cBhvr>
                                        <p:cTn id="19" dur="1000"/>
                                        <p:tgtEl>
                                          <p:spTgt spid="15">
                                            <p:txEl>
                                              <p:pRg st="0" end="0"/>
                                            </p:txEl>
                                          </p:spTgt>
                                        </p:tgtEl>
                                      </p:cBhvr>
                                    </p:animEffect>
                                    <p:anim calcmode="lin" valueType="num">
                                      <p:cBhvr>
                                        <p:cTn id="20"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3">
                                            <p:txEl>
                                              <p:pRg st="0" end="0"/>
                                            </p:txEl>
                                          </p:spTgt>
                                        </p:tgtEl>
                                        <p:attrNameLst>
                                          <p:attrName>style.visibility</p:attrName>
                                        </p:attrNameLst>
                                      </p:cBhvr>
                                      <p:to>
                                        <p:strVal val="visible"/>
                                      </p:to>
                                    </p:set>
                                    <p:animEffect transition="in" filter="fade">
                                      <p:cBhvr>
                                        <p:cTn id="26" dur="1000"/>
                                        <p:tgtEl>
                                          <p:spTgt spid="13">
                                            <p:txEl>
                                              <p:pRg st="0" end="0"/>
                                            </p:txEl>
                                          </p:spTgt>
                                        </p:tgtEl>
                                      </p:cBhvr>
                                    </p:animEffect>
                                    <p:anim calcmode="lin" valueType="num">
                                      <p:cBhvr>
                                        <p:cTn id="27"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28"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6">
                                            <p:txEl>
                                              <p:pRg st="0" end="0"/>
                                            </p:txEl>
                                          </p:spTgt>
                                        </p:tgtEl>
                                        <p:attrNameLst>
                                          <p:attrName>style.visibility</p:attrName>
                                        </p:attrNameLst>
                                      </p:cBhvr>
                                      <p:to>
                                        <p:strVal val="visible"/>
                                      </p:to>
                                    </p:set>
                                    <p:animEffect transition="in" filter="fade">
                                      <p:cBhvr>
                                        <p:cTn id="33" dur="1000"/>
                                        <p:tgtEl>
                                          <p:spTgt spid="16">
                                            <p:txEl>
                                              <p:pRg st="0" end="0"/>
                                            </p:txEl>
                                          </p:spTgt>
                                        </p:tgtEl>
                                      </p:cBhvr>
                                    </p:animEffect>
                                    <p:anim calcmode="lin" valueType="num">
                                      <p:cBhvr>
                                        <p:cTn id="34"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35" dur="1000" fill="hold"/>
                                        <p:tgtEl>
                                          <p:spTgt spid="1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7">
                                            <p:txEl>
                                              <p:pRg st="0" end="0"/>
                                            </p:txEl>
                                          </p:spTgt>
                                        </p:tgtEl>
                                        <p:attrNameLst>
                                          <p:attrName>style.visibility</p:attrName>
                                        </p:attrNameLst>
                                      </p:cBhvr>
                                      <p:to>
                                        <p:strVal val="visible"/>
                                      </p:to>
                                    </p:set>
                                    <p:animEffect transition="in" filter="fade">
                                      <p:cBhvr>
                                        <p:cTn id="40" dur="1000"/>
                                        <p:tgtEl>
                                          <p:spTgt spid="17">
                                            <p:txEl>
                                              <p:pRg st="0" end="0"/>
                                            </p:txEl>
                                          </p:spTgt>
                                        </p:tgtEl>
                                      </p:cBhvr>
                                    </p:animEffect>
                                    <p:anim calcmode="lin" valueType="num">
                                      <p:cBhvr>
                                        <p:cTn id="41"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42"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E0CC2">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1022101" y="1370497"/>
            <a:ext cx="1197170" cy="1210374"/>
          </a:xfrm>
          <a:custGeom>
            <a:avLst/>
            <a:gdLst/>
            <a:ahLst/>
            <a:cxnLst/>
            <a:rect l="l" t="t" r="r" b="b"/>
            <a:pathLst>
              <a:path w="1197170" h="1210374">
                <a:moveTo>
                  <a:pt x="0" y="0"/>
                </a:moveTo>
                <a:lnTo>
                  <a:pt x="1197169" y="0"/>
                </a:lnTo>
                <a:lnTo>
                  <a:pt x="1197169" y="1210374"/>
                </a:lnTo>
                <a:lnTo>
                  <a:pt x="0" y="121037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10800000">
            <a:off x="81160" y="9258300"/>
            <a:ext cx="13457996" cy="3264379"/>
            <a:chOff x="0" y="0"/>
            <a:chExt cx="17943995" cy="4352506"/>
          </a:xfrm>
        </p:grpSpPr>
        <p:sp>
          <p:nvSpPr>
            <p:cNvPr id="4" name="Freeform 4"/>
            <p:cNvSpPr/>
            <p:nvPr/>
          </p:nvSpPr>
          <p:spPr>
            <a:xfrm>
              <a:off x="0" y="0"/>
              <a:ext cx="4149650" cy="4149650"/>
            </a:xfrm>
            <a:custGeom>
              <a:avLst/>
              <a:gdLst/>
              <a:ahLst/>
              <a:cxnLst/>
              <a:rect l="l" t="t" r="r" b="b"/>
              <a:pathLst>
                <a:path w="4149650" h="4149650">
                  <a:moveTo>
                    <a:pt x="0" y="0"/>
                  </a:moveTo>
                  <a:lnTo>
                    <a:pt x="4149650" y="0"/>
                  </a:lnTo>
                  <a:lnTo>
                    <a:pt x="4149650" y="4149650"/>
                  </a:lnTo>
                  <a:lnTo>
                    <a:pt x="0" y="41496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4600097" y="861572"/>
              <a:ext cx="4149650" cy="3288079"/>
            </a:xfrm>
            <a:custGeom>
              <a:avLst/>
              <a:gdLst/>
              <a:ahLst/>
              <a:cxnLst/>
              <a:rect l="l" t="t" r="r" b="b"/>
              <a:pathLst>
                <a:path w="4149650" h="3288079">
                  <a:moveTo>
                    <a:pt x="0" y="0"/>
                  </a:moveTo>
                  <a:lnTo>
                    <a:pt x="4149651" y="0"/>
                  </a:lnTo>
                  <a:lnTo>
                    <a:pt x="4149651" y="3288078"/>
                  </a:lnTo>
                  <a:lnTo>
                    <a:pt x="0" y="3288078"/>
                  </a:lnTo>
                  <a:lnTo>
                    <a:pt x="0" y="0"/>
                  </a:lnTo>
                  <a:close/>
                </a:path>
              </a:pathLst>
            </a:custGeom>
            <a:blipFill>
              <a:blip r:embed="rId4">
                <a:extLst>
                  <a:ext uri="{96DAC541-7B7A-43D3-8B79-37D633B846F1}">
                    <asvg:svgBlip xmlns:asvg="http://schemas.microsoft.com/office/drawing/2016/SVG/main" r:embed="rId5"/>
                  </a:ext>
                </a:extLst>
              </a:blip>
              <a:stretch>
                <a:fillRect b="-26202"/>
              </a:stretch>
            </a:blipFill>
          </p:spPr>
        </p:sp>
        <p:sp>
          <p:nvSpPr>
            <p:cNvPr id="6" name="Freeform 6"/>
            <p:cNvSpPr/>
            <p:nvPr/>
          </p:nvSpPr>
          <p:spPr>
            <a:xfrm>
              <a:off x="9194248" y="202855"/>
              <a:ext cx="4149650" cy="4149650"/>
            </a:xfrm>
            <a:custGeom>
              <a:avLst/>
              <a:gdLst/>
              <a:ahLst/>
              <a:cxnLst/>
              <a:rect l="l" t="t" r="r" b="b"/>
              <a:pathLst>
                <a:path w="4149650" h="4149650">
                  <a:moveTo>
                    <a:pt x="0" y="0"/>
                  </a:moveTo>
                  <a:lnTo>
                    <a:pt x="4149650" y="0"/>
                  </a:lnTo>
                  <a:lnTo>
                    <a:pt x="4149650" y="4149651"/>
                  </a:lnTo>
                  <a:lnTo>
                    <a:pt x="0" y="41496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3794345" y="1064427"/>
              <a:ext cx="4149650" cy="3288079"/>
            </a:xfrm>
            <a:custGeom>
              <a:avLst/>
              <a:gdLst/>
              <a:ahLst/>
              <a:cxnLst/>
              <a:rect l="l" t="t" r="r" b="b"/>
              <a:pathLst>
                <a:path w="4149650" h="3288079">
                  <a:moveTo>
                    <a:pt x="0" y="0"/>
                  </a:moveTo>
                  <a:lnTo>
                    <a:pt x="4149650" y="0"/>
                  </a:lnTo>
                  <a:lnTo>
                    <a:pt x="4149650" y="3288079"/>
                  </a:lnTo>
                  <a:lnTo>
                    <a:pt x="0" y="3288079"/>
                  </a:lnTo>
                  <a:lnTo>
                    <a:pt x="0" y="0"/>
                  </a:lnTo>
                  <a:close/>
                </a:path>
              </a:pathLst>
            </a:custGeom>
            <a:blipFill>
              <a:blip r:embed="rId4">
                <a:extLst>
                  <a:ext uri="{96DAC541-7B7A-43D3-8B79-37D633B846F1}">
                    <asvg:svgBlip xmlns:asvg="http://schemas.microsoft.com/office/drawing/2016/SVG/main" r:embed="rId5"/>
                  </a:ext>
                </a:extLst>
              </a:blip>
              <a:stretch>
                <a:fillRect b="-26202"/>
              </a:stretch>
            </a:blipFill>
          </p:spPr>
        </p:sp>
      </p:grpSp>
      <p:sp>
        <p:nvSpPr>
          <p:cNvPr id="8" name="Freeform 8"/>
          <p:cNvSpPr/>
          <p:nvPr/>
        </p:nvSpPr>
        <p:spPr>
          <a:xfrm rot="6150721">
            <a:off x="6080933" y="4579544"/>
            <a:ext cx="13544802" cy="1127911"/>
          </a:xfrm>
          <a:custGeom>
            <a:avLst/>
            <a:gdLst/>
            <a:ahLst/>
            <a:cxnLst/>
            <a:rect l="l" t="t" r="r" b="b"/>
            <a:pathLst>
              <a:path w="13544802" h="1127911">
                <a:moveTo>
                  <a:pt x="0" y="0"/>
                </a:moveTo>
                <a:lnTo>
                  <a:pt x="13544801" y="0"/>
                </a:lnTo>
                <a:lnTo>
                  <a:pt x="13544801" y="1127912"/>
                </a:lnTo>
                <a:lnTo>
                  <a:pt x="0" y="1127912"/>
                </a:lnTo>
                <a:lnTo>
                  <a:pt x="0" y="0"/>
                </a:lnTo>
                <a:close/>
              </a:path>
            </a:pathLst>
          </a:custGeom>
          <a:blipFill>
            <a:blip r:embed="rId6"/>
            <a:stretch>
              <a:fillRect t="-137172"/>
            </a:stretch>
          </a:blipFill>
        </p:spPr>
      </p:sp>
      <p:grpSp>
        <p:nvGrpSpPr>
          <p:cNvPr id="9" name="Group 9"/>
          <p:cNvGrpSpPr/>
          <p:nvPr/>
        </p:nvGrpSpPr>
        <p:grpSpPr>
          <a:xfrm>
            <a:off x="11807534" y="0"/>
            <a:ext cx="6254290" cy="10287000"/>
            <a:chOff x="0" y="0"/>
            <a:chExt cx="3860673" cy="6350000"/>
          </a:xfrm>
        </p:grpSpPr>
        <p:sp>
          <p:nvSpPr>
            <p:cNvPr id="10" name="Freeform 10"/>
            <p:cNvSpPr/>
            <p:nvPr/>
          </p:nvSpPr>
          <p:spPr>
            <a:xfrm>
              <a:off x="0" y="0"/>
              <a:ext cx="3860673" cy="6350000"/>
            </a:xfrm>
            <a:custGeom>
              <a:avLst/>
              <a:gdLst/>
              <a:ahLst/>
              <a:cxnLst/>
              <a:rect l="l" t="t" r="r" b="b"/>
              <a:pathLst>
                <a:path w="3860673" h="6350000">
                  <a:moveTo>
                    <a:pt x="3860673" y="0"/>
                  </a:moveTo>
                  <a:lnTo>
                    <a:pt x="2341753" y="6350000"/>
                  </a:lnTo>
                  <a:lnTo>
                    <a:pt x="0" y="6350000"/>
                  </a:lnTo>
                  <a:lnTo>
                    <a:pt x="1518920" y="0"/>
                  </a:lnTo>
                  <a:lnTo>
                    <a:pt x="3860673" y="0"/>
                  </a:lnTo>
                  <a:close/>
                </a:path>
              </a:pathLst>
            </a:custGeom>
            <a:blipFill>
              <a:blip r:embed="rId7"/>
              <a:stretch>
                <a:fillRect l="-73436" r="-73436"/>
              </a:stretch>
            </a:blipFill>
          </p:spPr>
        </p:sp>
      </p:grpSp>
      <p:sp>
        <p:nvSpPr>
          <p:cNvPr id="11" name="Freeform 11"/>
          <p:cNvSpPr/>
          <p:nvPr/>
        </p:nvSpPr>
        <p:spPr>
          <a:xfrm rot="-4615544">
            <a:off x="10510810" y="5041623"/>
            <a:ext cx="13544802" cy="1127911"/>
          </a:xfrm>
          <a:custGeom>
            <a:avLst/>
            <a:gdLst/>
            <a:ahLst/>
            <a:cxnLst/>
            <a:rect l="l" t="t" r="r" b="b"/>
            <a:pathLst>
              <a:path w="13544802" h="1127911">
                <a:moveTo>
                  <a:pt x="0" y="0"/>
                </a:moveTo>
                <a:lnTo>
                  <a:pt x="13544801" y="0"/>
                </a:lnTo>
                <a:lnTo>
                  <a:pt x="13544801" y="1127912"/>
                </a:lnTo>
                <a:lnTo>
                  <a:pt x="0" y="1127912"/>
                </a:lnTo>
                <a:lnTo>
                  <a:pt x="0" y="0"/>
                </a:lnTo>
                <a:close/>
              </a:path>
            </a:pathLst>
          </a:custGeom>
          <a:blipFill>
            <a:blip r:embed="rId6"/>
            <a:stretch>
              <a:fillRect t="-137172"/>
            </a:stretch>
          </a:blipFill>
        </p:spPr>
      </p:sp>
      <p:grpSp>
        <p:nvGrpSpPr>
          <p:cNvPr id="12" name="Group 12"/>
          <p:cNvGrpSpPr/>
          <p:nvPr/>
        </p:nvGrpSpPr>
        <p:grpSpPr>
          <a:xfrm rot="-10800000">
            <a:off x="15966396" y="9258300"/>
            <a:ext cx="13457996" cy="3264379"/>
            <a:chOff x="0" y="0"/>
            <a:chExt cx="17943995" cy="4352506"/>
          </a:xfrm>
        </p:grpSpPr>
        <p:sp>
          <p:nvSpPr>
            <p:cNvPr id="13" name="Freeform 13"/>
            <p:cNvSpPr/>
            <p:nvPr/>
          </p:nvSpPr>
          <p:spPr>
            <a:xfrm>
              <a:off x="0" y="0"/>
              <a:ext cx="4149650" cy="4149650"/>
            </a:xfrm>
            <a:custGeom>
              <a:avLst/>
              <a:gdLst/>
              <a:ahLst/>
              <a:cxnLst/>
              <a:rect l="l" t="t" r="r" b="b"/>
              <a:pathLst>
                <a:path w="4149650" h="4149650">
                  <a:moveTo>
                    <a:pt x="0" y="0"/>
                  </a:moveTo>
                  <a:lnTo>
                    <a:pt x="4149650" y="0"/>
                  </a:lnTo>
                  <a:lnTo>
                    <a:pt x="4149650" y="4149650"/>
                  </a:lnTo>
                  <a:lnTo>
                    <a:pt x="0" y="41496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a:off x="4600097" y="861572"/>
              <a:ext cx="4149650" cy="3288079"/>
            </a:xfrm>
            <a:custGeom>
              <a:avLst/>
              <a:gdLst/>
              <a:ahLst/>
              <a:cxnLst/>
              <a:rect l="l" t="t" r="r" b="b"/>
              <a:pathLst>
                <a:path w="4149650" h="3288079">
                  <a:moveTo>
                    <a:pt x="0" y="0"/>
                  </a:moveTo>
                  <a:lnTo>
                    <a:pt x="4149651" y="0"/>
                  </a:lnTo>
                  <a:lnTo>
                    <a:pt x="4149651" y="3288078"/>
                  </a:lnTo>
                  <a:lnTo>
                    <a:pt x="0" y="3288078"/>
                  </a:lnTo>
                  <a:lnTo>
                    <a:pt x="0" y="0"/>
                  </a:lnTo>
                  <a:close/>
                </a:path>
              </a:pathLst>
            </a:custGeom>
            <a:blipFill>
              <a:blip r:embed="rId4">
                <a:extLst>
                  <a:ext uri="{96DAC541-7B7A-43D3-8B79-37D633B846F1}">
                    <asvg:svgBlip xmlns:asvg="http://schemas.microsoft.com/office/drawing/2016/SVG/main" r:embed="rId5"/>
                  </a:ext>
                </a:extLst>
              </a:blip>
              <a:stretch>
                <a:fillRect b="-26202"/>
              </a:stretch>
            </a:blipFill>
          </p:spPr>
        </p:sp>
        <p:sp>
          <p:nvSpPr>
            <p:cNvPr id="15" name="Freeform 15"/>
            <p:cNvSpPr/>
            <p:nvPr/>
          </p:nvSpPr>
          <p:spPr>
            <a:xfrm>
              <a:off x="9194248" y="202855"/>
              <a:ext cx="4149650" cy="4149650"/>
            </a:xfrm>
            <a:custGeom>
              <a:avLst/>
              <a:gdLst/>
              <a:ahLst/>
              <a:cxnLst/>
              <a:rect l="l" t="t" r="r" b="b"/>
              <a:pathLst>
                <a:path w="4149650" h="4149650">
                  <a:moveTo>
                    <a:pt x="0" y="0"/>
                  </a:moveTo>
                  <a:lnTo>
                    <a:pt x="4149650" y="0"/>
                  </a:lnTo>
                  <a:lnTo>
                    <a:pt x="4149650" y="4149651"/>
                  </a:lnTo>
                  <a:lnTo>
                    <a:pt x="0" y="41496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3794345" y="1064427"/>
              <a:ext cx="4149650" cy="3288079"/>
            </a:xfrm>
            <a:custGeom>
              <a:avLst/>
              <a:gdLst/>
              <a:ahLst/>
              <a:cxnLst/>
              <a:rect l="l" t="t" r="r" b="b"/>
              <a:pathLst>
                <a:path w="4149650" h="3288079">
                  <a:moveTo>
                    <a:pt x="0" y="0"/>
                  </a:moveTo>
                  <a:lnTo>
                    <a:pt x="4149650" y="0"/>
                  </a:lnTo>
                  <a:lnTo>
                    <a:pt x="4149650" y="3288079"/>
                  </a:lnTo>
                  <a:lnTo>
                    <a:pt x="0" y="3288079"/>
                  </a:lnTo>
                  <a:lnTo>
                    <a:pt x="0" y="0"/>
                  </a:lnTo>
                  <a:close/>
                </a:path>
              </a:pathLst>
            </a:custGeom>
            <a:blipFill>
              <a:blip r:embed="rId4">
                <a:extLst>
                  <a:ext uri="{96DAC541-7B7A-43D3-8B79-37D633B846F1}">
                    <asvg:svgBlip xmlns:asvg="http://schemas.microsoft.com/office/drawing/2016/SVG/main" r:embed="rId5"/>
                  </a:ext>
                </a:extLst>
              </a:blip>
              <a:stretch>
                <a:fillRect b="-26202"/>
              </a:stretch>
            </a:blipFill>
          </p:spPr>
        </p:sp>
      </p:grpSp>
      <p:sp>
        <p:nvSpPr>
          <p:cNvPr id="17" name="TextBox 17"/>
          <p:cNvSpPr txBox="1"/>
          <p:nvPr/>
        </p:nvSpPr>
        <p:spPr>
          <a:xfrm>
            <a:off x="3524195" y="1533121"/>
            <a:ext cx="6977998" cy="1047750"/>
          </a:xfrm>
          <a:prstGeom prst="rect">
            <a:avLst/>
          </a:prstGeom>
        </p:spPr>
        <p:txBody>
          <a:bodyPr lIns="0" tIns="0" rIns="0" bIns="0" rtlCol="0" anchor="t">
            <a:spAutoFit/>
          </a:bodyPr>
          <a:lstStyle/>
          <a:p>
            <a:pPr marL="0" lvl="0" indent="0" algn="ctr">
              <a:lnSpc>
                <a:spcPts val="8185"/>
              </a:lnSpc>
              <a:spcBef>
                <a:spcPct val="0"/>
              </a:spcBef>
            </a:pPr>
            <a:r>
              <a:rPr lang="en-US" sz="6821" b="1" dirty="0">
                <a:solidFill>
                  <a:srgbClr val="FFFFFF"/>
                </a:solidFill>
                <a:latin typeface="Now Bold"/>
                <a:ea typeface="Now Bold"/>
                <a:cs typeface="Now Bold"/>
                <a:sym typeface="Now Bold"/>
              </a:rPr>
              <a:t>ABSTRACT</a:t>
            </a:r>
          </a:p>
        </p:txBody>
      </p:sp>
      <p:sp>
        <p:nvSpPr>
          <p:cNvPr id="18" name="TextBox 18"/>
          <p:cNvSpPr txBox="1"/>
          <p:nvPr/>
        </p:nvSpPr>
        <p:spPr>
          <a:xfrm>
            <a:off x="347114" y="3133189"/>
            <a:ext cx="12120976" cy="5316948"/>
          </a:xfrm>
          <a:prstGeom prst="rect">
            <a:avLst/>
          </a:prstGeom>
        </p:spPr>
        <p:txBody>
          <a:bodyPr lIns="0" tIns="0" rIns="0" bIns="0" rtlCol="0" anchor="t">
            <a:spAutoFit/>
          </a:bodyPr>
          <a:lstStyle/>
          <a:p>
            <a:pPr algn="ctr">
              <a:lnSpc>
                <a:spcPts val="3298"/>
              </a:lnSpc>
            </a:pPr>
            <a:endParaRPr dirty="0"/>
          </a:p>
          <a:p>
            <a:pPr algn="ctr">
              <a:lnSpc>
                <a:spcPts val="3298"/>
              </a:lnSpc>
            </a:pPr>
            <a:r>
              <a:rPr lang="en-US" sz="2390" dirty="0">
                <a:solidFill>
                  <a:srgbClr val="FFFFFF"/>
                </a:solidFill>
                <a:latin typeface="DM Sans"/>
                <a:ea typeface="DM Sans"/>
                <a:cs typeface="DM Sans"/>
                <a:sym typeface="DM Sans"/>
              </a:rPr>
              <a:t>At Pioneers, managing payroll has become more difficult as the company grows. Manual processing often leads to errors, delayed payments, and challenges with tax and labor law compliance. These issues not only affect employees but also slow down operations.</a:t>
            </a:r>
          </a:p>
          <a:p>
            <a:pPr algn="ctr">
              <a:lnSpc>
                <a:spcPts val="3298"/>
              </a:lnSpc>
            </a:pPr>
            <a:r>
              <a:rPr lang="en-US" sz="2390" dirty="0">
                <a:solidFill>
                  <a:srgbClr val="FFFFFF"/>
                </a:solidFill>
                <a:latin typeface="DM Sans"/>
                <a:ea typeface="DM Sans"/>
                <a:cs typeface="DM Sans"/>
                <a:sym typeface="DM Sans"/>
              </a:rPr>
              <a:t>To solve this, we introduce Oracle Payroll, a system that automates the entire payroll process. It handles everything from setting up payroll elements and processing salaries to generating reports and ensuring compliance.</a:t>
            </a:r>
          </a:p>
          <a:p>
            <a:pPr algn="ctr">
              <a:lnSpc>
                <a:spcPts val="3298"/>
              </a:lnSpc>
            </a:pPr>
            <a:endParaRPr lang="en-US" sz="2390" dirty="0">
              <a:solidFill>
                <a:srgbClr val="FFFFFF"/>
              </a:solidFill>
              <a:latin typeface="DM Sans"/>
              <a:ea typeface="DM Sans"/>
              <a:cs typeface="DM Sans"/>
              <a:sym typeface="DM Sans"/>
            </a:endParaRPr>
          </a:p>
          <a:p>
            <a:pPr algn="ctr">
              <a:lnSpc>
                <a:spcPts val="3298"/>
              </a:lnSpc>
            </a:pPr>
            <a:r>
              <a:rPr lang="en-US" sz="2390" dirty="0">
                <a:solidFill>
                  <a:srgbClr val="FFFFFF"/>
                </a:solidFill>
                <a:latin typeface="DM Sans"/>
                <a:ea typeface="DM Sans"/>
                <a:cs typeface="DM Sans"/>
                <a:sym typeface="DM Sans"/>
              </a:rPr>
              <a:t>Our goal is to implement a payroll system that is accurate, fast, and reliable—reducing errors, improving efficiency, and keeping employees satisfied.</a:t>
            </a:r>
          </a:p>
          <a:p>
            <a:pPr algn="ctr">
              <a:lnSpc>
                <a:spcPts val="3298"/>
              </a:lnSpc>
            </a:pPr>
            <a:endParaRPr lang="en-US" sz="2390" dirty="0">
              <a:solidFill>
                <a:srgbClr val="FFFFFF"/>
              </a:solidFill>
              <a:latin typeface="DM Sans"/>
              <a:ea typeface="DM Sans"/>
              <a:cs typeface="DM Sans"/>
              <a:sym typeface="DM Sans"/>
            </a:endParaRPr>
          </a:p>
          <a:p>
            <a:pPr marL="0" lvl="0" indent="0" algn="ctr">
              <a:lnSpc>
                <a:spcPts val="3298"/>
              </a:lnSpc>
              <a:spcBef>
                <a:spcPct val="0"/>
              </a:spcBef>
            </a:pPr>
            <a:endParaRPr lang="en-US" sz="2390" dirty="0">
              <a:solidFill>
                <a:srgbClr val="FFFFFF"/>
              </a:solidFill>
              <a:latin typeface="DM Sans"/>
              <a:ea typeface="DM Sans"/>
              <a:cs typeface="DM Sans"/>
              <a:sym typeface="DM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barn(inVertical)">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barn(inVertical)">
                                      <p:cBhvr>
                                        <p:cTn id="12" dur="500"/>
                                        <p:tgtEl>
                                          <p:spTgt spid="18">
                                            <p:txEl>
                                              <p:pRg st="1" end="1"/>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18">
                                            <p:txEl>
                                              <p:pRg st="2" end="2"/>
                                            </p:txEl>
                                          </p:spTgt>
                                        </p:tgtEl>
                                        <p:attrNameLst>
                                          <p:attrName>style.visibility</p:attrName>
                                        </p:attrNameLst>
                                      </p:cBhvr>
                                      <p:to>
                                        <p:strVal val="visible"/>
                                      </p:to>
                                    </p:set>
                                    <p:animEffect transition="in" filter="barn(inVertical)">
                                      <p:cBhvr>
                                        <p:cTn id="15" dur="500"/>
                                        <p:tgtEl>
                                          <p:spTgt spid="18">
                                            <p:txEl>
                                              <p:pRg st="2" end="2"/>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18">
                                            <p:txEl>
                                              <p:pRg st="4" end="4"/>
                                            </p:txEl>
                                          </p:spTgt>
                                        </p:tgtEl>
                                        <p:attrNameLst>
                                          <p:attrName>style.visibility</p:attrName>
                                        </p:attrNameLst>
                                      </p:cBhvr>
                                      <p:to>
                                        <p:strVal val="visible"/>
                                      </p:to>
                                    </p:set>
                                    <p:animEffect transition="in" filter="barn(inVertical)">
                                      <p:cBhvr>
                                        <p:cTn id="18"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227600" y="0"/>
            <a:ext cx="6279570" cy="10287000"/>
          </a:xfrm>
          <a:custGeom>
            <a:avLst/>
            <a:gdLst/>
            <a:ahLst/>
            <a:cxnLst/>
            <a:rect l="l" t="t" r="r" b="b"/>
            <a:pathLst>
              <a:path w="6279570" h="10287000">
                <a:moveTo>
                  <a:pt x="0" y="0"/>
                </a:moveTo>
                <a:lnTo>
                  <a:pt x="6279571" y="0"/>
                </a:lnTo>
                <a:lnTo>
                  <a:pt x="6279571" y="10287000"/>
                </a:lnTo>
                <a:lnTo>
                  <a:pt x="0" y="10287000"/>
                </a:lnTo>
                <a:lnTo>
                  <a:pt x="0" y="0"/>
                </a:lnTo>
                <a:close/>
              </a:path>
            </a:pathLst>
          </a:custGeom>
          <a:blipFill>
            <a:blip r:embed="rId2"/>
            <a:stretch>
              <a:fillRect t="-901" r="-11111" b="-901"/>
            </a:stretch>
          </a:blipFill>
        </p:spPr>
      </p:sp>
      <p:sp>
        <p:nvSpPr>
          <p:cNvPr id="3" name="Freeform 3"/>
          <p:cNvSpPr/>
          <p:nvPr/>
        </p:nvSpPr>
        <p:spPr>
          <a:xfrm>
            <a:off x="-5993373" y="-5458262"/>
            <a:ext cx="10196686" cy="10196686"/>
          </a:xfrm>
          <a:custGeom>
            <a:avLst/>
            <a:gdLst/>
            <a:ahLst/>
            <a:cxnLst/>
            <a:rect l="l" t="t" r="r" b="b"/>
            <a:pathLst>
              <a:path w="10196686" h="10196686">
                <a:moveTo>
                  <a:pt x="0" y="0"/>
                </a:moveTo>
                <a:lnTo>
                  <a:pt x="10196686" y="0"/>
                </a:lnTo>
                <a:lnTo>
                  <a:pt x="10196686" y="10196685"/>
                </a:lnTo>
                <a:lnTo>
                  <a:pt x="0" y="10196685"/>
                </a:lnTo>
                <a:lnTo>
                  <a:pt x="0" y="0"/>
                </a:lnTo>
                <a:close/>
              </a:path>
            </a:pathLst>
          </a:custGeom>
          <a:blipFill>
            <a:blip r:embed="rId3">
              <a:alphaModFix amt="29000"/>
              <a:extLst>
                <a:ext uri="{96DAC541-7B7A-43D3-8B79-37D633B846F1}">
                  <asvg:svgBlip xmlns:asvg="http://schemas.microsoft.com/office/drawing/2016/SVG/main" r:embed="rId4"/>
                </a:ext>
              </a:extLst>
            </a:blip>
            <a:stretch>
              <a:fillRect/>
            </a:stretch>
          </a:blipFill>
        </p:spPr>
      </p:sp>
      <p:sp>
        <p:nvSpPr>
          <p:cNvPr id="4" name="Freeform 4"/>
          <p:cNvSpPr/>
          <p:nvPr/>
        </p:nvSpPr>
        <p:spPr>
          <a:xfrm>
            <a:off x="15765356" y="7125268"/>
            <a:ext cx="8414387" cy="8414387"/>
          </a:xfrm>
          <a:custGeom>
            <a:avLst/>
            <a:gdLst/>
            <a:ahLst/>
            <a:cxnLst/>
            <a:rect l="l" t="t" r="r" b="b"/>
            <a:pathLst>
              <a:path w="8414387" h="8414387">
                <a:moveTo>
                  <a:pt x="0" y="0"/>
                </a:moveTo>
                <a:lnTo>
                  <a:pt x="8414387" y="0"/>
                </a:lnTo>
                <a:lnTo>
                  <a:pt x="8414387" y="8414387"/>
                </a:lnTo>
                <a:lnTo>
                  <a:pt x="0" y="8414387"/>
                </a:lnTo>
                <a:lnTo>
                  <a:pt x="0" y="0"/>
                </a:lnTo>
                <a:close/>
              </a:path>
            </a:pathLst>
          </a:custGeom>
          <a:blipFill>
            <a:blip r:embed="rId5">
              <a:alphaModFix amt="29000"/>
              <a:extLst>
                <a:ext uri="{96DAC541-7B7A-43D3-8B79-37D633B846F1}">
                  <asvg:svgBlip xmlns:asvg="http://schemas.microsoft.com/office/drawing/2016/SVG/main" r:embed="rId6"/>
                </a:ext>
              </a:extLst>
            </a:blip>
            <a:stretch>
              <a:fillRect/>
            </a:stretch>
          </a:blipFill>
        </p:spPr>
      </p:sp>
      <p:grpSp>
        <p:nvGrpSpPr>
          <p:cNvPr id="5" name="Group 5"/>
          <p:cNvGrpSpPr/>
          <p:nvPr/>
        </p:nvGrpSpPr>
        <p:grpSpPr>
          <a:xfrm>
            <a:off x="5520658" y="3240029"/>
            <a:ext cx="1142373" cy="114237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DE0E6">
                    <a:alpha val="100000"/>
                  </a:srgbClr>
                </a:gs>
                <a:gs pos="100000">
                  <a:srgbClr val="004AAD">
                    <a:alpha val="100000"/>
                  </a:srgbClr>
                </a:gs>
              </a:gsLst>
              <a:lin ang="0"/>
            </a:gra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05"/>
                </a:lnSpc>
              </a:pPr>
              <a:endParaRPr/>
            </a:p>
          </p:txBody>
        </p:sp>
      </p:grpSp>
      <p:sp>
        <p:nvSpPr>
          <p:cNvPr id="8" name="TextBox 8"/>
          <p:cNvSpPr txBox="1"/>
          <p:nvPr/>
        </p:nvSpPr>
        <p:spPr>
          <a:xfrm>
            <a:off x="6101520" y="768820"/>
            <a:ext cx="11921137" cy="567463"/>
          </a:xfrm>
          <a:prstGeom prst="rect">
            <a:avLst/>
          </a:prstGeom>
        </p:spPr>
        <p:txBody>
          <a:bodyPr wrap="square" lIns="0" tIns="0" rIns="0" bIns="0" rtlCol="0" anchor="t">
            <a:spAutoFit/>
          </a:bodyPr>
          <a:lstStyle/>
          <a:p>
            <a:pPr marL="0" lvl="0" indent="0" algn="ctr">
              <a:lnSpc>
                <a:spcPts val="4279"/>
              </a:lnSpc>
              <a:spcBef>
                <a:spcPct val="0"/>
              </a:spcBef>
            </a:pPr>
            <a:r>
              <a:rPr lang="en-US" sz="4000" b="1" dirty="0">
                <a:solidFill>
                  <a:srgbClr val="FFFFFF"/>
                </a:solidFill>
                <a:latin typeface="Now Bold"/>
                <a:ea typeface="Now Bold"/>
                <a:cs typeface="Now Bold"/>
                <a:sym typeface="Now Bold"/>
              </a:rPr>
              <a:t>PHASES IMPLEMENTATION &amp; TASK DIVISION </a:t>
            </a:r>
          </a:p>
        </p:txBody>
      </p:sp>
      <p:sp>
        <p:nvSpPr>
          <p:cNvPr id="9" name="TextBox 9"/>
          <p:cNvSpPr txBox="1"/>
          <p:nvPr/>
        </p:nvSpPr>
        <p:spPr>
          <a:xfrm>
            <a:off x="6821598" y="3441203"/>
            <a:ext cx="10257027" cy="1220527"/>
          </a:xfrm>
          <a:prstGeom prst="rect">
            <a:avLst/>
          </a:prstGeom>
        </p:spPr>
        <p:txBody>
          <a:bodyPr lIns="0" tIns="0" rIns="0" bIns="0" rtlCol="0" anchor="t">
            <a:spAutoFit/>
          </a:bodyPr>
          <a:lstStyle/>
          <a:p>
            <a:pPr algn="l">
              <a:lnSpc>
                <a:spcPts val="3829"/>
              </a:lnSpc>
            </a:pPr>
            <a:r>
              <a:rPr lang="en-US" sz="2800" b="1" dirty="0">
                <a:solidFill>
                  <a:srgbClr val="CFF4FF"/>
                </a:solidFill>
                <a:latin typeface="DM Sans Bold"/>
                <a:ea typeface="DM Sans Bold"/>
                <a:cs typeface="DM Sans Bold"/>
                <a:sym typeface="DM Sans Bold"/>
              </a:rPr>
              <a:t>Phase 1 : Payroll Configuration and Employee Setup</a:t>
            </a:r>
          </a:p>
          <a:p>
            <a:pPr algn="l">
              <a:lnSpc>
                <a:spcPts val="3829"/>
              </a:lnSpc>
            </a:pPr>
            <a:endParaRPr lang="en-US" sz="2774" b="1" dirty="0">
              <a:solidFill>
                <a:srgbClr val="CFF4FF"/>
              </a:solidFill>
              <a:latin typeface="DM Sans Bold"/>
              <a:ea typeface="DM Sans Bold"/>
              <a:cs typeface="DM Sans Bold"/>
              <a:sym typeface="DM Sans Bold"/>
            </a:endParaRPr>
          </a:p>
          <a:p>
            <a:pPr marL="0" lvl="0" indent="0" algn="l">
              <a:lnSpc>
                <a:spcPts val="1483"/>
              </a:lnSpc>
              <a:spcBef>
                <a:spcPct val="0"/>
              </a:spcBef>
            </a:pPr>
            <a:endParaRPr lang="en-US" sz="2774" b="1" dirty="0">
              <a:solidFill>
                <a:srgbClr val="CFF4FF"/>
              </a:solidFill>
              <a:latin typeface="DM Sans Bold"/>
              <a:ea typeface="DM Sans Bold"/>
              <a:cs typeface="DM Sans Bold"/>
              <a:sym typeface="DM Sans Bold"/>
            </a:endParaRPr>
          </a:p>
        </p:txBody>
      </p:sp>
      <p:sp>
        <p:nvSpPr>
          <p:cNvPr id="10" name="Freeform 10"/>
          <p:cNvSpPr/>
          <p:nvPr/>
        </p:nvSpPr>
        <p:spPr>
          <a:xfrm>
            <a:off x="5725261" y="3453964"/>
            <a:ext cx="733166" cy="714504"/>
          </a:xfrm>
          <a:custGeom>
            <a:avLst/>
            <a:gdLst/>
            <a:ahLst/>
            <a:cxnLst/>
            <a:rect l="l" t="t" r="r" b="b"/>
            <a:pathLst>
              <a:path w="733166" h="714504">
                <a:moveTo>
                  <a:pt x="0" y="0"/>
                </a:moveTo>
                <a:lnTo>
                  <a:pt x="733166" y="0"/>
                </a:lnTo>
                <a:lnTo>
                  <a:pt x="733166" y="714504"/>
                </a:lnTo>
                <a:lnTo>
                  <a:pt x="0" y="71450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11" name="Group 11"/>
          <p:cNvGrpSpPr/>
          <p:nvPr/>
        </p:nvGrpSpPr>
        <p:grpSpPr>
          <a:xfrm>
            <a:off x="5520658" y="5182483"/>
            <a:ext cx="1142373" cy="114237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DE0E6">
                    <a:alpha val="100000"/>
                  </a:srgbClr>
                </a:gs>
                <a:gs pos="100000">
                  <a:srgbClr val="004AAD">
                    <a:alpha val="100000"/>
                  </a:srgbClr>
                </a:gs>
              </a:gsLst>
              <a:lin ang="0"/>
            </a:gra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05"/>
                </a:lnSpc>
              </a:pPr>
              <a:endParaRPr/>
            </a:p>
          </p:txBody>
        </p:sp>
      </p:grpSp>
      <p:sp>
        <p:nvSpPr>
          <p:cNvPr id="14" name="TextBox 14"/>
          <p:cNvSpPr txBox="1"/>
          <p:nvPr/>
        </p:nvSpPr>
        <p:spPr>
          <a:xfrm>
            <a:off x="12501623" y="6122431"/>
            <a:ext cx="6580895" cy="436436"/>
          </a:xfrm>
          <a:prstGeom prst="rect">
            <a:avLst/>
          </a:prstGeom>
        </p:spPr>
        <p:txBody>
          <a:bodyPr lIns="0" tIns="0" rIns="0" bIns="0" rtlCol="0" anchor="t">
            <a:spAutoFit/>
          </a:bodyPr>
          <a:lstStyle/>
          <a:p>
            <a:pPr lvl="0" algn="ctr">
              <a:lnSpc>
                <a:spcPts val="3553"/>
              </a:lnSpc>
              <a:spcBef>
                <a:spcPct val="0"/>
              </a:spcBef>
            </a:pPr>
            <a:r>
              <a:rPr lang="en-US" sz="2574" b="1" dirty="0">
                <a:solidFill>
                  <a:srgbClr val="91D0B7"/>
                </a:solidFill>
                <a:latin typeface="DM Sans Bold"/>
                <a:ea typeface="DM Sans Bold"/>
                <a:cs typeface="DM Sans Bold"/>
                <a:sym typeface="DM Sans Bold"/>
              </a:rPr>
              <a:t>Marwa Adel &amp; </a:t>
            </a:r>
            <a:r>
              <a:rPr lang="en-US" sz="2574" b="1" dirty="0" err="1">
                <a:solidFill>
                  <a:srgbClr val="91D0B7"/>
                </a:solidFill>
                <a:latin typeface="DM Sans Bold"/>
                <a:ea typeface="DM Sans Bold"/>
                <a:cs typeface="DM Sans Bold"/>
                <a:sym typeface="DM Sans Bold"/>
              </a:rPr>
              <a:t>JihadNour</a:t>
            </a:r>
            <a:endParaRPr lang="en-US" sz="2574" b="1" dirty="0">
              <a:solidFill>
                <a:srgbClr val="91D0B7"/>
              </a:solidFill>
              <a:latin typeface="DM Sans Bold"/>
              <a:ea typeface="DM Sans Bold"/>
              <a:cs typeface="DM Sans Bold"/>
              <a:sym typeface="DM Sans Bold"/>
            </a:endParaRPr>
          </a:p>
        </p:txBody>
      </p:sp>
      <p:sp>
        <p:nvSpPr>
          <p:cNvPr id="15" name="TextBox 15"/>
          <p:cNvSpPr txBox="1"/>
          <p:nvPr/>
        </p:nvSpPr>
        <p:spPr>
          <a:xfrm>
            <a:off x="6847387" y="5359348"/>
            <a:ext cx="11308472" cy="929293"/>
          </a:xfrm>
          <a:prstGeom prst="rect">
            <a:avLst/>
          </a:prstGeom>
        </p:spPr>
        <p:txBody>
          <a:bodyPr lIns="0" tIns="0" rIns="0" bIns="0" rtlCol="0" anchor="t">
            <a:spAutoFit/>
          </a:bodyPr>
          <a:lstStyle/>
          <a:p>
            <a:pPr algn="l">
              <a:lnSpc>
                <a:spcPts val="3726"/>
              </a:lnSpc>
            </a:pPr>
            <a:r>
              <a:rPr lang="en-US" sz="2800" b="1" i="1" dirty="0">
                <a:solidFill>
                  <a:srgbClr val="CFF4FF"/>
                </a:solidFill>
                <a:latin typeface="DM Sans Bold Italics"/>
                <a:ea typeface="DM Sans Bold Italics"/>
                <a:cs typeface="DM Sans Bold Italics"/>
                <a:sym typeface="DM Sans Bold Italics"/>
              </a:rPr>
              <a:t>Phase 2: Payroll Processing and Adjustments</a:t>
            </a:r>
          </a:p>
          <a:p>
            <a:pPr marL="0" lvl="0" indent="0" algn="l">
              <a:lnSpc>
                <a:spcPts val="3726"/>
              </a:lnSpc>
              <a:spcBef>
                <a:spcPct val="0"/>
              </a:spcBef>
            </a:pPr>
            <a:endParaRPr lang="en-US" sz="2700" b="1" i="1" dirty="0">
              <a:solidFill>
                <a:srgbClr val="CFF4FF"/>
              </a:solidFill>
              <a:latin typeface="DM Sans Bold Italics"/>
              <a:ea typeface="DM Sans Bold Italics"/>
              <a:cs typeface="DM Sans Bold Italics"/>
              <a:sym typeface="DM Sans Bold Italics"/>
            </a:endParaRPr>
          </a:p>
        </p:txBody>
      </p:sp>
      <p:sp>
        <p:nvSpPr>
          <p:cNvPr id="16" name="Freeform 16"/>
          <p:cNvSpPr/>
          <p:nvPr/>
        </p:nvSpPr>
        <p:spPr>
          <a:xfrm>
            <a:off x="5799040" y="5431446"/>
            <a:ext cx="585607" cy="669613"/>
          </a:xfrm>
          <a:custGeom>
            <a:avLst/>
            <a:gdLst/>
            <a:ahLst/>
            <a:cxnLst/>
            <a:rect l="l" t="t" r="r" b="b"/>
            <a:pathLst>
              <a:path w="585607" h="669613">
                <a:moveTo>
                  <a:pt x="0" y="0"/>
                </a:moveTo>
                <a:lnTo>
                  <a:pt x="585608" y="0"/>
                </a:lnTo>
                <a:lnTo>
                  <a:pt x="585608" y="669613"/>
                </a:lnTo>
                <a:lnTo>
                  <a:pt x="0" y="66961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17" name="Group 17"/>
          <p:cNvGrpSpPr/>
          <p:nvPr/>
        </p:nvGrpSpPr>
        <p:grpSpPr>
          <a:xfrm>
            <a:off x="5520658" y="7125268"/>
            <a:ext cx="1142373" cy="1142373"/>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DE0E6">
                    <a:alpha val="100000"/>
                  </a:srgbClr>
                </a:gs>
                <a:gs pos="100000">
                  <a:srgbClr val="004AAD">
                    <a:alpha val="100000"/>
                  </a:srgbClr>
                </a:gs>
              </a:gsLst>
              <a:lin ang="0"/>
            </a:gra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05"/>
                </a:lnSpc>
              </a:pPr>
              <a:endParaRPr/>
            </a:p>
          </p:txBody>
        </p:sp>
      </p:grpSp>
      <p:sp>
        <p:nvSpPr>
          <p:cNvPr id="20" name="TextBox 20"/>
          <p:cNvSpPr txBox="1"/>
          <p:nvPr/>
        </p:nvSpPr>
        <p:spPr>
          <a:xfrm>
            <a:off x="13753412" y="8045907"/>
            <a:ext cx="4402447" cy="436436"/>
          </a:xfrm>
          <a:prstGeom prst="rect">
            <a:avLst/>
          </a:prstGeom>
        </p:spPr>
        <p:txBody>
          <a:bodyPr lIns="0" tIns="0" rIns="0" bIns="0" rtlCol="0" anchor="t">
            <a:spAutoFit/>
          </a:bodyPr>
          <a:lstStyle/>
          <a:p>
            <a:pPr marL="0" lvl="0" indent="0" algn="ctr">
              <a:lnSpc>
                <a:spcPts val="3553"/>
              </a:lnSpc>
              <a:spcBef>
                <a:spcPct val="0"/>
              </a:spcBef>
            </a:pPr>
            <a:r>
              <a:rPr lang="en-US" sz="2574" b="1" dirty="0">
                <a:solidFill>
                  <a:srgbClr val="91D0B7"/>
                </a:solidFill>
                <a:latin typeface="DM Sans Bold"/>
                <a:ea typeface="DM Sans Bold"/>
                <a:cs typeface="DM Sans Bold"/>
                <a:sym typeface="DM Sans Bold"/>
              </a:rPr>
              <a:t>Azza Abdallah</a:t>
            </a:r>
          </a:p>
        </p:txBody>
      </p:sp>
      <p:sp>
        <p:nvSpPr>
          <p:cNvPr id="21" name="TextBox 21"/>
          <p:cNvSpPr txBox="1"/>
          <p:nvPr/>
        </p:nvSpPr>
        <p:spPr>
          <a:xfrm>
            <a:off x="6847387" y="7324981"/>
            <a:ext cx="10411913" cy="929293"/>
          </a:xfrm>
          <a:prstGeom prst="rect">
            <a:avLst/>
          </a:prstGeom>
        </p:spPr>
        <p:txBody>
          <a:bodyPr lIns="0" tIns="0" rIns="0" bIns="0" rtlCol="0" anchor="t">
            <a:spAutoFit/>
          </a:bodyPr>
          <a:lstStyle/>
          <a:p>
            <a:pPr algn="l">
              <a:lnSpc>
                <a:spcPts val="3726"/>
              </a:lnSpc>
            </a:pPr>
            <a:r>
              <a:rPr lang="en-US" sz="2800" b="1" i="1" dirty="0">
                <a:solidFill>
                  <a:srgbClr val="CFF4FF"/>
                </a:solidFill>
                <a:latin typeface="DM Sans Bold Italics"/>
                <a:ea typeface="DM Sans Bold Italics"/>
                <a:cs typeface="DM Sans Bold Italics"/>
                <a:sym typeface="DM Sans Bold Italics"/>
              </a:rPr>
              <a:t>Phase 3: Payroll Reconciliation and Reporting</a:t>
            </a:r>
            <a:r>
              <a:rPr lang="en-US" sz="2800" dirty="0">
                <a:solidFill>
                  <a:srgbClr val="CFF4FF"/>
                </a:solidFill>
                <a:latin typeface="DM Sans"/>
                <a:ea typeface="DM Sans"/>
                <a:cs typeface="DM Sans"/>
                <a:sym typeface="DM Sans"/>
              </a:rPr>
              <a:t> </a:t>
            </a:r>
          </a:p>
          <a:p>
            <a:pPr marL="0" lvl="0" indent="0" algn="l">
              <a:lnSpc>
                <a:spcPts val="3726"/>
              </a:lnSpc>
              <a:spcBef>
                <a:spcPct val="0"/>
              </a:spcBef>
            </a:pPr>
            <a:endParaRPr lang="en-US" sz="2700" dirty="0">
              <a:solidFill>
                <a:srgbClr val="CFF4FF"/>
              </a:solidFill>
              <a:latin typeface="DM Sans"/>
              <a:ea typeface="DM Sans"/>
              <a:cs typeface="DM Sans"/>
              <a:sym typeface="DM Sans"/>
            </a:endParaRPr>
          </a:p>
        </p:txBody>
      </p:sp>
      <p:sp>
        <p:nvSpPr>
          <p:cNvPr id="22" name="Freeform 22"/>
          <p:cNvSpPr/>
          <p:nvPr/>
        </p:nvSpPr>
        <p:spPr>
          <a:xfrm>
            <a:off x="5818393" y="7372606"/>
            <a:ext cx="566255" cy="720926"/>
          </a:xfrm>
          <a:custGeom>
            <a:avLst/>
            <a:gdLst/>
            <a:ahLst/>
            <a:cxnLst/>
            <a:rect l="l" t="t" r="r" b="b"/>
            <a:pathLst>
              <a:path w="566255" h="720926">
                <a:moveTo>
                  <a:pt x="0" y="0"/>
                </a:moveTo>
                <a:lnTo>
                  <a:pt x="566255" y="0"/>
                </a:lnTo>
                <a:lnTo>
                  <a:pt x="566255" y="720926"/>
                </a:lnTo>
                <a:lnTo>
                  <a:pt x="0" y="72092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3" name="TextBox 23"/>
          <p:cNvSpPr txBox="1"/>
          <p:nvPr/>
        </p:nvSpPr>
        <p:spPr>
          <a:xfrm>
            <a:off x="12705475" y="4442272"/>
            <a:ext cx="5450384" cy="402726"/>
          </a:xfrm>
          <a:prstGeom prst="rect">
            <a:avLst/>
          </a:prstGeom>
        </p:spPr>
        <p:txBody>
          <a:bodyPr lIns="0" tIns="0" rIns="0" bIns="0" rtlCol="0" anchor="t">
            <a:spAutoFit/>
          </a:bodyPr>
          <a:lstStyle/>
          <a:p>
            <a:pPr algn="ctr">
              <a:lnSpc>
                <a:spcPts val="3223"/>
              </a:lnSpc>
              <a:spcBef>
                <a:spcPct val="0"/>
              </a:spcBef>
            </a:pPr>
            <a:r>
              <a:rPr lang="en-US" sz="2578" b="1" spc="59" dirty="0">
                <a:solidFill>
                  <a:srgbClr val="91D0B7"/>
                </a:solidFill>
                <a:latin typeface="Touvlo Bold"/>
                <a:ea typeface="Touvlo Bold"/>
                <a:cs typeface="Touvlo Bold"/>
                <a:sym typeface="Touvlo Bold"/>
              </a:rPr>
              <a:t>Hadeer </a:t>
            </a:r>
            <a:r>
              <a:rPr lang="en-US" sz="2578" b="1" spc="59" dirty="0" err="1">
                <a:solidFill>
                  <a:srgbClr val="91D0B7"/>
                </a:solidFill>
                <a:latin typeface="Touvlo Bold"/>
                <a:ea typeface="Touvlo Bold"/>
                <a:cs typeface="Touvlo Bold"/>
                <a:sym typeface="Touvlo Bold"/>
              </a:rPr>
              <a:t>Aboelnasr</a:t>
            </a:r>
            <a:r>
              <a:rPr lang="en-US" sz="2578" b="1" spc="59" dirty="0">
                <a:solidFill>
                  <a:srgbClr val="91D0B7"/>
                </a:solidFill>
                <a:latin typeface="Touvlo Bold"/>
                <a:ea typeface="Touvlo Bold"/>
                <a:cs typeface="Touvlo Bold"/>
                <a:sym typeface="Touvlo Bold"/>
              </a:rPr>
              <a:t> &amp; Aya Sleem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1000"/>
                                        <p:tgtEl>
                                          <p:spTgt spid="9">
                                            <p:txEl>
                                              <p:pRg st="0" end="0"/>
                                            </p:txEl>
                                          </p:spTgt>
                                        </p:tgtEl>
                                      </p:cBhvr>
                                    </p:animEffect>
                                    <p:anim calcmode="lin" valueType="num">
                                      <p:cBhvr>
                                        <p:cTn id="13"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3">
                                            <p:txEl>
                                              <p:pRg st="0" end="0"/>
                                            </p:txEl>
                                          </p:spTgt>
                                        </p:tgtEl>
                                        <p:attrNameLst>
                                          <p:attrName>style.visibility</p:attrName>
                                        </p:attrNameLst>
                                      </p:cBhvr>
                                      <p:to>
                                        <p:strVal val="visible"/>
                                      </p:to>
                                    </p:set>
                                    <p:animEffect transition="in" filter="barn(inVertical)">
                                      <p:cBhvr>
                                        <p:cTn id="19" dur="500"/>
                                        <p:tgtEl>
                                          <p:spTgt spid="23">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5">
                                            <p:txEl>
                                              <p:pRg st="0" end="0"/>
                                            </p:txEl>
                                          </p:spTgt>
                                        </p:tgtEl>
                                        <p:attrNameLst>
                                          <p:attrName>style.visibility</p:attrName>
                                        </p:attrNameLst>
                                      </p:cBhvr>
                                      <p:to>
                                        <p:strVal val="visible"/>
                                      </p:to>
                                    </p:set>
                                    <p:animEffect transition="in" filter="fade">
                                      <p:cBhvr>
                                        <p:cTn id="24" dur="1000"/>
                                        <p:tgtEl>
                                          <p:spTgt spid="15">
                                            <p:txEl>
                                              <p:pRg st="0" end="0"/>
                                            </p:txEl>
                                          </p:spTgt>
                                        </p:tgtEl>
                                      </p:cBhvr>
                                    </p:animEffect>
                                    <p:anim calcmode="lin" valueType="num">
                                      <p:cBhvr>
                                        <p:cTn id="25"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26"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14">
                                            <p:txEl>
                                              <p:pRg st="0" end="0"/>
                                            </p:txEl>
                                          </p:spTgt>
                                        </p:tgtEl>
                                        <p:attrNameLst>
                                          <p:attrName>style.visibility</p:attrName>
                                        </p:attrNameLst>
                                      </p:cBhvr>
                                      <p:to>
                                        <p:strVal val="visible"/>
                                      </p:to>
                                    </p:set>
                                    <p:animEffect transition="in" filter="barn(inVertical)">
                                      <p:cBhvr>
                                        <p:cTn id="31" dur="500"/>
                                        <p:tgtEl>
                                          <p:spTgt spid="14">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21">
                                            <p:txEl>
                                              <p:pRg st="0" end="0"/>
                                            </p:txEl>
                                          </p:spTgt>
                                        </p:tgtEl>
                                        <p:attrNameLst>
                                          <p:attrName>style.visibility</p:attrName>
                                        </p:attrNameLst>
                                      </p:cBhvr>
                                      <p:to>
                                        <p:strVal val="visible"/>
                                      </p:to>
                                    </p:set>
                                    <p:animEffect transition="in" filter="fade">
                                      <p:cBhvr>
                                        <p:cTn id="36" dur="1000"/>
                                        <p:tgtEl>
                                          <p:spTgt spid="21">
                                            <p:txEl>
                                              <p:pRg st="0" end="0"/>
                                            </p:txEl>
                                          </p:spTgt>
                                        </p:tgtEl>
                                      </p:cBhvr>
                                    </p:animEffect>
                                    <p:anim calcmode="lin" valueType="num">
                                      <p:cBhvr>
                                        <p:cTn id="37"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38" dur="1000" fill="hold"/>
                                        <p:tgtEl>
                                          <p:spTgt spid="2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animEffect transition="in" filter="barn(inVertical)">
                                      <p:cBhvr>
                                        <p:cTn id="43"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1E1CA2">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0899382" y="-54747"/>
            <a:ext cx="8958965" cy="9313047"/>
            <a:chOff x="0" y="0"/>
            <a:chExt cx="6108573" cy="6350000"/>
          </a:xfrm>
        </p:grpSpPr>
        <p:sp>
          <p:nvSpPr>
            <p:cNvPr id="3" name="Freeform 3"/>
            <p:cNvSpPr/>
            <p:nvPr/>
          </p:nvSpPr>
          <p:spPr>
            <a:xfrm>
              <a:off x="0" y="0"/>
              <a:ext cx="6108573" cy="6350000"/>
            </a:xfrm>
            <a:custGeom>
              <a:avLst/>
              <a:gdLst/>
              <a:ahLst/>
              <a:cxnLst/>
              <a:rect l="l" t="t" r="r" b="b"/>
              <a:pathLst>
                <a:path w="6108573" h="6350000">
                  <a:moveTo>
                    <a:pt x="6108573" y="0"/>
                  </a:moveTo>
                  <a:lnTo>
                    <a:pt x="6108573" y="3295396"/>
                  </a:lnTo>
                  <a:cubicBezTo>
                    <a:pt x="6108573" y="4982464"/>
                    <a:pt x="4741164" y="6350000"/>
                    <a:pt x="3054350" y="6350000"/>
                  </a:cubicBezTo>
                  <a:cubicBezTo>
                    <a:pt x="1367536" y="6350000"/>
                    <a:pt x="0" y="4982464"/>
                    <a:pt x="0" y="3295523"/>
                  </a:cubicBezTo>
                  <a:lnTo>
                    <a:pt x="0" y="0"/>
                  </a:lnTo>
                  <a:lnTo>
                    <a:pt x="6108573" y="0"/>
                  </a:lnTo>
                  <a:close/>
                </a:path>
              </a:pathLst>
            </a:custGeom>
            <a:blipFill>
              <a:blip r:embed="rId2"/>
              <a:stretch>
                <a:fillRect l="-28012" r="-28012"/>
              </a:stretch>
            </a:blipFill>
          </p:spPr>
        </p:sp>
      </p:grpSp>
      <p:sp>
        <p:nvSpPr>
          <p:cNvPr id="4" name="Freeform 4"/>
          <p:cNvSpPr/>
          <p:nvPr/>
        </p:nvSpPr>
        <p:spPr>
          <a:xfrm>
            <a:off x="17583221" y="8747556"/>
            <a:ext cx="1802889" cy="1802889"/>
          </a:xfrm>
          <a:custGeom>
            <a:avLst/>
            <a:gdLst/>
            <a:ahLst/>
            <a:cxnLst/>
            <a:rect l="l" t="t" r="r" b="b"/>
            <a:pathLst>
              <a:path w="1802889" h="1802889">
                <a:moveTo>
                  <a:pt x="0" y="0"/>
                </a:moveTo>
                <a:lnTo>
                  <a:pt x="1802889" y="0"/>
                </a:lnTo>
                <a:lnTo>
                  <a:pt x="1802889" y="1802888"/>
                </a:lnTo>
                <a:lnTo>
                  <a:pt x="0" y="180288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217684" y="-1476413"/>
            <a:ext cx="2293320" cy="2293320"/>
          </a:xfrm>
          <a:custGeom>
            <a:avLst/>
            <a:gdLst/>
            <a:ahLst/>
            <a:cxnLst/>
            <a:rect l="l" t="t" r="r" b="b"/>
            <a:pathLst>
              <a:path w="2293320" h="2293320">
                <a:moveTo>
                  <a:pt x="0" y="0"/>
                </a:moveTo>
                <a:lnTo>
                  <a:pt x="2293320" y="0"/>
                </a:lnTo>
                <a:lnTo>
                  <a:pt x="2293320" y="2293319"/>
                </a:lnTo>
                <a:lnTo>
                  <a:pt x="0" y="229331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1543050" y="-54747"/>
            <a:ext cx="2760734" cy="10341747"/>
            <a:chOff x="0" y="0"/>
            <a:chExt cx="727107" cy="2723752"/>
          </a:xfrm>
        </p:grpSpPr>
        <p:sp>
          <p:nvSpPr>
            <p:cNvPr id="7" name="Freeform 7"/>
            <p:cNvSpPr/>
            <p:nvPr/>
          </p:nvSpPr>
          <p:spPr>
            <a:xfrm>
              <a:off x="0" y="0"/>
              <a:ext cx="727107" cy="2723752"/>
            </a:xfrm>
            <a:custGeom>
              <a:avLst/>
              <a:gdLst/>
              <a:ahLst/>
              <a:cxnLst/>
              <a:rect l="l" t="t" r="r" b="b"/>
              <a:pathLst>
                <a:path w="727107" h="2723752">
                  <a:moveTo>
                    <a:pt x="0" y="0"/>
                  </a:moveTo>
                  <a:lnTo>
                    <a:pt x="727107" y="0"/>
                  </a:lnTo>
                  <a:lnTo>
                    <a:pt x="727107" y="2723752"/>
                  </a:lnTo>
                  <a:lnTo>
                    <a:pt x="0" y="2723752"/>
                  </a:lnTo>
                  <a:close/>
                </a:path>
              </a:pathLst>
            </a:custGeom>
            <a:solidFill>
              <a:srgbClr val="145DA0"/>
            </a:solidFill>
          </p:spPr>
        </p:sp>
        <p:sp>
          <p:nvSpPr>
            <p:cNvPr id="8" name="TextBox 8"/>
            <p:cNvSpPr txBox="1"/>
            <p:nvPr/>
          </p:nvSpPr>
          <p:spPr>
            <a:xfrm>
              <a:off x="0" y="-38100"/>
              <a:ext cx="727107" cy="2761852"/>
            </a:xfrm>
            <a:prstGeom prst="rect">
              <a:avLst/>
            </a:prstGeom>
          </p:spPr>
          <p:txBody>
            <a:bodyPr lIns="50800" tIns="50800" rIns="50800" bIns="50800" rtlCol="0" anchor="ctr"/>
            <a:lstStyle/>
            <a:p>
              <a:pPr algn="ctr">
                <a:lnSpc>
                  <a:spcPts val="2605"/>
                </a:lnSpc>
              </a:pPr>
              <a:endParaRPr/>
            </a:p>
          </p:txBody>
        </p:sp>
      </p:grpSp>
      <p:sp>
        <p:nvSpPr>
          <p:cNvPr id="9" name="TextBox 9"/>
          <p:cNvSpPr txBox="1"/>
          <p:nvPr/>
        </p:nvSpPr>
        <p:spPr>
          <a:xfrm>
            <a:off x="959764" y="1757736"/>
            <a:ext cx="10213581" cy="2046714"/>
          </a:xfrm>
          <a:prstGeom prst="rect">
            <a:avLst/>
          </a:prstGeom>
        </p:spPr>
        <p:txBody>
          <a:bodyPr wrap="square" lIns="0" tIns="0" rIns="0" bIns="0" rtlCol="0" anchor="t">
            <a:spAutoFit/>
          </a:bodyPr>
          <a:lstStyle/>
          <a:p>
            <a:pPr algn="ctr">
              <a:lnSpc>
                <a:spcPts val="4001"/>
              </a:lnSpc>
            </a:pPr>
            <a:r>
              <a:rPr lang="en-US" sz="4000" b="1" dirty="0">
                <a:solidFill>
                  <a:srgbClr val="FFFFFF"/>
                </a:solidFill>
                <a:latin typeface="Now Bold"/>
                <a:ea typeface="Now Bold"/>
                <a:cs typeface="Now Bold"/>
                <a:sym typeface="Now Bold"/>
              </a:rPr>
              <a:t>PHASE ONE </a:t>
            </a:r>
          </a:p>
          <a:p>
            <a:pPr algn="ctr">
              <a:lnSpc>
                <a:spcPts val="4001"/>
              </a:lnSpc>
            </a:pPr>
            <a:endParaRPr lang="en-US" sz="4000" b="1" dirty="0">
              <a:solidFill>
                <a:srgbClr val="FFFFFF"/>
              </a:solidFill>
              <a:latin typeface="Now Bold"/>
              <a:ea typeface="Now Bold"/>
              <a:cs typeface="Now Bold"/>
              <a:sym typeface="Now Bold"/>
            </a:endParaRPr>
          </a:p>
          <a:p>
            <a:pPr algn="ctr">
              <a:lnSpc>
                <a:spcPts val="4001"/>
              </a:lnSpc>
              <a:spcBef>
                <a:spcPct val="0"/>
              </a:spcBef>
            </a:pPr>
            <a:r>
              <a:rPr lang="en-US" sz="3200" b="1" dirty="0">
                <a:solidFill>
                  <a:srgbClr val="FFFFFF"/>
                </a:solidFill>
                <a:latin typeface="Now Bold"/>
                <a:ea typeface="Now Bold"/>
                <a:cs typeface="Now Bold"/>
                <a:sym typeface="Now Bold"/>
              </a:rPr>
              <a:t>PAYROLL CONFIGURATION AND EMPLOYEE SETUP</a:t>
            </a:r>
          </a:p>
        </p:txBody>
      </p:sp>
      <p:sp>
        <p:nvSpPr>
          <p:cNvPr id="10" name="TextBox 10"/>
          <p:cNvSpPr txBox="1"/>
          <p:nvPr/>
        </p:nvSpPr>
        <p:spPr>
          <a:xfrm>
            <a:off x="2277059" y="4696320"/>
            <a:ext cx="8637838" cy="5090111"/>
          </a:xfrm>
          <a:prstGeom prst="rect">
            <a:avLst/>
          </a:prstGeom>
        </p:spPr>
        <p:txBody>
          <a:bodyPr wrap="square" lIns="0" tIns="0" rIns="0" bIns="0" rtlCol="0" anchor="t">
            <a:spAutoFit/>
          </a:bodyPr>
          <a:lstStyle/>
          <a:p>
            <a:pPr algn="l">
              <a:lnSpc>
                <a:spcPct val="150000"/>
              </a:lnSpc>
            </a:pPr>
            <a:r>
              <a:rPr lang="en-US" sz="3200" spc="55" dirty="0">
                <a:solidFill>
                  <a:srgbClr val="FFFFFF"/>
                </a:solidFill>
                <a:latin typeface="Touvlo"/>
                <a:ea typeface="Touvlo"/>
                <a:cs typeface="Touvlo"/>
                <a:sym typeface="Touvlo"/>
              </a:rPr>
              <a:t>1. Define Payroll Elements.</a:t>
            </a:r>
          </a:p>
          <a:p>
            <a:pPr algn="l">
              <a:lnSpc>
                <a:spcPct val="150000"/>
              </a:lnSpc>
            </a:pPr>
            <a:endParaRPr lang="en-US" sz="3200" spc="55" dirty="0">
              <a:solidFill>
                <a:srgbClr val="FFFFFF"/>
              </a:solidFill>
              <a:latin typeface="Touvlo"/>
              <a:ea typeface="Touvlo"/>
              <a:cs typeface="Touvlo"/>
              <a:sym typeface="Touvlo"/>
            </a:endParaRPr>
          </a:p>
          <a:p>
            <a:pPr algn="l">
              <a:lnSpc>
                <a:spcPct val="150000"/>
              </a:lnSpc>
            </a:pPr>
            <a:r>
              <a:rPr lang="en-US" sz="3200" spc="55" dirty="0">
                <a:solidFill>
                  <a:srgbClr val="FFFFFF"/>
                </a:solidFill>
                <a:latin typeface="Touvlo"/>
                <a:ea typeface="Touvlo"/>
                <a:cs typeface="Touvlo"/>
                <a:sym typeface="Touvlo"/>
              </a:rPr>
              <a:t>2. Set up Employee Payment Methods.</a:t>
            </a:r>
          </a:p>
          <a:p>
            <a:pPr algn="l">
              <a:lnSpc>
                <a:spcPct val="150000"/>
              </a:lnSpc>
            </a:pPr>
            <a:endParaRPr lang="en-US" sz="3200" spc="55" dirty="0">
              <a:solidFill>
                <a:srgbClr val="FFFFFF"/>
              </a:solidFill>
              <a:latin typeface="Touvlo"/>
              <a:ea typeface="Touvlo"/>
              <a:cs typeface="Touvlo"/>
              <a:sym typeface="Touvlo"/>
            </a:endParaRPr>
          </a:p>
          <a:p>
            <a:pPr algn="l">
              <a:lnSpc>
                <a:spcPct val="150000"/>
              </a:lnSpc>
            </a:pPr>
            <a:r>
              <a:rPr lang="en-US" sz="3200" spc="55" dirty="0">
                <a:solidFill>
                  <a:srgbClr val="FFFFFF"/>
                </a:solidFill>
                <a:latin typeface="Touvlo"/>
                <a:ea typeface="Touvlo"/>
                <a:cs typeface="Touvlo"/>
                <a:sym typeface="Touvlo"/>
              </a:rPr>
              <a:t>3. Payroll calendar.</a:t>
            </a:r>
          </a:p>
          <a:p>
            <a:pPr algn="l">
              <a:lnSpc>
                <a:spcPct val="150000"/>
              </a:lnSpc>
            </a:pPr>
            <a:endParaRPr lang="en-US" sz="3200" spc="55" dirty="0">
              <a:solidFill>
                <a:srgbClr val="FFFFFF"/>
              </a:solidFill>
              <a:latin typeface="Touvlo"/>
              <a:ea typeface="Touvlo"/>
              <a:cs typeface="Touvlo"/>
              <a:sym typeface="Touvlo"/>
            </a:endParaRPr>
          </a:p>
          <a:p>
            <a:pPr algn="l">
              <a:lnSpc>
                <a:spcPct val="150000"/>
              </a:lnSpc>
            </a:pPr>
            <a:r>
              <a:rPr lang="en-US" sz="3200" spc="55" dirty="0">
                <a:solidFill>
                  <a:srgbClr val="FFFFFF"/>
                </a:solidFill>
                <a:latin typeface="Touvlo"/>
                <a:ea typeface="Touvlo"/>
                <a:cs typeface="Touvlo"/>
                <a:sym typeface="Touvlo"/>
              </a:rPr>
              <a:t>4. Update Employee Records.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barn(inVertical)">
                                      <p:cBhvr>
                                        <p:cTn id="7" dur="500"/>
                                        <p:tgtEl>
                                          <p:spTgt spid="9">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9">
                                            <p:txEl>
                                              <p:pRg st="2" end="2"/>
                                            </p:txEl>
                                          </p:spTgt>
                                        </p:tgtEl>
                                        <p:attrNameLst>
                                          <p:attrName>style.visibility</p:attrName>
                                        </p:attrNameLst>
                                      </p:cBhvr>
                                      <p:to>
                                        <p:strVal val="visible"/>
                                      </p:to>
                                    </p:set>
                                    <p:animEffect transition="in" filter="barn(inVertical)">
                                      <p:cBhvr>
                                        <p:cTn id="10" dur="500"/>
                                        <p:tgtEl>
                                          <p:spTgt spid="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animEffect transition="in" filter="fade">
                                      <p:cBhvr>
                                        <p:cTn id="15" dur="1000"/>
                                        <p:tgtEl>
                                          <p:spTgt spid="10">
                                            <p:txEl>
                                              <p:pRg st="0" end="0"/>
                                            </p:txEl>
                                          </p:spTgt>
                                        </p:tgtEl>
                                      </p:cBhvr>
                                    </p:animEffect>
                                    <p:anim calcmode="lin" valueType="num">
                                      <p:cBhvr>
                                        <p:cTn id="16"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0">
                                            <p:txEl>
                                              <p:pRg st="2" end="2"/>
                                            </p:txEl>
                                          </p:spTgt>
                                        </p:tgtEl>
                                        <p:attrNameLst>
                                          <p:attrName>style.visibility</p:attrName>
                                        </p:attrNameLst>
                                      </p:cBhvr>
                                      <p:to>
                                        <p:strVal val="visible"/>
                                      </p:to>
                                    </p:set>
                                    <p:animEffect transition="in" filter="fade">
                                      <p:cBhvr>
                                        <p:cTn id="22" dur="1000"/>
                                        <p:tgtEl>
                                          <p:spTgt spid="10">
                                            <p:txEl>
                                              <p:pRg st="2" end="2"/>
                                            </p:txEl>
                                          </p:spTgt>
                                        </p:tgtEl>
                                      </p:cBhvr>
                                    </p:animEffect>
                                    <p:anim calcmode="lin" valueType="num">
                                      <p:cBhvr>
                                        <p:cTn id="2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0">
                                            <p:txEl>
                                              <p:pRg st="4" end="4"/>
                                            </p:txEl>
                                          </p:spTgt>
                                        </p:tgtEl>
                                        <p:attrNameLst>
                                          <p:attrName>style.visibility</p:attrName>
                                        </p:attrNameLst>
                                      </p:cBhvr>
                                      <p:to>
                                        <p:strVal val="visible"/>
                                      </p:to>
                                    </p:set>
                                    <p:animEffect transition="in" filter="fade">
                                      <p:cBhvr>
                                        <p:cTn id="29" dur="1000"/>
                                        <p:tgtEl>
                                          <p:spTgt spid="10">
                                            <p:txEl>
                                              <p:pRg st="4" end="4"/>
                                            </p:txEl>
                                          </p:spTgt>
                                        </p:tgtEl>
                                      </p:cBhvr>
                                    </p:animEffect>
                                    <p:anim calcmode="lin" valueType="num">
                                      <p:cBhvr>
                                        <p:cTn id="30"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0">
                                            <p:txEl>
                                              <p:pRg st="6" end="6"/>
                                            </p:txEl>
                                          </p:spTgt>
                                        </p:tgtEl>
                                        <p:attrNameLst>
                                          <p:attrName>style.visibility</p:attrName>
                                        </p:attrNameLst>
                                      </p:cBhvr>
                                      <p:to>
                                        <p:strVal val="visible"/>
                                      </p:to>
                                    </p:set>
                                    <p:animEffect transition="in" filter="fade">
                                      <p:cBhvr>
                                        <p:cTn id="36" dur="1000"/>
                                        <p:tgtEl>
                                          <p:spTgt spid="10">
                                            <p:txEl>
                                              <p:pRg st="6" end="6"/>
                                            </p:txEl>
                                          </p:spTgt>
                                        </p:tgtEl>
                                      </p:cBhvr>
                                    </p:animEffect>
                                    <p:anim calcmode="lin" valueType="num">
                                      <p:cBhvr>
                                        <p:cTn id="37"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16376507" y="7423437"/>
            <a:ext cx="4337366" cy="4337366"/>
          </a:xfrm>
          <a:custGeom>
            <a:avLst/>
            <a:gdLst/>
            <a:ahLst/>
            <a:cxnLst/>
            <a:rect l="l" t="t" r="r" b="b"/>
            <a:pathLst>
              <a:path w="4337366" h="4337366">
                <a:moveTo>
                  <a:pt x="0" y="0"/>
                </a:moveTo>
                <a:lnTo>
                  <a:pt x="4337366" y="0"/>
                </a:lnTo>
                <a:lnTo>
                  <a:pt x="4337366" y="4337366"/>
                </a:lnTo>
                <a:lnTo>
                  <a:pt x="0" y="4337366"/>
                </a:lnTo>
                <a:lnTo>
                  <a:pt x="0" y="0"/>
                </a:lnTo>
                <a:close/>
              </a:path>
            </a:pathLst>
          </a:custGeom>
          <a:blipFill>
            <a:blip r:embed="rId2">
              <a:alphaModFix amt="29000"/>
              <a:extLst>
                <a:ext uri="{96DAC541-7B7A-43D3-8B79-37D633B846F1}">
                  <asvg:svgBlip xmlns:asvg="http://schemas.microsoft.com/office/drawing/2016/SVG/main" r:embed="rId3"/>
                </a:ext>
              </a:extLst>
            </a:blip>
            <a:stretch>
              <a:fillRect/>
            </a:stretch>
          </a:blipFill>
        </p:spPr>
      </p:sp>
      <p:sp>
        <p:nvSpPr>
          <p:cNvPr id="3" name="Freeform 3"/>
          <p:cNvSpPr/>
          <p:nvPr/>
        </p:nvSpPr>
        <p:spPr>
          <a:xfrm>
            <a:off x="-2072460" y="-2373421"/>
            <a:ext cx="4337366" cy="4337366"/>
          </a:xfrm>
          <a:custGeom>
            <a:avLst/>
            <a:gdLst/>
            <a:ahLst/>
            <a:cxnLst/>
            <a:rect l="l" t="t" r="r" b="b"/>
            <a:pathLst>
              <a:path w="4337366" h="4337366">
                <a:moveTo>
                  <a:pt x="0" y="0"/>
                </a:moveTo>
                <a:lnTo>
                  <a:pt x="4337366" y="0"/>
                </a:lnTo>
                <a:lnTo>
                  <a:pt x="4337366" y="4337366"/>
                </a:lnTo>
                <a:lnTo>
                  <a:pt x="0" y="4337366"/>
                </a:lnTo>
                <a:lnTo>
                  <a:pt x="0" y="0"/>
                </a:lnTo>
                <a:close/>
              </a:path>
            </a:pathLst>
          </a:custGeom>
          <a:blipFill>
            <a:blip r:embed="rId2">
              <a:alphaModFix amt="29000"/>
              <a:extLst>
                <a:ext uri="{96DAC541-7B7A-43D3-8B79-37D633B846F1}">
                  <asvg:svgBlip xmlns:asvg="http://schemas.microsoft.com/office/drawing/2016/SVG/main" r:embed="rId3"/>
                </a:ext>
              </a:extLst>
            </a:blip>
            <a:stretch>
              <a:fillRect/>
            </a:stretch>
          </a:blipFill>
        </p:spPr>
      </p:sp>
      <p:sp>
        <p:nvSpPr>
          <p:cNvPr id="4" name="Freeform 4"/>
          <p:cNvSpPr/>
          <p:nvPr/>
        </p:nvSpPr>
        <p:spPr>
          <a:xfrm>
            <a:off x="378203" y="4044104"/>
            <a:ext cx="7650385" cy="5968282"/>
          </a:xfrm>
          <a:custGeom>
            <a:avLst/>
            <a:gdLst/>
            <a:ahLst/>
            <a:cxnLst/>
            <a:rect l="l" t="t" r="r" b="b"/>
            <a:pathLst>
              <a:path w="7650385" h="5968282">
                <a:moveTo>
                  <a:pt x="0" y="0"/>
                </a:moveTo>
                <a:lnTo>
                  <a:pt x="7650384" y="0"/>
                </a:lnTo>
                <a:lnTo>
                  <a:pt x="7650384" y="5968282"/>
                </a:lnTo>
                <a:lnTo>
                  <a:pt x="0" y="5968282"/>
                </a:lnTo>
                <a:lnTo>
                  <a:pt x="0" y="0"/>
                </a:lnTo>
                <a:close/>
              </a:path>
            </a:pathLst>
          </a:custGeom>
          <a:blipFill>
            <a:blip r:embed="rId4"/>
            <a:stretch>
              <a:fillRect l="-848" r="-149868" b="-80775"/>
            </a:stretch>
          </a:blipFill>
        </p:spPr>
      </p:sp>
      <p:sp>
        <p:nvSpPr>
          <p:cNvPr id="5" name="Freeform 5"/>
          <p:cNvSpPr/>
          <p:nvPr/>
        </p:nvSpPr>
        <p:spPr>
          <a:xfrm>
            <a:off x="8355963" y="1225365"/>
            <a:ext cx="9932037" cy="4991428"/>
          </a:xfrm>
          <a:custGeom>
            <a:avLst/>
            <a:gdLst/>
            <a:ahLst/>
            <a:cxnLst/>
            <a:rect l="l" t="t" r="r" b="b"/>
            <a:pathLst>
              <a:path w="9932037" h="4991428">
                <a:moveTo>
                  <a:pt x="0" y="0"/>
                </a:moveTo>
                <a:lnTo>
                  <a:pt x="9932037" y="0"/>
                </a:lnTo>
                <a:lnTo>
                  <a:pt x="9932037" y="4991428"/>
                </a:lnTo>
                <a:lnTo>
                  <a:pt x="0" y="4991428"/>
                </a:lnTo>
                <a:lnTo>
                  <a:pt x="0" y="0"/>
                </a:lnTo>
                <a:close/>
              </a:path>
            </a:pathLst>
          </a:custGeom>
          <a:blipFill>
            <a:blip r:embed="rId5"/>
            <a:stretch>
              <a:fillRect t="-7331" r="-72830" b="-86113"/>
            </a:stretch>
          </a:blipFill>
        </p:spPr>
      </p:sp>
      <p:sp>
        <p:nvSpPr>
          <p:cNvPr id="6" name="TextBox 6"/>
          <p:cNvSpPr txBox="1"/>
          <p:nvPr/>
        </p:nvSpPr>
        <p:spPr>
          <a:xfrm>
            <a:off x="196665" y="782453"/>
            <a:ext cx="7479792" cy="896977"/>
          </a:xfrm>
          <a:prstGeom prst="rect">
            <a:avLst/>
          </a:prstGeom>
        </p:spPr>
        <p:txBody>
          <a:bodyPr lIns="0" tIns="0" rIns="0" bIns="0" rtlCol="0" anchor="t">
            <a:spAutoFit/>
          </a:bodyPr>
          <a:lstStyle/>
          <a:p>
            <a:pPr algn="ctr">
              <a:lnSpc>
                <a:spcPts val="3479"/>
              </a:lnSpc>
            </a:pPr>
            <a:r>
              <a:rPr lang="en-US" sz="3600" b="1" dirty="0">
                <a:solidFill>
                  <a:srgbClr val="FFFFFF"/>
                </a:solidFill>
                <a:latin typeface="Now Bold"/>
                <a:ea typeface="Now Bold"/>
                <a:cs typeface="Now Bold"/>
                <a:sym typeface="Now Bold"/>
              </a:rPr>
              <a:t>1. DEFINE PAYROLL ELEMENTS</a:t>
            </a:r>
          </a:p>
          <a:p>
            <a:pPr marL="0" lvl="0" indent="0" algn="ctr">
              <a:lnSpc>
                <a:spcPts val="3479"/>
              </a:lnSpc>
              <a:spcBef>
                <a:spcPct val="0"/>
              </a:spcBef>
            </a:pPr>
            <a:endParaRPr lang="en-US" sz="2899" b="1" dirty="0">
              <a:solidFill>
                <a:srgbClr val="FFFFFF"/>
              </a:solidFill>
              <a:latin typeface="Now Bold"/>
              <a:ea typeface="Now Bold"/>
              <a:cs typeface="Now Bold"/>
              <a:sym typeface="Now Bold"/>
            </a:endParaRPr>
          </a:p>
        </p:txBody>
      </p:sp>
      <p:sp>
        <p:nvSpPr>
          <p:cNvPr id="7" name="TextBox 7"/>
          <p:cNvSpPr txBox="1"/>
          <p:nvPr/>
        </p:nvSpPr>
        <p:spPr>
          <a:xfrm>
            <a:off x="471700" y="1531691"/>
            <a:ext cx="7556888" cy="2660152"/>
          </a:xfrm>
          <a:prstGeom prst="rect">
            <a:avLst/>
          </a:prstGeom>
        </p:spPr>
        <p:txBody>
          <a:bodyPr lIns="0" tIns="0" rIns="0" bIns="0" rtlCol="0" anchor="t">
            <a:spAutoFit/>
          </a:bodyPr>
          <a:lstStyle/>
          <a:p>
            <a:pPr algn="ctr">
              <a:lnSpc>
                <a:spcPts val="2598"/>
              </a:lnSpc>
            </a:pPr>
            <a:r>
              <a:rPr lang="en-US" sz="2400" spc="47" dirty="0">
                <a:solidFill>
                  <a:srgbClr val="FFFFFF"/>
                </a:solidFill>
                <a:latin typeface="DM Sans"/>
                <a:ea typeface="DM Sans"/>
                <a:cs typeface="DM Sans"/>
                <a:sym typeface="DM Sans"/>
              </a:rPr>
              <a:t>Payroll elements are the core components of a payroll system, representing different types of earnings, deductions, and allowances that form an employee’s compensation. These elements are customized to match company policies, ensuring accurate salary calculations and compliance with legal and financial regulations.</a:t>
            </a:r>
          </a:p>
          <a:p>
            <a:pPr algn="ctr">
              <a:lnSpc>
                <a:spcPts val="2598"/>
              </a:lnSpc>
            </a:pPr>
            <a:endParaRPr lang="en-US" sz="2078" spc="47" dirty="0">
              <a:solidFill>
                <a:srgbClr val="FFFFFF"/>
              </a:solidFill>
              <a:latin typeface="DM Sans"/>
              <a:ea typeface="DM Sans"/>
              <a:cs typeface="DM Sans"/>
              <a:sym typeface="DM Sans"/>
            </a:endParaRPr>
          </a:p>
        </p:txBody>
      </p:sp>
      <p:sp>
        <p:nvSpPr>
          <p:cNvPr id="8" name="TextBox 8"/>
          <p:cNvSpPr txBox="1"/>
          <p:nvPr/>
        </p:nvSpPr>
        <p:spPr>
          <a:xfrm>
            <a:off x="8528870" y="6928485"/>
            <a:ext cx="10371671" cy="2354747"/>
          </a:xfrm>
          <a:prstGeom prst="rect">
            <a:avLst/>
          </a:prstGeom>
        </p:spPr>
        <p:txBody>
          <a:bodyPr lIns="0" tIns="0" rIns="0" bIns="0" rtlCol="0" anchor="t">
            <a:spAutoFit/>
          </a:bodyPr>
          <a:lstStyle/>
          <a:p>
            <a:pPr marL="453390" lvl="1" indent="-226695" algn="l">
              <a:lnSpc>
                <a:spcPts val="2625"/>
              </a:lnSpc>
              <a:buFont typeface="Arial"/>
              <a:buChar char="•"/>
            </a:pPr>
            <a:r>
              <a:rPr lang="en-US" sz="2800" b="1" spc="48" dirty="0">
                <a:solidFill>
                  <a:srgbClr val="FFFFFF"/>
                </a:solidFill>
                <a:latin typeface="Touvlo Bold"/>
                <a:ea typeface="Touvlo Bold"/>
                <a:cs typeface="Touvlo Bold"/>
                <a:sym typeface="Touvlo Bold"/>
              </a:rPr>
              <a:t>Element Name</a:t>
            </a:r>
            <a:r>
              <a:rPr lang="en-US" sz="2800" spc="48" dirty="0">
                <a:solidFill>
                  <a:srgbClr val="FFFFFF"/>
                </a:solidFill>
                <a:latin typeface="Touvlo"/>
                <a:ea typeface="Touvlo"/>
                <a:cs typeface="Touvlo"/>
                <a:sym typeface="Touvlo"/>
              </a:rPr>
              <a:t>: Monthly Salary.</a:t>
            </a:r>
          </a:p>
          <a:p>
            <a:pPr algn="l">
              <a:lnSpc>
                <a:spcPts val="2625"/>
              </a:lnSpc>
            </a:pPr>
            <a:endParaRPr lang="en-US" sz="2800" spc="48" dirty="0">
              <a:solidFill>
                <a:srgbClr val="FFFFFF"/>
              </a:solidFill>
              <a:latin typeface="Touvlo"/>
              <a:ea typeface="Touvlo"/>
              <a:cs typeface="Touvlo"/>
              <a:sym typeface="Touvlo"/>
            </a:endParaRPr>
          </a:p>
          <a:p>
            <a:pPr marL="453390" lvl="1" indent="-226695" algn="l">
              <a:lnSpc>
                <a:spcPts val="2625"/>
              </a:lnSpc>
              <a:buFont typeface="Arial"/>
              <a:buChar char="•"/>
            </a:pPr>
            <a:r>
              <a:rPr lang="en-US" sz="2800" b="1" spc="48" dirty="0">
                <a:solidFill>
                  <a:srgbClr val="FFFFFF"/>
                </a:solidFill>
                <a:latin typeface="Touvlo Bold"/>
                <a:ea typeface="Touvlo Bold"/>
                <a:cs typeface="Touvlo Bold"/>
                <a:sym typeface="Touvlo Bold"/>
              </a:rPr>
              <a:t>Element Type</a:t>
            </a:r>
            <a:r>
              <a:rPr lang="en-US" sz="2800" spc="48" dirty="0">
                <a:solidFill>
                  <a:srgbClr val="FFFFFF"/>
                </a:solidFill>
                <a:latin typeface="Touvlo"/>
                <a:ea typeface="Touvlo"/>
                <a:cs typeface="Touvlo"/>
                <a:sym typeface="Touvlo"/>
              </a:rPr>
              <a:t>: Earnings - Recurring – Standard.</a:t>
            </a:r>
          </a:p>
          <a:p>
            <a:pPr algn="l">
              <a:lnSpc>
                <a:spcPts val="2625"/>
              </a:lnSpc>
            </a:pPr>
            <a:endParaRPr lang="en-US" sz="2800" spc="48" dirty="0">
              <a:solidFill>
                <a:srgbClr val="FFFFFF"/>
              </a:solidFill>
              <a:latin typeface="Touvlo"/>
              <a:ea typeface="Touvlo"/>
              <a:cs typeface="Touvlo"/>
              <a:sym typeface="Touvlo"/>
            </a:endParaRPr>
          </a:p>
          <a:p>
            <a:pPr marL="453390" lvl="1" indent="-226695" algn="l">
              <a:lnSpc>
                <a:spcPts val="2625"/>
              </a:lnSpc>
              <a:buFont typeface="Arial"/>
              <a:buChar char="•"/>
            </a:pPr>
            <a:r>
              <a:rPr lang="en-US" sz="2800" b="1" spc="48" dirty="0">
                <a:solidFill>
                  <a:srgbClr val="FFFFFF"/>
                </a:solidFill>
                <a:latin typeface="Touvlo Bold"/>
                <a:ea typeface="Touvlo Bold"/>
                <a:cs typeface="Touvlo Bold"/>
                <a:sym typeface="Touvlo Bold"/>
              </a:rPr>
              <a:t>Element Link: </a:t>
            </a:r>
            <a:r>
              <a:rPr lang="en-US" sz="2800" spc="48" dirty="0">
                <a:solidFill>
                  <a:srgbClr val="FFFFFF"/>
                </a:solidFill>
                <a:latin typeface="Touvlo"/>
                <a:ea typeface="Touvlo"/>
                <a:cs typeface="Touvlo"/>
                <a:sym typeface="Touvlo"/>
              </a:rPr>
              <a:t>All Payroll Group.</a:t>
            </a:r>
          </a:p>
          <a:p>
            <a:pPr algn="l">
              <a:lnSpc>
                <a:spcPts val="2625"/>
              </a:lnSpc>
            </a:pPr>
            <a:endParaRPr lang="en-US" sz="2800" spc="48" dirty="0">
              <a:solidFill>
                <a:srgbClr val="FFFFFF"/>
              </a:solidFill>
              <a:latin typeface="Touvlo"/>
              <a:ea typeface="Touvlo"/>
              <a:cs typeface="Touvlo"/>
              <a:sym typeface="Touvlo"/>
            </a:endParaRPr>
          </a:p>
          <a:p>
            <a:pPr marL="453390" lvl="1" indent="-226695" algn="l">
              <a:lnSpc>
                <a:spcPts val="2625"/>
              </a:lnSpc>
              <a:buFont typeface="Arial"/>
              <a:buChar char="•"/>
            </a:pPr>
            <a:r>
              <a:rPr lang="en-US" sz="2800" b="1" spc="48" dirty="0">
                <a:solidFill>
                  <a:srgbClr val="FFFFFF"/>
                </a:solidFill>
                <a:latin typeface="Touvlo Bold"/>
                <a:ea typeface="Touvlo Bold"/>
                <a:cs typeface="Touvlo Bold"/>
                <a:sym typeface="Touvlo Bold"/>
              </a:rPr>
              <a:t>Element Set:</a:t>
            </a:r>
            <a:r>
              <a:rPr lang="en-US" sz="2800" spc="48" dirty="0">
                <a:solidFill>
                  <a:srgbClr val="FFFFFF"/>
                </a:solidFill>
                <a:latin typeface="Touvlo"/>
                <a:ea typeface="Touvlo"/>
                <a:cs typeface="Touvlo"/>
                <a:sym typeface="Touvlo"/>
              </a:rPr>
              <a:t> Monthly Payroll.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arn(inVertic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down)">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fade">
                                      <p:cBhvr>
                                        <p:cTn id="27" dur="1000"/>
                                        <p:tgtEl>
                                          <p:spTgt spid="8">
                                            <p:txEl>
                                              <p:pRg st="0" end="0"/>
                                            </p:txEl>
                                          </p:spTgt>
                                        </p:tgtEl>
                                      </p:cBhvr>
                                    </p:animEffect>
                                    <p:anim calcmode="lin" valueType="num">
                                      <p:cBhvr>
                                        <p:cTn id="2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2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8">
                                            <p:txEl>
                                              <p:pRg st="2" end="2"/>
                                            </p:txEl>
                                          </p:spTgt>
                                        </p:tgtEl>
                                        <p:attrNameLst>
                                          <p:attrName>style.visibility</p:attrName>
                                        </p:attrNameLst>
                                      </p:cBhvr>
                                      <p:to>
                                        <p:strVal val="visible"/>
                                      </p:to>
                                    </p:set>
                                    <p:animEffect transition="in" filter="fade">
                                      <p:cBhvr>
                                        <p:cTn id="34" dur="1000"/>
                                        <p:tgtEl>
                                          <p:spTgt spid="8">
                                            <p:txEl>
                                              <p:pRg st="2" end="2"/>
                                            </p:txEl>
                                          </p:spTgt>
                                        </p:tgtEl>
                                      </p:cBhvr>
                                    </p:animEffect>
                                    <p:anim calcmode="lin" valueType="num">
                                      <p:cBhvr>
                                        <p:cTn id="3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3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8">
                                            <p:txEl>
                                              <p:pRg st="4" end="4"/>
                                            </p:txEl>
                                          </p:spTgt>
                                        </p:tgtEl>
                                        <p:attrNameLst>
                                          <p:attrName>style.visibility</p:attrName>
                                        </p:attrNameLst>
                                      </p:cBhvr>
                                      <p:to>
                                        <p:strVal val="visible"/>
                                      </p:to>
                                    </p:set>
                                    <p:animEffect transition="in" filter="fade">
                                      <p:cBhvr>
                                        <p:cTn id="41" dur="1000"/>
                                        <p:tgtEl>
                                          <p:spTgt spid="8">
                                            <p:txEl>
                                              <p:pRg st="4" end="4"/>
                                            </p:txEl>
                                          </p:spTgt>
                                        </p:tgtEl>
                                      </p:cBhvr>
                                    </p:animEffect>
                                    <p:anim calcmode="lin" valueType="num">
                                      <p:cBhvr>
                                        <p:cTn id="42"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8">
                                            <p:txEl>
                                              <p:pRg st="6" end="6"/>
                                            </p:txEl>
                                          </p:spTgt>
                                        </p:tgtEl>
                                        <p:attrNameLst>
                                          <p:attrName>style.visibility</p:attrName>
                                        </p:attrNameLst>
                                      </p:cBhvr>
                                      <p:to>
                                        <p:strVal val="visible"/>
                                      </p:to>
                                    </p:set>
                                    <p:animEffect transition="in" filter="fade">
                                      <p:cBhvr>
                                        <p:cTn id="48" dur="1000"/>
                                        <p:tgtEl>
                                          <p:spTgt spid="8">
                                            <p:txEl>
                                              <p:pRg st="6" end="6"/>
                                            </p:txEl>
                                          </p:spTgt>
                                        </p:tgtEl>
                                      </p:cBhvr>
                                    </p:animEffect>
                                    <p:anim calcmode="lin" valueType="num">
                                      <p:cBhvr>
                                        <p:cTn id="49"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50"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rot="1313163">
            <a:off x="-3702368" y="6712924"/>
            <a:ext cx="9085628" cy="5368780"/>
          </a:xfrm>
          <a:custGeom>
            <a:avLst/>
            <a:gdLst/>
            <a:ahLst/>
            <a:cxnLst/>
            <a:rect l="l" t="t" r="r" b="b"/>
            <a:pathLst>
              <a:path w="9085628" h="5368780">
                <a:moveTo>
                  <a:pt x="0" y="0"/>
                </a:moveTo>
                <a:lnTo>
                  <a:pt x="9085629" y="0"/>
                </a:lnTo>
                <a:lnTo>
                  <a:pt x="9085629" y="5368780"/>
                </a:lnTo>
                <a:lnTo>
                  <a:pt x="0" y="53687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267961" y="8412696"/>
            <a:ext cx="4319810" cy="426581"/>
          </a:xfrm>
          <a:custGeom>
            <a:avLst/>
            <a:gdLst/>
            <a:ahLst/>
            <a:cxnLst/>
            <a:rect l="l" t="t" r="r" b="b"/>
            <a:pathLst>
              <a:path w="4319810" h="426581">
                <a:moveTo>
                  <a:pt x="0" y="0"/>
                </a:moveTo>
                <a:lnTo>
                  <a:pt x="4319809" y="0"/>
                </a:lnTo>
                <a:lnTo>
                  <a:pt x="4319809" y="426581"/>
                </a:lnTo>
                <a:lnTo>
                  <a:pt x="0" y="426581"/>
                </a:lnTo>
                <a:lnTo>
                  <a:pt x="0" y="0"/>
                </a:lnTo>
                <a:close/>
              </a:path>
            </a:pathLst>
          </a:custGeom>
          <a:blipFill>
            <a:blip r:embed="rId4"/>
            <a:stretch>
              <a:fillRect t="-99999"/>
            </a:stretch>
          </a:blipFill>
        </p:spPr>
      </p:sp>
      <p:sp>
        <p:nvSpPr>
          <p:cNvPr id="4" name="Freeform 4"/>
          <p:cNvSpPr/>
          <p:nvPr/>
        </p:nvSpPr>
        <p:spPr>
          <a:xfrm>
            <a:off x="6984095" y="8412696"/>
            <a:ext cx="4319810" cy="426581"/>
          </a:xfrm>
          <a:custGeom>
            <a:avLst/>
            <a:gdLst/>
            <a:ahLst/>
            <a:cxnLst/>
            <a:rect l="l" t="t" r="r" b="b"/>
            <a:pathLst>
              <a:path w="4319810" h="426581">
                <a:moveTo>
                  <a:pt x="0" y="0"/>
                </a:moveTo>
                <a:lnTo>
                  <a:pt x="4319810" y="0"/>
                </a:lnTo>
                <a:lnTo>
                  <a:pt x="4319810" y="426581"/>
                </a:lnTo>
                <a:lnTo>
                  <a:pt x="0" y="426581"/>
                </a:lnTo>
                <a:lnTo>
                  <a:pt x="0" y="0"/>
                </a:lnTo>
                <a:close/>
              </a:path>
            </a:pathLst>
          </a:custGeom>
          <a:blipFill>
            <a:blip r:embed="rId4"/>
            <a:stretch>
              <a:fillRect t="-99999"/>
            </a:stretch>
          </a:blipFill>
        </p:spPr>
      </p:sp>
      <p:sp>
        <p:nvSpPr>
          <p:cNvPr id="5" name="Freeform 5"/>
          <p:cNvSpPr/>
          <p:nvPr/>
        </p:nvSpPr>
        <p:spPr>
          <a:xfrm>
            <a:off x="12611642" y="8413495"/>
            <a:ext cx="4319810" cy="426581"/>
          </a:xfrm>
          <a:custGeom>
            <a:avLst/>
            <a:gdLst/>
            <a:ahLst/>
            <a:cxnLst/>
            <a:rect l="l" t="t" r="r" b="b"/>
            <a:pathLst>
              <a:path w="4319810" h="426581">
                <a:moveTo>
                  <a:pt x="0" y="0"/>
                </a:moveTo>
                <a:lnTo>
                  <a:pt x="4319809" y="0"/>
                </a:lnTo>
                <a:lnTo>
                  <a:pt x="4319809" y="426581"/>
                </a:lnTo>
                <a:lnTo>
                  <a:pt x="0" y="426581"/>
                </a:lnTo>
                <a:lnTo>
                  <a:pt x="0" y="0"/>
                </a:lnTo>
                <a:close/>
              </a:path>
            </a:pathLst>
          </a:custGeom>
          <a:blipFill>
            <a:blip r:embed="rId4"/>
            <a:stretch>
              <a:fillRect t="-99999"/>
            </a:stretch>
          </a:blipFill>
        </p:spPr>
      </p:sp>
      <p:sp>
        <p:nvSpPr>
          <p:cNvPr id="6" name="Freeform 6"/>
          <p:cNvSpPr/>
          <p:nvPr/>
        </p:nvSpPr>
        <p:spPr>
          <a:xfrm rot="1313163">
            <a:off x="14330817" y="-1655690"/>
            <a:ext cx="9085628" cy="5368780"/>
          </a:xfrm>
          <a:custGeom>
            <a:avLst/>
            <a:gdLst/>
            <a:ahLst/>
            <a:cxnLst/>
            <a:rect l="l" t="t" r="r" b="b"/>
            <a:pathLst>
              <a:path w="9085628" h="5368780">
                <a:moveTo>
                  <a:pt x="0" y="0"/>
                </a:moveTo>
                <a:lnTo>
                  <a:pt x="9085629" y="0"/>
                </a:lnTo>
                <a:lnTo>
                  <a:pt x="9085629" y="5368780"/>
                </a:lnTo>
                <a:lnTo>
                  <a:pt x="0" y="53687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1143000" y="2111402"/>
            <a:ext cx="12877800" cy="1842684"/>
          </a:xfrm>
          <a:prstGeom prst="rect">
            <a:avLst/>
          </a:prstGeom>
        </p:spPr>
        <p:txBody>
          <a:bodyPr wrap="square" lIns="0" tIns="0" rIns="0" bIns="0" rtlCol="0" anchor="t">
            <a:spAutoFit/>
          </a:bodyPr>
          <a:lstStyle/>
          <a:p>
            <a:pPr algn="ctr">
              <a:lnSpc>
                <a:spcPts val="2870"/>
              </a:lnSpc>
            </a:pPr>
            <a:r>
              <a:rPr lang="en-US" sz="2800" dirty="0">
                <a:solidFill>
                  <a:srgbClr val="FFFFFF"/>
                </a:solidFill>
                <a:latin typeface="DM Sans"/>
                <a:ea typeface="DM Sans"/>
                <a:cs typeface="DM Sans"/>
                <a:sym typeface="DM Sans"/>
              </a:rPr>
              <a:t>Bank Transfer is a payment method that allows for the direct transfer of funds from an employer's account to an employee's bank account. This method is widely used for payroll disbursements, offering a secure and efficient way to pay employees without the need for paper checks.</a:t>
            </a:r>
          </a:p>
          <a:p>
            <a:pPr marL="0" lvl="0" indent="0" algn="ctr">
              <a:lnSpc>
                <a:spcPts val="2870"/>
              </a:lnSpc>
              <a:spcBef>
                <a:spcPct val="0"/>
              </a:spcBef>
            </a:pPr>
            <a:endParaRPr lang="en-US" sz="2079" dirty="0">
              <a:solidFill>
                <a:srgbClr val="FFFFFF"/>
              </a:solidFill>
              <a:latin typeface="DM Sans"/>
              <a:ea typeface="DM Sans"/>
              <a:cs typeface="DM Sans"/>
              <a:sym typeface="DM Sans"/>
            </a:endParaRPr>
          </a:p>
        </p:txBody>
      </p:sp>
      <p:sp>
        <p:nvSpPr>
          <p:cNvPr id="8" name="Freeform 8"/>
          <p:cNvSpPr/>
          <p:nvPr/>
        </p:nvSpPr>
        <p:spPr>
          <a:xfrm>
            <a:off x="358975" y="3911703"/>
            <a:ext cx="10425272" cy="5141844"/>
          </a:xfrm>
          <a:custGeom>
            <a:avLst/>
            <a:gdLst/>
            <a:ahLst/>
            <a:cxnLst/>
            <a:rect l="l" t="t" r="r" b="b"/>
            <a:pathLst>
              <a:path w="10425272" h="5141844">
                <a:moveTo>
                  <a:pt x="0" y="0"/>
                </a:moveTo>
                <a:lnTo>
                  <a:pt x="10425271" y="0"/>
                </a:lnTo>
                <a:lnTo>
                  <a:pt x="10425271" y="5141844"/>
                </a:lnTo>
                <a:lnTo>
                  <a:pt x="0" y="5141844"/>
                </a:lnTo>
                <a:lnTo>
                  <a:pt x="0" y="0"/>
                </a:lnTo>
                <a:close/>
              </a:path>
            </a:pathLst>
          </a:custGeom>
          <a:blipFill>
            <a:blip r:embed="rId5"/>
            <a:stretch>
              <a:fillRect l="-3047" r="-3047" b="-511"/>
            </a:stretch>
          </a:blipFill>
        </p:spPr>
      </p:sp>
      <p:sp>
        <p:nvSpPr>
          <p:cNvPr id="9" name="TextBox 9"/>
          <p:cNvSpPr txBox="1"/>
          <p:nvPr/>
        </p:nvSpPr>
        <p:spPr>
          <a:xfrm>
            <a:off x="840446" y="1028700"/>
            <a:ext cx="9943800" cy="475130"/>
          </a:xfrm>
          <a:prstGeom prst="rect">
            <a:avLst/>
          </a:prstGeom>
        </p:spPr>
        <p:txBody>
          <a:bodyPr wrap="square" lIns="0" tIns="0" rIns="0" bIns="0" rtlCol="0" anchor="t">
            <a:spAutoFit/>
          </a:bodyPr>
          <a:lstStyle/>
          <a:p>
            <a:pPr marL="0" lvl="0" indent="0" algn="ctr">
              <a:lnSpc>
                <a:spcPts val="3479"/>
              </a:lnSpc>
              <a:spcBef>
                <a:spcPct val="0"/>
              </a:spcBef>
            </a:pPr>
            <a:r>
              <a:rPr lang="en-US" sz="3600" b="1" dirty="0">
                <a:solidFill>
                  <a:srgbClr val="FFFFFF"/>
                </a:solidFill>
                <a:latin typeface="Now Bold"/>
                <a:ea typeface="Now Bold"/>
                <a:cs typeface="Now Bold"/>
                <a:sym typeface="Now Bold"/>
              </a:rPr>
              <a:t>2. SET UP EMPLOYEE PAYMENT METHODS</a:t>
            </a:r>
          </a:p>
        </p:txBody>
      </p:sp>
      <p:sp>
        <p:nvSpPr>
          <p:cNvPr id="10" name="TextBox 10"/>
          <p:cNvSpPr txBox="1"/>
          <p:nvPr/>
        </p:nvSpPr>
        <p:spPr>
          <a:xfrm>
            <a:off x="10784246" y="3954086"/>
            <a:ext cx="7503754" cy="9855583"/>
          </a:xfrm>
          <a:prstGeom prst="rect">
            <a:avLst/>
          </a:prstGeom>
        </p:spPr>
        <p:txBody>
          <a:bodyPr lIns="0" tIns="0" rIns="0" bIns="0" rtlCol="0" anchor="t">
            <a:spAutoFit/>
          </a:bodyPr>
          <a:lstStyle/>
          <a:p>
            <a:pPr algn="l">
              <a:lnSpc>
                <a:spcPts val="4347"/>
              </a:lnSpc>
            </a:pPr>
            <a:endParaRPr sz="2400" dirty="0"/>
          </a:p>
          <a:p>
            <a:pPr marL="449071" lvl="1" indent="-224536" algn="l">
              <a:lnSpc>
                <a:spcPts val="4347"/>
              </a:lnSpc>
              <a:buFont typeface="Arial"/>
              <a:buChar char="•"/>
            </a:pPr>
            <a:r>
              <a:rPr lang="en-US" sz="2800" spc="47" dirty="0">
                <a:solidFill>
                  <a:srgbClr val="FFFFFF"/>
                </a:solidFill>
                <a:latin typeface="Touvlo"/>
                <a:ea typeface="Touvlo"/>
                <a:cs typeface="Touvlo"/>
                <a:sym typeface="Touvlo"/>
              </a:rPr>
              <a:t>Payment Methods Name: </a:t>
            </a:r>
            <a:r>
              <a:rPr lang="en-US" sz="2800" b="1" spc="47" dirty="0">
                <a:solidFill>
                  <a:srgbClr val="FFFFFF"/>
                </a:solidFill>
                <a:latin typeface="Touvlo Bold"/>
                <a:ea typeface="Touvlo Bold"/>
                <a:cs typeface="Touvlo Bold"/>
                <a:sym typeface="Touvlo Bold"/>
              </a:rPr>
              <a:t>Bank Transfer.</a:t>
            </a:r>
          </a:p>
          <a:p>
            <a:pPr marL="449071" lvl="1" indent="-224536" algn="l">
              <a:lnSpc>
                <a:spcPts val="4347"/>
              </a:lnSpc>
              <a:buFont typeface="Arial"/>
              <a:buChar char="•"/>
            </a:pPr>
            <a:r>
              <a:rPr lang="en-US" sz="2800" spc="47" dirty="0">
                <a:solidFill>
                  <a:srgbClr val="FFFFFF"/>
                </a:solidFill>
                <a:latin typeface="Touvlo"/>
                <a:ea typeface="Touvlo"/>
                <a:cs typeface="Touvlo"/>
                <a:sym typeface="Touvlo"/>
              </a:rPr>
              <a:t>Payment Methods Type:</a:t>
            </a:r>
            <a:r>
              <a:rPr lang="en-US" sz="2800" b="1" i="1" spc="47" dirty="0">
                <a:solidFill>
                  <a:srgbClr val="FFFFFF"/>
                </a:solidFill>
                <a:latin typeface="Touvlo Bold Italics"/>
                <a:ea typeface="Touvlo Bold Italics"/>
                <a:cs typeface="Touvlo Bold Italics"/>
                <a:sym typeface="Touvlo Bold Italics"/>
              </a:rPr>
              <a:t> </a:t>
            </a:r>
            <a:r>
              <a:rPr lang="en-US" sz="2800" b="1" spc="47" dirty="0">
                <a:solidFill>
                  <a:srgbClr val="FFFFFF"/>
                </a:solidFill>
                <a:latin typeface="Touvlo Bold"/>
                <a:ea typeface="Touvlo Bold"/>
                <a:cs typeface="Touvlo Bold"/>
                <a:sym typeface="Touvlo Bold"/>
              </a:rPr>
              <a:t>Bank</a:t>
            </a:r>
            <a:r>
              <a:rPr lang="en-US" sz="2800" b="1" i="1" spc="47" dirty="0">
                <a:solidFill>
                  <a:srgbClr val="FFFFFF"/>
                </a:solidFill>
                <a:latin typeface="Touvlo Bold Italics"/>
                <a:ea typeface="Touvlo Bold Italics"/>
                <a:cs typeface="Touvlo Bold Italics"/>
                <a:sym typeface="Touvlo Bold Italics"/>
              </a:rPr>
              <a:t> .</a:t>
            </a:r>
          </a:p>
          <a:p>
            <a:pPr marL="449071" lvl="1" indent="-224536" algn="l">
              <a:lnSpc>
                <a:spcPts val="4347"/>
              </a:lnSpc>
              <a:buFont typeface="Arial"/>
              <a:buChar char="•"/>
            </a:pPr>
            <a:r>
              <a:rPr lang="en-US" sz="2800" spc="47" dirty="0">
                <a:solidFill>
                  <a:srgbClr val="FFFFFF"/>
                </a:solidFill>
                <a:latin typeface="Touvlo"/>
                <a:ea typeface="Touvlo"/>
                <a:cs typeface="Touvlo"/>
                <a:sym typeface="Touvlo"/>
              </a:rPr>
              <a:t>Currency: </a:t>
            </a:r>
            <a:r>
              <a:rPr lang="en-US" sz="2800" b="1" spc="47" dirty="0">
                <a:solidFill>
                  <a:srgbClr val="FFFFFF"/>
                </a:solidFill>
                <a:latin typeface="Touvlo Bold"/>
                <a:ea typeface="Touvlo Bold"/>
                <a:cs typeface="Touvlo Bold"/>
                <a:sym typeface="Touvlo Bold"/>
              </a:rPr>
              <a:t>EGY.</a:t>
            </a:r>
          </a:p>
          <a:p>
            <a:pPr marL="449071" lvl="1" indent="-224536" algn="l">
              <a:lnSpc>
                <a:spcPts val="4347"/>
              </a:lnSpc>
              <a:buFont typeface="Arial"/>
              <a:buChar char="•"/>
            </a:pPr>
            <a:r>
              <a:rPr lang="en-US" sz="2800" spc="47" dirty="0">
                <a:solidFill>
                  <a:srgbClr val="FFFFFF"/>
                </a:solidFill>
                <a:latin typeface="Touvlo"/>
                <a:ea typeface="Touvlo"/>
                <a:cs typeface="Touvlo"/>
                <a:sym typeface="Touvlo"/>
              </a:rPr>
              <a:t>Bank Details:  </a:t>
            </a:r>
            <a:r>
              <a:rPr lang="en-US" sz="2800" b="1" spc="47" dirty="0">
                <a:solidFill>
                  <a:srgbClr val="FFFFFF"/>
                </a:solidFill>
                <a:latin typeface="Touvlo Bold"/>
                <a:ea typeface="Touvlo Bold"/>
                <a:cs typeface="Touvlo Bold"/>
                <a:sym typeface="Touvlo Bold"/>
              </a:rPr>
              <a:t>(Bank Name - Bank Account - Swift Code - IBAN- Additional Info - Account Number).</a:t>
            </a:r>
          </a:p>
          <a:p>
            <a:pPr algn="l">
              <a:lnSpc>
                <a:spcPts val="4347"/>
              </a:lnSpc>
            </a:pPr>
            <a:endParaRPr lang="en-US" sz="2800" b="1" spc="47" dirty="0">
              <a:solidFill>
                <a:srgbClr val="FFFFFF"/>
              </a:solidFill>
              <a:latin typeface="Touvlo Bold"/>
              <a:ea typeface="Touvlo Bold"/>
              <a:cs typeface="Touvlo Bold"/>
              <a:sym typeface="Touvlo Bold"/>
            </a:endParaRPr>
          </a:p>
          <a:p>
            <a:pPr algn="l">
              <a:lnSpc>
                <a:spcPts val="4347"/>
              </a:lnSpc>
            </a:pPr>
            <a:endParaRPr lang="en-US" sz="2079" b="1" spc="47" dirty="0">
              <a:solidFill>
                <a:srgbClr val="FFFFFF"/>
              </a:solidFill>
              <a:latin typeface="Touvlo Bold"/>
              <a:ea typeface="Touvlo Bold"/>
              <a:cs typeface="Touvlo Bold"/>
              <a:sym typeface="Touvlo Bold"/>
            </a:endParaRPr>
          </a:p>
          <a:p>
            <a:pPr algn="l">
              <a:lnSpc>
                <a:spcPts val="4347"/>
              </a:lnSpc>
            </a:pPr>
            <a:endParaRPr lang="en-US" sz="2079" b="1" spc="47" dirty="0">
              <a:solidFill>
                <a:srgbClr val="FFFFFF"/>
              </a:solidFill>
              <a:latin typeface="Touvlo Bold"/>
              <a:ea typeface="Touvlo Bold"/>
              <a:cs typeface="Touvlo Bold"/>
              <a:sym typeface="Touvlo Bold"/>
            </a:endParaRPr>
          </a:p>
          <a:p>
            <a:pPr algn="l">
              <a:lnSpc>
                <a:spcPts val="4347"/>
              </a:lnSpc>
            </a:pPr>
            <a:r>
              <a:rPr lang="en-US" sz="2079" spc="47" dirty="0">
                <a:solidFill>
                  <a:srgbClr val="FFFFFF"/>
                </a:solidFill>
                <a:latin typeface="Touvlo"/>
                <a:ea typeface="Touvlo"/>
                <a:cs typeface="Touvlo"/>
                <a:sym typeface="Touvlo"/>
              </a:rPr>
              <a:t> </a:t>
            </a:r>
          </a:p>
          <a:p>
            <a:pPr algn="l">
              <a:lnSpc>
                <a:spcPts val="4347"/>
              </a:lnSpc>
            </a:pPr>
            <a:endParaRPr lang="en-US" sz="2079" spc="47" dirty="0">
              <a:solidFill>
                <a:srgbClr val="FFFFFF"/>
              </a:solidFill>
              <a:latin typeface="Touvlo"/>
              <a:ea typeface="Touvlo"/>
              <a:cs typeface="Touvlo"/>
              <a:sym typeface="Touvlo"/>
            </a:endParaRPr>
          </a:p>
          <a:p>
            <a:pPr algn="l">
              <a:lnSpc>
                <a:spcPts val="4347"/>
              </a:lnSpc>
            </a:pPr>
            <a:endParaRPr lang="en-US" sz="2079" spc="47" dirty="0">
              <a:solidFill>
                <a:srgbClr val="FFFFFF"/>
              </a:solidFill>
              <a:latin typeface="Touvlo"/>
              <a:ea typeface="Touvlo"/>
              <a:cs typeface="Touvlo"/>
              <a:sym typeface="Touvlo"/>
            </a:endParaRPr>
          </a:p>
          <a:p>
            <a:pPr algn="l">
              <a:lnSpc>
                <a:spcPts val="4347"/>
              </a:lnSpc>
            </a:pPr>
            <a:endParaRPr lang="en-US" sz="2079" spc="47" dirty="0">
              <a:solidFill>
                <a:srgbClr val="FFFFFF"/>
              </a:solidFill>
              <a:latin typeface="Touvlo"/>
              <a:ea typeface="Touvlo"/>
              <a:cs typeface="Touvlo"/>
              <a:sym typeface="Touvlo"/>
            </a:endParaRPr>
          </a:p>
          <a:p>
            <a:pPr algn="l">
              <a:lnSpc>
                <a:spcPts val="4347"/>
              </a:lnSpc>
            </a:pPr>
            <a:endParaRPr lang="en-US" sz="2079" spc="47" dirty="0">
              <a:solidFill>
                <a:srgbClr val="FFFFFF"/>
              </a:solidFill>
              <a:latin typeface="Touvlo"/>
              <a:ea typeface="Touvlo"/>
              <a:cs typeface="Touvlo"/>
              <a:sym typeface="Touvlo"/>
            </a:endParaRPr>
          </a:p>
          <a:p>
            <a:pPr algn="l">
              <a:lnSpc>
                <a:spcPts val="4347"/>
              </a:lnSpc>
            </a:pPr>
            <a:endParaRPr lang="en-US" sz="2079" spc="47" dirty="0">
              <a:solidFill>
                <a:srgbClr val="FFFFFF"/>
              </a:solidFill>
              <a:latin typeface="Touvlo"/>
              <a:ea typeface="Touvlo"/>
              <a:cs typeface="Touvlo"/>
              <a:sym typeface="Touvlo"/>
            </a:endParaRPr>
          </a:p>
          <a:p>
            <a:pPr algn="l">
              <a:lnSpc>
                <a:spcPts val="4347"/>
              </a:lnSpc>
            </a:pPr>
            <a:endParaRPr lang="en-US" sz="2079" spc="47" dirty="0">
              <a:solidFill>
                <a:srgbClr val="FFFFFF"/>
              </a:solidFill>
              <a:latin typeface="Touvlo"/>
              <a:ea typeface="Touvlo"/>
              <a:cs typeface="Touvlo"/>
              <a:sym typeface="Touvl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barn(inVertical)">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down)">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0">
                                            <p:txEl>
                                              <p:pRg st="1" end="1"/>
                                            </p:txEl>
                                          </p:spTgt>
                                        </p:tgtEl>
                                        <p:attrNameLst>
                                          <p:attrName>style.visibility</p:attrName>
                                        </p:attrNameLst>
                                      </p:cBhvr>
                                      <p:to>
                                        <p:strVal val="visible"/>
                                      </p:to>
                                    </p:set>
                                    <p:animEffect transition="in" filter="fade">
                                      <p:cBhvr>
                                        <p:cTn id="22" dur="1000"/>
                                        <p:tgtEl>
                                          <p:spTgt spid="10">
                                            <p:txEl>
                                              <p:pRg st="1" end="1"/>
                                            </p:txEl>
                                          </p:spTgt>
                                        </p:tgtEl>
                                      </p:cBhvr>
                                    </p:animEffect>
                                    <p:anim calcmode="lin" valueType="num">
                                      <p:cBhvr>
                                        <p:cTn id="23"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0">
                                            <p:txEl>
                                              <p:pRg st="2" end="2"/>
                                            </p:txEl>
                                          </p:spTgt>
                                        </p:tgtEl>
                                        <p:attrNameLst>
                                          <p:attrName>style.visibility</p:attrName>
                                        </p:attrNameLst>
                                      </p:cBhvr>
                                      <p:to>
                                        <p:strVal val="visible"/>
                                      </p:to>
                                    </p:set>
                                    <p:animEffect transition="in" filter="fade">
                                      <p:cBhvr>
                                        <p:cTn id="29" dur="1000"/>
                                        <p:tgtEl>
                                          <p:spTgt spid="10">
                                            <p:txEl>
                                              <p:pRg st="2" end="2"/>
                                            </p:txEl>
                                          </p:spTgt>
                                        </p:tgtEl>
                                      </p:cBhvr>
                                    </p:animEffect>
                                    <p:anim calcmode="lin" valueType="num">
                                      <p:cBhvr>
                                        <p:cTn id="30"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0">
                                            <p:txEl>
                                              <p:pRg st="3" end="3"/>
                                            </p:txEl>
                                          </p:spTgt>
                                        </p:tgtEl>
                                        <p:attrNameLst>
                                          <p:attrName>style.visibility</p:attrName>
                                        </p:attrNameLst>
                                      </p:cBhvr>
                                      <p:to>
                                        <p:strVal val="visible"/>
                                      </p:to>
                                    </p:set>
                                    <p:animEffect transition="in" filter="fade">
                                      <p:cBhvr>
                                        <p:cTn id="36" dur="1000"/>
                                        <p:tgtEl>
                                          <p:spTgt spid="10">
                                            <p:txEl>
                                              <p:pRg st="3" end="3"/>
                                            </p:txEl>
                                          </p:spTgt>
                                        </p:tgtEl>
                                      </p:cBhvr>
                                    </p:animEffect>
                                    <p:anim calcmode="lin" valueType="num">
                                      <p:cBhvr>
                                        <p:cTn id="37"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0">
                                            <p:txEl>
                                              <p:pRg st="4" end="4"/>
                                            </p:txEl>
                                          </p:spTgt>
                                        </p:tgtEl>
                                        <p:attrNameLst>
                                          <p:attrName>style.visibility</p:attrName>
                                        </p:attrNameLst>
                                      </p:cBhvr>
                                      <p:to>
                                        <p:strVal val="visible"/>
                                      </p:to>
                                    </p:set>
                                    <p:animEffect transition="in" filter="fade">
                                      <p:cBhvr>
                                        <p:cTn id="43" dur="1000"/>
                                        <p:tgtEl>
                                          <p:spTgt spid="10">
                                            <p:txEl>
                                              <p:pRg st="4" end="4"/>
                                            </p:txEl>
                                          </p:spTgt>
                                        </p:tgtEl>
                                      </p:cBhvr>
                                    </p:animEffect>
                                    <p:anim calcmode="lin" valueType="num">
                                      <p:cBhvr>
                                        <p:cTn id="44"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45"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1E1CA2">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487331" y="3708183"/>
            <a:ext cx="9013066" cy="6215860"/>
          </a:xfrm>
          <a:custGeom>
            <a:avLst/>
            <a:gdLst/>
            <a:ahLst/>
            <a:cxnLst/>
            <a:rect l="l" t="t" r="r" b="b"/>
            <a:pathLst>
              <a:path w="9013066" h="6215860">
                <a:moveTo>
                  <a:pt x="0" y="0"/>
                </a:moveTo>
                <a:lnTo>
                  <a:pt x="9013065" y="0"/>
                </a:lnTo>
                <a:lnTo>
                  <a:pt x="9013065" y="6215860"/>
                </a:lnTo>
                <a:lnTo>
                  <a:pt x="0" y="6215860"/>
                </a:lnTo>
                <a:lnTo>
                  <a:pt x="0" y="0"/>
                </a:lnTo>
                <a:close/>
              </a:path>
            </a:pathLst>
          </a:custGeom>
          <a:blipFill>
            <a:blip r:embed="rId2"/>
            <a:stretch>
              <a:fillRect t="-59437" r="-141189" b="-37283"/>
            </a:stretch>
          </a:blipFill>
        </p:spPr>
      </p:sp>
      <p:sp>
        <p:nvSpPr>
          <p:cNvPr id="3" name="Freeform 3"/>
          <p:cNvSpPr/>
          <p:nvPr/>
        </p:nvSpPr>
        <p:spPr>
          <a:xfrm>
            <a:off x="-1694537" y="7563763"/>
            <a:ext cx="2723237" cy="2723237"/>
          </a:xfrm>
          <a:custGeom>
            <a:avLst/>
            <a:gdLst/>
            <a:ahLst/>
            <a:cxnLst/>
            <a:rect l="l" t="t" r="r" b="b"/>
            <a:pathLst>
              <a:path w="2723237" h="2723237">
                <a:moveTo>
                  <a:pt x="0" y="0"/>
                </a:moveTo>
                <a:lnTo>
                  <a:pt x="2723237" y="0"/>
                </a:lnTo>
                <a:lnTo>
                  <a:pt x="2723237" y="2723237"/>
                </a:lnTo>
                <a:lnTo>
                  <a:pt x="0" y="27232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7259300" y="0"/>
            <a:ext cx="2466059" cy="2466059"/>
          </a:xfrm>
          <a:custGeom>
            <a:avLst/>
            <a:gdLst/>
            <a:ahLst/>
            <a:cxnLst/>
            <a:rect l="l" t="t" r="r" b="b"/>
            <a:pathLst>
              <a:path w="2466059" h="2466059">
                <a:moveTo>
                  <a:pt x="0" y="0"/>
                </a:moveTo>
                <a:lnTo>
                  <a:pt x="2466059" y="0"/>
                </a:lnTo>
                <a:lnTo>
                  <a:pt x="2466059" y="2466059"/>
                </a:lnTo>
                <a:lnTo>
                  <a:pt x="0" y="246605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332919" y="962529"/>
            <a:ext cx="10450651" cy="896977"/>
          </a:xfrm>
          <a:prstGeom prst="rect">
            <a:avLst/>
          </a:prstGeom>
        </p:spPr>
        <p:txBody>
          <a:bodyPr lIns="0" tIns="0" rIns="0" bIns="0" rtlCol="0" anchor="t">
            <a:spAutoFit/>
          </a:bodyPr>
          <a:lstStyle/>
          <a:p>
            <a:pPr algn="ctr">
              <a:lnSpc>
                <a:spcPts val="3479"/>
              </a:lnSpc>
            </a:pPr>
            <a:r>
              <a:rPr lang="en-US" sz="3600" b="1" dirty="0">
                <a:solidFill>
                  <a:srgbClr val="FFFFFF"/>
                </a:solidFill>
                <a:latin typeface="Now Bold"/>
                <a:ea typeface="Now Bold"/>
                <a:cs typeface="Now Bold"/>
                <a:sym typeface="Now Bold"/>
              </a:rPr>
              <a:t>3. THE PAYROLL CALENDAR</a:t>
            </a:r>
          </a:p>
          <a:p>
            <a:pPr marL="0" lvl="0" indent="0" algn="ctr">
              <a:lnSpc>
                <a:spcPts val="3479"/>
              </a:lnSpc>
              <a:spcBef>
                <a:spcPct val="0"/>
              </a:spcBef>
            </a:pPr>
            <a:endParaRPr lang="en-US" sz="2899" b="1" dirty="0">
              <a:solidFill>
                <a:srgbClr val="FFFFFF"/>
              </a:solidFill>
              <a:latin typeface="Now Bold"/>
              <a:ea typeface="Now Bold"/>
              <a:cs typeface="Now Bold"/>
              <a:sym typeface="Now Bold"/>
            </a:endParaRPr>
          </a:p>
        </p:txBody>
      </p:sp>
      <p:sp>
        <p:nvSpPr>
          <p:cNvPr id="6" name="TextBox 6"/>
          <p:cNvSpPr txBox="1"/>
          <p:nvPr/>
        </p:nvSpPr>
        <p:spPr>
          <a:xfrm>
            <a:off x="11201400" y="5261714"/>
            <a:ext cx="6757049" cy="4662329"/>
          </a:xfrm>
          <a:prstGeom prst="rect">
            <a:avLst/>
          </a:prstGeom>
        </p:spPr>
        <p:txBody>
          <a:bodyPr lIns="0" tIns="0" rIns="0" bIns="0" rtlCol="0" anchor="t">
            <a:spAutoFit/>
          </a:bodyPr>
          <a:lstStyle/>
          <a:p>
            <a:pPr marL="467910" lvl="1" indent="-233955" algn="l">
              <a:lnSpc>
                <a:spcPts val="4139"/>
              </a:lnSpc>
              <a:buFont typeface="Arial"/>
              <a:buChar char="•"/>
            </a:pPr>
            <a:r>
              <a:rPr lang="en-US" sz="3200" spc="49" dirty="0">
                <a:solidFill>
                  <a:srgbClr val="FFFFFF"/>
                </a:solidFill>
                <a:latin typeface="Touvlo"/>
                <a:ea typeface="Touvlo"/>
                <a:cs typeface="Touvlo"/>
                <a:sym typeface="Touvlo"/>
              </a:rPr>
              <a:t>Calendar Name :</a:t>
            </a:r>
            <a:r>
              <a:rPr lang="en-US" sz="3200" b="1" i="1" spc="49" dirty="0">
                <a:solidFill>
                  <a:srgbClr val="FFFFFF"/>
                </a:solidFill>
                <a:latin typeface="Touvlo Bold Italics"/>
                <a:ea typeface="Touvlo Bold Italics"/>
                <a:cs typeface="Touvlo Bold Italics"/>
                <a:sym typeface="Touvlo Bold Italics"/>
              </a:rPr>
              <a:t> </a:t>
            </a:r>
            <a:r>
              <a:rPr lang="en-US" sz="3200" b="1" spc="49" dirty="0">
                <a:solidFill>
                  <a:srgbClr val="FFFFFF"/>
                </a:solidFill>
                <a:latin typeface="Touvlo Bold"/>
                <a:ea typeface="Touvlo Bold"/>
                <a:cs typeface="Touvlo Bold"/>
                <a:sym typeface="Touvlo Bold"/>
              </a:rPr>
              <a:t>Pioneer</a:t>
            </a:r>
          </a:p>
          <a:p>
            <a:pPr algn="ctr">
              <a:lnSpc>
                <a:spcPts val="4139"/>
              </a:lnSpc>
            </a:pPr>
            <a:endParaRPr lang="en-US" sz="3200" b="1" spc="49" dirty="0">
              <a:solidFill>
                <a:srgbClr val="FFFFFF"/>
              </a:solidFill>
              <a:latin typeface="Touvlo Bold"/>
              <a:ea typeface="Touvlo Bold"/>
              <a:cs typeface="Touvlo Bold"/>
              <a:sym typeface="Touvlo Bold"/>
            </a:endParaRPr>
          </a:p>
          <a:p>
            <a:pPr marL="467910" lvl="1" indent="-233955" algn="l">
              <a:lnSpc>
                <a:spcPts val="4139"/>
              </a:lnSpc>
              <a:buFont typeface="Arial"/>
              <a:buChar char="•"/>
            </a:pPr>
            <a:r>
              <a:rPr lang="en-US" sz="3200" spc="49" dirty="0">
                <a:solidFill>
                  <a:srgbClr val="FFFFFF"/>
                </a:solidFill>
                <a:latin typeface="Touvlo"/>
                <a:ea typeface="Touvlo"/>
                <a:cs typeface="Touvlo"/>
                <a:sym typeface="Touvlo"/>
              </a:rPr>
              <a:t>Calendar Type: </a:t>
            </a:r>
            <a:r>
              <a:rPr lang="en-US" sz="3200" b="1" spc="49" dirty="0">
                <a:solidFill>
                  <a:srgbClr val="FFFFFF"/>
                </a:solidFill>
                <a:latin typeface="Touvlo Bold"/>
                <a:ea typeface="Touvlo Bold"/>
                <a:cs typeface="Touvlo Bold"/>
                <a:sym typeface="Touvlo Bold"/>
              </a:rPr>
              <a:t>Monthly</a:t>
            </a:r>
          </a:p>
          <a:p>
            <a:pPr algn="ctr">
              <a:lnSpc>
                <a:spcPts val="4139"/>
              </a:lnSpc>
            </a:pPr>
            <a:endParaRPr lang="en-US" sz="3200" b="1" spc="49" dirty="0">
              <a:solidFill>
                <a:srgbClr val="FFFFFF"/>
              </a:solidFill>
              <a:latin typeface="Touvlo Bold"/>
              <a:ea typeface="Touvlo Bold"/>
              <a:cs typeface="Touvlo Bold"/>
              <a:sym typeface="Touvlo Bold"/>
            </a:endParaRPr>
          </a:p>
          <a:p>
            <a:pPr marL="467910" lvl="1" indent="-233955" algn="l">
              <a:lnSpc>
                <a:spcPts val="4139"/>
              </a:lnSpc>
              <a:buFont typeface="Arial"/>
              <a:buChar char="•"/>
            </a:pPr>
            <a:r>
              <a:rPr lang="en-US" sz="3200" spc="49" dirty="0">
                <a:solidFill>
                  <a:srgbClr val="FFFFFF"/>
                </a:solidFill>
                <a:latin typeface="Touvlo"/>
                <a:ea typeface="Touvlo"/>
                <a:cs typeface="Touvlo"/>
                <a:sym typeface="Touvlo"/>
              </a:rPr>
              <a:t>Number Of Years: </a:t>
            </a:r>
            <a:r>
              <a:rPr lang="en-US" sz="3200" b="1" spc="49" dirty="0">
                <a:solidFill>
                  <a:srgbClr val="FFFFFF"/>
                </a:solidFill>
                <a:latin typeface="Touvlo Bold"/>
                <a:ea typeface="Touvlo Bold"/>
                <a:cs typeface="Touvlo Bold"/>
                <a:sym typeface="Touvlo Bold"/>
              </a:rPr>
              <a:t>10</a:t>
            </a:r>
          </a:p>
          <a:p>
            <a:pPr algn="ctr">
              <a:lnSpc>
                <a:spcPts val="4139"/>
              </a:lnSpc>
            </a:pPr>
            <a:endParaRPr lang="en-US" sz="3200" b="1" spc="49" dirty="0">
              <a:solidFill>
                <a:srgbClr val="FFFFFF"/>
              </a:solidFill>
              <a:latin typeface="Touvlo Bold"/>
              <a:ea typeface="Touvlo Bold"/>
              <a:cs typeface="Touvlo Bold"/>
              <a:sym typeface="Touvlo Bold"/>
            </a:endParaRPr>
          </a:p>
          <a:p>
            <a:pPr algn="ctr">
              <a:lnSpc>
                <a:spcPts val="4139"/>
              </a:lnSpc>
            </a:pPr>
            <a:endParaRPr lang="en-US" sz="2167" b="1" spc="49" dirty="0">
              <a:solidFill>
                <a:srgbClr val="FFFFFF"/>
              </a:solidFill>
              <a:latin typeface="Touvlo Bold"/>
              <a:ea typeface="Touvlo Bold"/>
              <a:cs typeface="Touvlo Bold"/>
              <a:sym typeface="Touvlo Bold"/>
            </a:endParaRPr>
          </a:p>
          <a:p>
            <a:pPr algn="ctr">
              <a:lnSpc>
                <a:spcPts val="4139"/>
              </a:lnSpc>
            </a:pPr>
            <a:endParaRPr lang="en-US" sz="2167" b="1" spc="49" dirty="0">
              <a:solidFill>
                <a:srgbClr val="FFFFFF"/>
              </a:solidFill>
              <a:latin typeface="Touvlo Bold"/>
              <a:ea typeface="Touvlo Bold"/>
              <a:cs typeface="Touvlo Bold"/>
              <a:sym typeface="Touvlo Bold"/>
            </a:endParaRPr>
          </a:p>
          <a:p>
            <a:pPr algn="ctr">
              <a:lnSpc>
                <a:spcPts val="4139"/>
              </a:lnSpc>
            </a:pPr>
            <a:endParaRPr lang="en-US" sz="2167" b="1" spc="49" dirty="0">
              <a:solidFill>
                <a:srgbClr val="FFFFFF"/>
              </a:solidFill>
              <a:latin typeface="Touvlo Bold"/>
              <a:ea typeface="Touvlo Bold"/>
              <a:cs typeface="Touvlo Bold"/>
              <a:sym typeface="Touvlo Bold"/>
            </a:endParaRPr>
          </a:p>
        </p:txBody>
      </p:sp>
      <p:sp>
        <p:nvSpPr>
          <p:cNvPr id="7" name="TextBox 7"/>
          <p:cNvSpPr txBox="1"/>
          <p:nvPr/>
        </p:nvSpPr>
        <p:spPr>
          <a:xfrm>
            <a:off x="1487331" y="1998077"/>
            <a:ext cx="15771969" cy="1842684"/>
          </a:xfrm>
          <a:prstGeom prst="rect">
            <a:avLst/>
          </a:prstGeom>
        </p:spPr>
        <p:txBody>
          <a:bodyPr lIns="0" tIns="0" rIns="0" bIns="0" rtlCol="0" anchor="t">
            <a:spAutoFit/>
          </a:bodyPr>
          <a:lstStyle/>
          <a:p>
            <a:pPr algn="ctr">
              <a:lnSpc>
                <a:spcPts val="2869"/>
              </a:lnSpc>
            </a:pPr>
            <a:r>
              <a:rPr lang="en-US" sz="2800" dirty="0">
                <a:solidFill>
                  <a:srgbClr val="FFFFFF"/>
                </a:solidFill>
                <a:latin typeface="DM Sans"/>
                <a:ea typeface="DM Sans"/>
                <a:cs typeface="DM Sans"/>
                <a:sym typeface="DM Sans"/>
              </a:rPr>
              <a:t>The payroll calendar is a crucial component of payroll management, as it defines the pay periods and establishes </a:t>
            </a:r>
          </a:p>
          <a:p>
            <a:pPr algn="ctr">
              <a:lnSpc>
                <a:spcPts val="2869"/>
              </a:lnSpc>
            </a:pPr>
            <a:r>
              <a:rPr lang="en-US" sz="2800" dirty="0">
                <a:solidFill>
                  <a:srgbClr val="FFFFFF"/>
                </a:solidFill>
                <a:latin typeface="DM Sans"/>
                <a:ea typeface="DM Sans"/>
                <a:cs typeface="DM Sans"/>
                <a:sym typeface="DM Sans"/>
              </a:rPr>
              <a:t>a structured schedule for salary disbursement. By configuring the payroll calendar, organizations can determine whether employees are paid weekly, bi-weekly, or monthly.</a:t>
            </a:r>
          </a:p>
          <a:p>
            <a:pPr algn="ctr">
              <a:lnSpc>
                <a:spcPts val="2869"/>
              </a:lnSpc>
              <a:spcBef>
                <a:spcPct val="0"/>
              </a:spcBef>
            </a:pPr>
            <a:endParaRPr lang="en-US" sz="2079" dirty="0">
              <a:solidFill>
                <a:srgbClr val="FFFFFF"/>
              </a:solidFill>
              <a:latin typeface="DM Sans"/>
              <a:ea typeface="DM Sans"/>
              <a:cs typeface="DM Sans"/>
              <a:sym typeface="DM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down)">
                                      <p:cBhvr>
                                        <p:cTn id="12" dur="500"/>
                                        <p:tgtEl>
                                          <p:spTgt spid="7">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wipe(down)">
                                      <p:cBhvr>
                                        <p:cTn id="15" dur="500"/>
                                        <p:tgtEl>
                                          <p:spTgt spid="7">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down)">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fade">
                                      <p:cBhvr>
                                        <p:cTn id="25" dur="1000"/>
                                        <p:tgtEl>
                                          <p:spTgt spid="6">
                                            <p:txEl>
                                              <p:pRg st="0" end="0"/>
                                            </p:txEl>
                                          </p:spTgt>
                                        </p:tgtEl>
                                      </p:cBhvr>
                                    </p:animEffect>
                                    <p:anim calcmode="lin" valueType="num">
                                      <p:cBhvr>
                                        <p:cTn id="26"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6">
                                            <p:txEl>
                                              <p:pRg st="2" end="2"/>
                                            </p:txEl>
                                          </p:spTgt>
                                        </p:tgtEl>
                                        <p:attrNameLst>
                                          <p:attrName>style.visibility</p:attrName>
                                        </p:attrNameLst>
                                      </p:cBhvr>
                                      <p:to>
                                        <p:strVal val="visible"/>
                                      </p:to>
                                    </p:set>
                                    <p:animEffect transition="in" filter="fade">
                                      <p:cBhvr>
                                        <p:cTn id="32" dur="1000"/>
                                        <p:tgtEl>
                                          <p:spTgt spid="6">
                                            <p:txEl>
                                              <p:pRg st="2" end="2"/>
                                            </p:txEl>
                                          </p:spTgt>
                                        </p:tgtEl>
                                      </p:cBhvr>
                                    </p:animEffect>
                                    <p:anim calcmode="lin" valueType="num">
                                      <p:cBhvr>
                                        <p:cTn id="33"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34"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6">
                                            <p:txEl>
                                              <p:pRg st="4" end="4"/>
                                            </p:txEl>
                                          </p:spTgt>
                                        </p:tgtEl>
                                        <p:attrNameLst>
                                          <p:attrName>style.visibility</p:attrName>
                                        </p:attrNameLst>
                                      </p:cBhvr>
                                      <p:to>
                                        <p:strVal val="visible"/>
                                      </p:to>
                                    </p:set>
                                    <p:animEffect transition="in" filter="fade">
                                      <p:cBhvr>
                                        <p:cTn id="39" dur="1000"/>
                                        <p:tgtEl>
                                          <p:spTgt spid="6">
                                            <p:txEl>
                                              <p:pRg st="4" end="4"/>
                                            </p:txEl>
                                          </p:spTgt>
                                        </p:tgtEl>
                                      </p:cBhvr>
                                    </p:animEffect>
                                    <p:anim calcmode="lin" valueType="num">
                                      <p:cBhvr>
                                        <p:cTn id="40"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41"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4015478" y="7308744"/>
            <a:ext cx="5956513" cy="5956513"/>
          </a:xfrm>
          <a:custGeom>
            <a:avLst/>
            <a:gdLst/>
            <a:ahLst/>
            <a:cxnLst/>
            <a:rect l="l" t="t" r="r" b="b"/>
            <a:pathLst>
              <a:path w="5956513" h="5956513">
                <a:moveTo>
                  <a:pt x="0" y="0"/>
                </a:moveTo>
                <a:lnTo>
                  <a:pt x="5956513" y="0"/>
                </a:lnTo>
                <a:lnTo>
                  <a:pt x="5956513" y="5956512"/>
                </a:lnTo>
                <a:lnTo>
                  <a:pt x="0" y="595651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257315" y="-2978256"/>
            <a:ext cx="5956513" cy="5956513"/>
          </a:xfrm>
          <a:custGeom>
            <a:avLst/>
            <a:gdLst/>
            <a:ahLst/>
            <a:cxnLst/>
            <a:rect l="l" t="t" r="r" b="b"/>
            <a:pathLst>
              <a:path w="5956513" h="5956513">
                <a:moveTo>
                  <a:pt x="0" y="0"/>
                </a:moveTo>
                <a:lnTo>
                  <a:pt x="5956513" y="0"/>
                </a:lnTo>
                <a:lnTo>
                  <a:pt x="5956513" y="5956512"/>
                </a:lnTo>
                <a:lnTo>
                  <a:pt x="0" y="595651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586744" y="3738110"/>
            <a:ext cx="8148797" cy="6036608"/>
          </a:xfrm>
          <a:custGeom>
            <a:avLst/>
            <a:gdLst/>
            <a:ahLst/>
            <a:cxnLst/>
            <a:rect l="l" t="t" r="r" b="b"/>
            <a:pathLst>
              <a:path w="8148797" h="6036608">
                <a:moveTo>
                  <a:pt x="0" y="0"/>
                </a:moveTo>
                <a:lnTo>
                  <a:pt x="8148797" y="0"/>
                </a:lnTo>
                <a:lnTo>
                  <a:pt x="8148797" y="6036609"/>
                </a:lnTo>
                <a:lnTo>
                  <a:pt x="0" y="6036609"/>
                </a:lnTo>
                <a:lnTo>
                  <a:pt x="0" y="0"/>
                </a:lnTo>
                <a:close/>
              </a:path>
            </a:pathLst>
          </a:custGeom>
          <a:blipFill>
            <a:blip r:embed="rId6"/>
            <a:stretch>
              <a:fillRect l="-73621" t="-10289" b="-16910"/>
            </a:stretch>
          </a:blipFill>
        </p:spPr>
      </p:sp>
      <p:sp>
        <p:nvSpPr>
          <p:cNvPr id="5" name="TextBox 5"/>
          <p:cNvSpPr txBox="1"/>
          <p:nvPr/>
        </p:nvSpPr>
        <p:spPr>
          <a:xfrm>
            <a:off x="-304800" y="762498"/>
            <a:ext cx="10646758" cy="383054"/>
          </a:xfrm>
          <a:prstGeom prst="rect">
            <a:avLst/>
          </a:prstGeom>
        </p:spPr>
        <p:txBody>
          <a:bodyPr wrap="square" lIns="0" tIns="0" rIns="0" bIns="0" rtlCol="0" anchor="t">
            <a:spAutoFit/>
          </a:bodyPr>
          <a:lstStyle/>
          <a:p>
            <a:pPr marL="453388" lvl="1" indent="-226694" algn="ctr">
              <a:lnSpc>
                <a:spcPts val="2939"/>
              </a:lnSpc>
              <a:buFont typeface="Arial"/>
              <a:buChar char="•"/>
            </a:pPr>
            <a:r>
              <a:rPr lang="en-US" sz="3200" b="1" dirty="0">
                <a:solidFill>
                  <a:srgbClr val="FFFFFF"/>
                </a:solidFill>
                <a:latin typeface="Touvlo Bold"/>
                <a:ea typeface="Touvlo Bold"/>
                <a:cs typeface="Touvlo Bold"/>
                <a:sym typeface="Touvlo Bold"/>
              </a:rPr>
              <a:t>Link Payment Method With Payroll Calendar</a:t>
            </a:r>
          </a:p>
        </p:txBody>
      </p:sp>
      <p:sp>
        <p:nvSpPr>
          <p:cNvPr id="6" name="Freeform 6"/>
          <p:cNvSpPr/>
          <p:nvPr/>
        </p:nvSpPr>
        <p:spPr>
          <a:xfrm>
            <a:off x="9367706" y="3738110"/>
            <a:ext cx="7891594" cy="6036608"/>
          </a:xfrm>
          <a:custGeom>
            <a:avLst/>
            <a:gdLst/>
            <a:ahLst/>
            <a:cxnLst/>
            <a:rect l="l" t="t" r="r" b="b"/>
            <a:pathLst>
              <a:path w="7891594" h="6036608">
                <a:moveTo>
                  <a:pt x="0" y="0"/>
                </a:moveTo>
                <a:lnTo>
                  <a:pt x="7891594" y="0"/>
                </a:lnTo>
                <a:lnTo>
                  <a:pt x="7891594" y="6036609"/>
                </a:lnTo>
                <a:lnTo>
                  <a:pt x="0" y="6036609"/>
                </a:lnTo>
                <a:lnTo>
                  <a:pt x="0" y="0"/>
                </a:lnTo>
                <a:close/>
              </a:path>
            </a:pathLst>
          </a:custGeom>
          <a:blipFill>
            <a:blip r:embed="rId7"/>
            <a:stretch>
              <a:fillRect r="-131093" b="-69934"/>
            </a:stretch>
          </a:blipFill>
        </p:spPr>
      </p:sp>
      <p:sp>
        <p:nvSpPr>
          <p:cNvPr id="7" name="TextBox 7"/>
          <p:cNvSpPr txBox="1"/>
          <p:nvPr/>
        </p:nvSpPr>
        <p:spPr>
          <a:xfrm>
            <a:off x="9391966" y="1459575"/>
            <a:ext cx="7891594" cy="2311082"/>
          </a:xfrm>
          <a:prstGeom prst="rect">
            <a:avLst/>
          </a:prstGeom>
        </p:spPr>
        <p:txBody>
          <a:bodyPr wrap="square" lIns="0" tIns="0" rIns="0" bIns="0" rtlCol="0" anchor="t">
            <a:spAutoFit/>
          </a:bodyPr>
          <a:lstStyle/>
          <a:p>
            <a:pPr algn="justLow">
              <a:lnSpc>
                <a:spcPts val="3118"/>
              </a:lnSpc>
            </a:pPr>
            <a:r>
              <a:rPr lang="en-US" sz="2000" spc="47" dirty="0">
                <a:solidFill>
                  <a:srgbClr val="FFFFFF"/>
                </a:solidFill>
                <a:latin typeface="DM Sans"/>
                <a:ea typeface="DM Sans"/>
                <a:cs typeface="DM Sans"/>
                <a:sym typeface="DM Sans"/>
              </a:rPr>
              <a:t>Linking the payroll calendar ensures that each employee’s pay period and pay date are correctly assigned. </a:t>
            </a:r>
          </a:p>
          <a:p>
            <a:pPr algn="justLow">
              <a:lnSpc>
                <a:spcPts val="3000"/>
              </a:lnSpc>
            </a:pPr>
            <a:r>
              <a:rPr lang="en-US" sz="2000" spc="46" dirty="0">
                <a:solidFill>
                  <a:srgbClr val="FFFFFF"/>
                </a:solidFill>
                <a:latin typeface="DM Sans"/>
                <a:ea typeface="DM Sans"/>
                <a:cs typeface="DM Sans"/>
                <a:sym typeface="DM Sans"/>
              </a:rPr>
              <a:t>This connection allows the system to determine when salaries should be processed and disbursed based on the defined payroll schedule. </a:t>
            </a:r>
          </a:p>
          <a:p>
            <a:pPr algn="ctr">
              <a:lnSpc>
                <a:spcPts val="3000"/>
              </a:lnSpc>
            </a:pPr>
            <a:endParaRPr lang="en-US" sz="2000" spc="46" dirty="0">
              <a:solidFill>
                <a:srgbClr val="FFFFFF"/>
              </a:solidFill>
              <a:latin typeface="DM Sans"/>
              <a:ea typeface="DM Sans"/>
              <a:cs typeface="DM Sans"/>
              <a:sym typeface="DM Sans"/>
            </a:endParaRPr>
          </a:p>
        </p:txBody>
      </p:sp>
      <p:sp>
        <p:nvSpPr>
          <p:cNvPr id="8" name="TextBox 8"/>
          <p:cNvSpPr txBox="1"/>
          <p:nvPr/>
        </p:nvSpPr>
        <p:spPr>
          <a:xfrm>
            <a:off x="586744" y="1459575"/>
            <a:ext cx="8148797" cy="1964512"/>
          </a:xfrm>
          <a:prstGeom prst="rect">
            <a:avLst/>
          </a:prstGeom>
        </p:spPr>
        <p:txBody>
          <a:bodyPr wrap="square" lIns="0" tIns="0" rIns="0" bIns="0" rtlCol="0" anchor="t">
            <a:spAutoFit/>
          </a:bodyPr>
          <a:lstStyle/>
          <a:p>
            <a:pPr algn="justLow">
              <a:lnSpc>
                <a:spcPts val="3119"/>
              </a:lnSpc>
            </a:pPr>
            <a:r>
              <a:rPr lang="en-US" sz="2000" dirty="0">
                <a:solidFill>
                  <a:srgbClr val="FFFBFB"/>
                </a:solidFill>
                <a:latin typeface="DM Sans"/>
                <a:ea typeface="DM Sans"/>
                <a:cs typeface="DM Sans"/>
                <a:sym typeface="DM Sans"/>
              </a:rPr>
              <a:t>By linking payment methods, the system ensures that employee salaries are deposited accurately and on time whether through direct deposit, bank transfers, or checks according to the payroll calendar.  </a:t>
            </a:r>
          </a:p>
          <a:p>
            <a:pPr algn="ctr">
              <a:lnSpc>
                <a:spcPts val="3119"/>
              </a:lnSpc>
            </a:pPr>
            <a:endParaRPr lang="en-US" sz="2079" dirty="0">
              <a:solidFill>
                <a:srgbClr val="FFFBFB"/>
              </a:solidFill>
              <a:latin typeface="DM Sans"/>
              <a:ea typeface="DM Sans"/>
              <a:cs typeface="DM Sans"/>
              <a:sym typeface="DM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down)">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wipe(down)">
                                      <p:cBhvr>
                                        <p:cTn id="22" dur="500"/>
                                        <p:tgtEl>
                                          <p:spTgt spid="7">
                                            <p:txEl>
                                              <p:pRg st="0" end="0"/>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7">
                                            <p:txEl>
                                              <p:pRg st="1" end="1"/>
                                            </p:txEl>
                                          </p:spTgt>
                                        </p:tgtEl>
                                        <p:attrNameLst>
                                          <p:attrName>style.visibility</p:attrName>
                                        </p:attrNameLst>
                                      </p:cBhvr>
                                      <p:to>
                                        <p:strVal val="visible"/>
                                      </p:to>
                                    </p:set>
                                    <p:animEffect transition="in" filter="wipe(down)">
                                      <p:cBhvr>
                                        <p:cTn id="25" dur="500"/>
                                        <p:tgtEl>
                                          <p:spTgt spid="7">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down)">
                                      <p:cBhvr>
                                        <p:cTn id="3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0" y="-1751167"/>
            <a:ext cx="2534136" cy="2534136"/>
          </a:xfrm>
          <a:custGeom>
            <a:avLst/>
            <a:gdLst/>
            <a:ahLst/>
            <a:cxnLst/>
            <a:rect l="l" t="t" r="r" b="b"/>
            <a:pathLst>
              <a:path w="2534136" h="2534136">
                <a:moveTo>
                  <a:pt x="0" y="0"/>
                </a:moveTo>
                <a:lnTo>
                  <a:pt x="2534136" y="0"/>
                </a:lnTo>
                <a:lnTo>
                  <a:pt x="2534136" y="2534135"/>
                </a:lnTo>
                <a:lnTo>
                  <a:pt x="0" y="25341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069399" y="1282197"/>
            <a:ext cx="10450651" cy="897040"/>
          </a:xfrm>
          <a:prstGeom prst="rect">
            <a:avLst/>
          </a:prstGeom>
        </p:spPr>
        <p:txBody>
          <a:bodyPr lIns="0" tIns="0" rIns="0" bIns="0" rtlCol="0" anchor="t">
            <a:spAutoFit/>
          </a:bodyPr>
          <a:lstStyle/>
          <a:p>
            <a:pPr algn="ctr">
              <a:lnSpc>
                <a:spcPts val="3480"/>
              </a:lnSpc>
            </a:pPr>
            <a:r>
              <a:rPr lang="en-US" sz="3600" b="1" dirty="0">
                <a:solidFill>
                  <a:srgbClr val="FFFFFF"/>
                </a:solidFill>
                <a:latin typeface="Now Bold"/>
                <a:ea typeface="Now Bold"/>
                <a:cs typeface="Now Bold"/>
                <a:sym typeface="Now Bold"/>
              </a:rPr>
              <a:t>4. UPDATE EMPLOYEE RECORDS</a:t>
            </a:r>
          </a:p>
          <a:p>
            <a:pPr marL="0" lvl="0" indent="0" algn="ctr">
              <a:lnSpc>
                <a:spcPts val="3480"/>
              </a:lnSpc>
              <a:spcBef>
                <a:spcPct val="0"/>
              </a:spcBef>
            </a:pPr>
            <a:endParaRPr lang="en-US" sz="2900" b="1" dirty="0">
              <a:solidFill>
                <a:srgbClr val="FFFFFF"/>
              </a:solidFill>
              <a:latin typeface="Now Bold"/>
              <a:ea typeface="Now Bold"/>
              <a:cs typeface="Now Bold"/>
              <a:sym typeface="Now Bold"/>
            </a:endParaRPr>
          </a:p>
        </p:txBody>
      </p:sp>
      <p:sp>
        <p:nvSpPr>
          <p:cNvPr id="4" name="TextBox 4"/>
          <p:cNvSpPr txBox="1"/>
          <p:nvPr/>
        </p:nvSpPr>
        <p:spPr>
          <a:xfrm>
            <a:off x="539336" y="2335435"/>
            <a:ext cx="8841916" cy="1326517"/>
          </a:xfrm>
          <a:prstGeom prst="rect">
            <a:avLst/>
          </a:prstGeom>
        </p:spPr>
        <p:txBody>
          <a:bodyPr lIns="0" tIns="0" rIns="0" bIns="0" rtlCol="0" anchor="t">
            <a:spAutoFit/>
          </a:bodyPr>
          <a:lstStyle/>
          <a:p>
            <a:pPr algn="l">
              <a:lnSpc>
                <a:spcPts val="2598"/>
              </a:lnSpc>
            </a:pPr>
            <a:endParaRPr dirty="0"/>
          </a:p>
          <a:p>
            <a:pPr marL="448882" lvl="1" indent="-224441" algn="l">
              <a:lnSpc>
                <a:spcPts val="2598"/>
              </a:lnSpc>
              <a:buFont typeface="Arial"/>
              <a:buChar char="•"/>
            </a:pPr>
            <a:r>
              <a:rPr lang="en-US" sz="2800" b="1" spc="47" dirty="0">
                <a:solidFill>
                  <a:srgbClr val="FFFFFF"/>
                </a:solidFill>
                <a:latin typeface="DM Sans Bold"/>
                <a:ea typeface="DM Sans Bold"/>
                <a:cs typeface="DM Sans Bold"/>
                <a:sym typeface="DM Sans Bold"/>
              </a:rPr>
              <a:t>Update Employee Record with Payment Method.</a:t>
            </a:r>
          </a:p>
          <a:p>
            <a:pPr algn="l">
              <a:lnSpc>
                <a:spcPts val="2598"/>
              </a:lnSpc>
            </a:pPr>
            <a:endParaRPr lang="en-US" sz="2079" b="1" spc="47" dirty="0">
              <a:solidFill>
                <a:srgbClr val="FFFFFF"/>
              </a:solidFill>
              <a:latin typeface="DM Sans Bold"/>
              <a:ea typeface="DM Sans Bold"/>
              <a:cs typeface="DM Sans Bold"/>
              <a:sym typeface="DM Sans Bold"/>
            </a:endParaRPr>
          </a:p>
        </p:txBody>
      </p:sp>
      <p:sp>
        <p:nvSpPr>
          <p:cNvPr id="5" name="Freeform 5"/>
          <p:cNvSpPr/>
          <p:nvPr/>
        </p:nvSpPr>
        <p:spPr>
          <a:xfrm>
            <a:off x="9381251" y="3667704"/>
            <a:ext cx="8491064" cy="5657820"/>
          </a:xfrm>
          <a:custGeom>
            <a:avLst/>
            <a:gdLst/>
            <a:ahLst/>
            <a:cxnLst/>
            <a:rect l="l" t="t" r="r" b="b"/>
            <a:pathLst>
              <a:path w="8491064" h="5657820">
                <a:moveTo>
                  <a:pt x="0" y="0"/>
                </a:moveTo>
                <a:lnTo>
                  <a:pt x="8491064" y="0"/>
                </a:lnTo>
                <a:lnTo>
                  <a:pt x="8491064" y="5657820"/>
                </a:lnTo>
                <a:lnTo>
                  <a:pt x="0" y="5657820"/>
                </a:lnTo>
                <a:lnTo>
                  <a:pt x="0" y="0"/>
                </a:lnTo>
                <a:close/>
              </a:path>
            </a:pathLst>
          </a:custGeom>
          <a:blipFill>
            <a:blip r:embed="rId4"/>
            <a:stretch>
              <a:fillRect t="-18207" r="-116359" b="-64438"/>
            </a:stretch>
          </a:blipFill>
        </p:spPr>
      </p:sp>
      <p:sp>
        <p:nvSpPr>
          <p:cNvPr id="6" name="TextBox 6"/>
          <p:cNvSpPr txBox="1"/>
          <p:nvPr/>
        </p:nvSpPr>
        <p:spPr>
          <a:xfrm>
            <a:off x="9235788" y="2447947"/>
            <a:ext cx="8636527" cy="753411"/>
          </a:xfrm>
          <a:prstGeom prst="rect">
            <a:avLst/>
          </a:prstGeom>
        </p:spPr>
        <p:txBody>
          <a:bodyPr lIns="0" tIns="0" rIns="0" bIns="0" rtlCol="0" anchor="t">
            <a:spAutoFit/>
          </a:bodyPr>
          <a:lstStyle/>
          <a:p>
            <a:pPr marL="450744" lvl="1" indent="-225372" algn="l">
              <a:lnSpc>
                <a:spcPts val="2881"/>
              </a:lnSpc>
              <a:buFont typeface="Arial"/>
              <a:buChar char="•"/>
            </a:pPr>
            <a:r>
              <a:rPr lang="en-US" sz="2800" b="1" dirty="0">
                <a:solidFill>
                  <a:srgbClr val="FFFFFF"/>
                </a:solidFill>
                <a:latin typeface="DM Sans Bold"/>
                <a:ea typeface="DM Sans Bold"/>
                <a:cs typeface="DM Sans Bold"/>
                <a:sym typeface="DM Sans Bold"/>
              </a:rPr>
              <a:t>Adding payroll items (earnings, deductions, and allowances) to each employee’s profile.</a:t>
            </a:r>
          </a:p>
        </p:txBody>
      </p:sp>
      <p:sp>
        <p:nvSpPr>
          <p:cNvPr id="7" name="Freeform 7"/>
          <p:cNvSpPr/>
          <p:nvPr/>
        </p:nvSpPr>
        <p:spPr>
          <a:xfrm>
            <a:off x="561856" y="3667704"/>
            <a:ext cx="8582144" cy="5590596"/>
          </a:xfrm>
          <a:custGeom>
            <a:avLst/>
            <a:gdLst/>
            <a:ahLst/>
            <a:cxnLst/>
            <a:rect l="l" t="t" r="r" b="b"/>
            <a:pathLst>
              <a:path w="8582144" h="5590596">
                <a:moveTo>
                  <a:pt x="0" y="0"/>
                </a:moveTo>
                <a:lnTo>
                  <a:pt x="8582144" y="0"/>
                </a:lnTo>
                <a:lnTo>
                  <a:pt x="8582144" y="5590596"/>
                </a:lnTo>
                <a:lnTo>
                  <a:pt x="0" y="5590596"/>
                </a:lnTo>
                <a:lnTo>
                  <a:pt x="0" y="0"/>
                </a:lnTo>
                <a:close/>
              </a:path>
            </a:pathLst>
          </a:custGeom>
          <a:blipFill>
            <a:blip r:embed="rId5"/>
            <a:stretch>
              <a:fillRect l="-3581" t="-3831" r="-42256" b="-22098"/>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6">
                                            <p:txEl>
                                              <p:pRg st="0" end="0"/>
                                            </p:txEl>
                                          </p:spTgt>
                                        </p:tgtEl>
                                        <p:attrNameLst>
                                          <p:attrName>style.visibility</p:attrName>
                                        </p:attrNameLst>
                                      </p:cBhvr>
                                      <p:to>
                                        <p:strVal val="visible"/>
                                      </p:to>
                                    </p:set>
                                    <p:animEffect transition="in" filter="fade">
                                      <p:cBhvr>
                                        <p:cTn id="24" dur="1000"/>
                                        <p:tgtEl>
                                          <p:spTgt spid="6">
                                            <p:txEl>
                                              <p:pRg st="0" end="0"/>
                                            </p:txEl>
                                          </p:spTgt>
                                        </p:tgtEl>
                                      </p:cBhvr>
                                    </p:animEffect>
                                    <p:anim calcmode="lin" valueType="num">
                                      <p:cBhvr>
                                        <p:cTn id="2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down)">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5DA0"/>
        </a:solidFill>
        <a:effectLst/>
      </p:bgPr>
    </p:bg>
    <p:spTree>
      <p:nvGrpSpPr>
        <p:cNvPr id="1" name=""/>
        <p:cNvGrpSpPr/>
        <p:nvPr/>
      </p:nvGrpSpPr>
      <p:grpSpPr>
        <a:xfrm>
          <a:off x="0" y="0"/>
          <a:ext cx="0" cy="0"/>
          <a:chOff x="0" y="0"/>
          <a:chExt cx="0" cy="0"/>
        </a:xfrm>
      </p:grpSpPr>
      <p:sp>
        <p:nvSpPr>
          <p:cNvPr id="2" name="Freeform 2"/>
          <p:cNvSpPr/>
          <p:nvPr/>
        </p:nvSpPr>
        <p:spPr>
          <a:xfrm>
            <a:off x="11329067" y="-83825"/>
            <a:ext cx="14662465" cy="10454650"/>
          </a:xfrm>
          <a:custGeom>
            <a:avLst/>
            <a:gdLst/>
            <a:ahLst/>
            <a:cxnLst/>
            <a:rect l="l" t="t" r="r" b="b"/>
            <a:pathLst>
              <a:path w="14662465" h="10454650">
                <a:moveTo>
                  <a:pt x="0" y="0"/>
                </a:moveTo>
                <a:lnTo>
                  <a:pt x="14662465" y="0"/>
                </a:lnTo>
                <a:lnTo>
                  <a:pt x="14662465" y="10454650"/>
                </a:lnTo>
                <a:lnTo>
                  <a:pt x="0" y="10454650"/>
                </a:lnTo>
                <a:lnTo>
                  <a:pt x="0" y="0"/>
                </a:lnTo>
                <a:close/>
              </a:path>
            </a:pathLst>
          </a:custGeom>
          <a:blipFill>
            <a:blip r:embed="rId2"/>
            <a:stretch>
              <a:fillRect l="-27154" t="-15247" r="-364" b="-3906"/>
            </a:stretch>
          </a:blipFill>
        </p:spPr>
      </p:sp>
      <p:grpSp>
        <p:nvGrpSpPr>
          <p:cNvPr id="3" name="Group 3"/>
          <p:cNvGrpSpPr/>
          <p:nvPr/>
        </p:nvGrpSpPr>
        <p:grpSpPr>
          <a:xfrm>
            <a:off x="-1543050" y="0"/>
            <a:ext cx="12872117" cy="10287000"/>
            <a:chOff x="0" y="0"/>
            <a:chExt cx="3390187" cy="2709333"/>
          </a:xfrm>
        </p:grpSpPr>
        <p:sp>
          <p:nvSpPr>
            <p:cNvPr id="4" name="Freeform 4"/>
            <p:cNvSpPr/>
            <p:nvPr/>
          </p:nvSpPr>
          <p:spPr>
            <a:xfrm>
              <a:off x="0" y="0"/>
              <a:ext cx="3390187" cy="2709333"/>
            </a:xfrm>
            <a:custGeom>
              <a:avLst/>
              <a:gdLst/>
              <a:ahLst/>
              <a:cxnLst/>
              <a:rect l="l" t="t" r="r" b="b"/>
              <a:pathLst>
                <a:path w="3390187" h="2709333">
                  <a:moveTo>
                    <a:pt x="0" y="0"/>
                  </a:moveTo>
                  <a:lnTo>
                    <a:pt x="3390187" y="0"/>
                  </a:lnTo>
                  <a:lnTo>
                    <a:pt x="3390187" y="2709333"/>
                  </a:lnTo>
                  <a:lnTo>
                    <a:pt x="0" y="2709333"/>
                  </a:lnTo>
                  <a:close/>
                </a:path>
              </a:pathLst>
            </a:custGeom>
            <a:solidFill>
              <a:srgbClr val="051D40">
                <a:alpha val="74902"/>
              </a:srgbClr>
            </a:solidFill>
          </p:spPr>
        </p:sp>
        <p:sp>
          <p:nvSpPr>
            <p:cNvPr id="5" name="TextBox 5"/>
            <p:cNvSpPr txBox="1"/>
            <p:nvPr/>
          </p:nvSpPr>
          <p:spPr>
            <a:xfrm>
              <a:off x="0" y="-38100"/>
              <a:ext cx="3390187" cy="2747433"/>
            </a:xfrm>
            <a:prstGeom prst="rect">
              <a:avLst/>
            </a:prstGeom>
          </p:spPr>
          <p:txBody>
            <a:bodyPr lIns="50800" tIns="50800" rIns="50800" bIns="50800" rtlCol="0" anchor="ctr"/>
            <a:lstStyle/>
            <a:p>
              <a:pPr algn="ctr">
                <a:lnSpc>
                  <a:spcPts val="2760"/>
                </a:lnSpc>
              </a:pPr>
              <a:endParaRPr/>
            </a:p>
          </p:txBody>
        </p:sp>
      </p:grpSp>
      <p:sp>
        <p:nvSpPr>
          <p:cNvPr id="6" name="Freeform 6"/>
          <p:cNvSpPr/>
          <p:nvPr/>
        </p:nvSpPr>
        <p:spPr>
          <a:xfrm>
            <a:off x="0" y="61722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3168303" y="-3280878"/>
            <a:ext cx="5956513" cy="5956513"/>
          </a:xfrm>
          <a:custGeom>
            <a:avLst/>
            <a:gdLst/>
            <a:ahLst/>
            <a:cxnLst/>
            <a:rect l="l" t="t" r="r" b="b"/>
            <a:pathLst>
              <a:path w="5956513" h="5956513">
                <a:moveTo>
                  <a:pt x="0" y="0"/>
                </a:moveTo>
                <a:lnTo>
                  <a:pt x="5956512" y="0"/>
                </a:lnTo>
                <a:lnTo>
                  <a:pt x="5956512" y="5956513"/>
                </a:lnTo>
                <a:lnTo>
                  <a:pt x="0" y="595651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56021" y="1907137"/>
            <a:ext cx="11173046" cy="1564531"/>
          </a:xfrm>
          <a:prstGeom prst="rect">
            <a:avLst/>
          </a:prstGeom>
        </p:spPr>
        <p:txBody>
          <a:bodyPr wrap="square" lIns="0" tIns="0" rIns="0" bIns="0" rtlCol="0" anchor="t">
            <a:spAutoFit/>
          </a:bodyPr>
          <a:lstStyle/>
          <a:p>
            <a:pPr algn="ctr">
              <a:lnSpc>
                <a:spcPts val="4001"/>
              </a:lnSpc>
            </a:pPr>
            <a:r>
              <a:rPr lang="en-US" sz="3600" b="1" dirty="0">
                <a:solidFill>
                  <a:srgbClr val="FFFFFF"/>
                </a:solidFill>
                <a:latin typeface="Now Bold"/>
                <a:ea typeface="Now Bold"/>
                <a:cs typeface="Now Bold"/>
                <a:sym typeface="Now Bold"/>
              </a:rPr>
              <a:t>PHASE TWO </a:t>
            </a:r>
          </a:p>
          <a:p>
            <a:pPr algn="ctr">
              <a:lnSpc>
                <a:spcPts val="4001"/>
              </a:lnSpc>
            </a:pPr>
            <a:endParaRPr lang="en-US" sz="3600" b="1" dirty="0">
              <a:solidFill>
                <a:srgbClr val="FFFFFF"/>
              </a:solidFill>
              <a:latin typeface="Now Bold"/>
              <a:ea typeface="Now Bold"/>
              <a:cs typeface="Now Bold"/>
              <a:sym typeface="Now Bold"/>
            </a:endParaRPr>
          </a:p>
          <a:p>
            <a:pPr algn="ctr">
              <a:lnSpc>
                <a:spcPts val="4001"/>
              </a:lnSpc>
              <a:spcBef>
                <a:spcPct val="0"/>
              </a:spcBef>
            </a:pPr>
            <a:r>
              <a:rPr lang="en-US" sz="4000" b="1" dirty="0">
                <a:solidFill>
                  <a:srgbClr val="FFFFFF"/>
                </a:solidFill>
                <a:latin typeface="Now Bold"/>
                <a:ea typeface="Now Bold"/>
                <a:cs typeface="Now Bold"/>
                <a:sym typeface="Now Bold"/>
              </a:rPr>
              <a:t>PAYROLL PROCESSING AND ADJUSTMENTS</a:t>
            </a:r>
          </a:p>
        </p:txBody>
      </p:sp>
      <p:sp>
        <p:nvSpPr>
          <p:cNvPr id="9" name="TextBox 9"/>
          <p:cNvSpPr txBox="1"/>
          <p:nvPr/>
        </p:nvSpPr>
        <p:spPr>
          <a:xfrm>
            <a:off x="939419" y="4609986"/>
            <a:ext cx="11813920" cy="3508653"/>
          </a:xfrm>
          <a:prstGeom prst="rect">
            <a:avLst/>
          </a:prstGeom>
        </p:spPr>
        <p:txBody>
          <a:bodyPr wrap="square" lIns="0" tIns="0" rIns="0" bIns="0" rtlCol="0" anchor="t">
            <a:spAutoFit/>
          </a:bodyPr>
          <a:lstStyle/>
          <a:p>
            <a:pPr algn="l"/>
            <a:r>
              <a:rPr lang="en-US" sz="2400" spc="55" dirty="0">
                <a:solidFill>
                  <a:srgbClr val="FFFFFF"/>
                </a:solidFill>
                <a:latin typeface="Touvlo"/>
                <a:ea typeface="Touvlo"/>
                <a:cs typeface="Touvlo"/>
                <a:sym typeface="Touvlo"/>
              </a:rPr>
              <a:t>1</a:t>
            </a:r>
            <a:r>
              <a:rPr lang="en-US" sz="3600" spc="55" dirty="0">
                <a:solidFill>
                  <a:srgbClr val="FFFFFF"/>
                </a:solidFill>
                <a:latin typeface="Touvlo"/>
                <a:ea typeface="Touvlo"/>
                <a:cs typeface="Touvlo"/>
                <a:sym typeface="Touvlo"/>
              </a:rPr>
              <a:t>. </a:t>
            </a:r>
            <a:r>
              <a:rPr lang="en-US" sz="3200" spc="55" dirty="0">
                <a:solidFill>
                  <a:srgbClr val="FFFFFF"/>
                </a:solidFill>
                <a:latin typeface="Touvlo"/>
                <a:ea typeface="Touvlo"/>
                <a:cs typeface="Touvlo"/>
                <a:sym typeface="Touvlo"/>
              </a:rPr>
              <a:t>Payroll processed (Payroll Run).</a:t>
            </a:r>
          </a:p>
          <a:p>
            <a:pPr algn="l"/>
            <a:endParaRPr lang="en-US" sz="3200" spc="55" dirty="0">
              <a:solidFill>
                <a:srgbClr val="FFFFFF"/>
              </a:solidFill>
              <a:latin typeface="Touvlo"/>
              <a:ea typeface="Touvlo"/>
              <a:cs typeface="Touvlo"/>
              <a:sym typeface="Touvlo"/>
            </a:endParaRPr>
          </a:p>
          <a:p>
            <a:pPr algn="l"/>
            <a:r>
              <a:rPr lang="en-US" sz="3200" spc="55" dirty="0">
                <a:solidFill>
                  <a:srgbClr val="FFFFFF"/>
                </a:solidFill>
                <a:latin typeface="Touvlo"/>
                <a:ea typeface="Touvlo"/>
                <a:cs typeface="Touvlo"/>
                <a:sym typeface="Touvlo"/>
              </a:rPr>
              <a:t>2. Quick Pay Runs.</a:t>
            </a:r>
          </a:p>
          <a:p>
            <a:pPr algn="l"/>
            <a:endParaRPr lang="en-US" sz="3200" spc="55" dirty="0">
              <a:solidFill>
                <a:srgbClr val="FFFFFF"/>
              </a:solidFill>
              <a:latin typeface="Touvlo"/>
              <a:ea typeface="Touvlo"/>
              <a:cs typeface="Touvlo"/>
              <a:sym typeface="Touvlo"/>
            </a:endParaRPr>
          </a:p>
          <a:p>
            <a:pPr algn="l"/>
            <a:r>
              <a:rPr lang="en-US" sz="3200" spc="55" dirty="0">
                <a:solidFill>
                  <a:srgbClr val="FFFFFF"/>
                </a:solidFill>
                <a:latin typeface="Touvlo"/>
                <a:ea typeface="Touvlo"/>
                <a:cs typeface="Touvlo"/>
                <a:sym typeface="Touvlo"/>
              </a:rPr>
              <a:t>3. Manage Adjustments and corrections Handled.</a:t>
            </a:r>
          </a:p>
          <a:p>
            <a:pPr algn="l"/>
            <a:endParaRPr lang="en-US" sz="3200" spc="55" dirty="0">
              <a:solidFill>
                <a:srgbClr val="FFFFFF"/>
              </a:solidFill>
              <a:latin typeface="Touvlo"/>
              <a:ea typeface="Touvlo"/>
              <a:cs typeface="Touvlo"/>
              <a:sym typeface="Touvlo"/>
            </a:endParaRPr>
          </a:p>
          <a:p>
            <a:pPr algn="l"/>
            <a:r>
              <a:rPr lang="en-US" sz="3200" spc="55" dirty="0">
                <a:solidFill>
                  <a:srgbClr val="FFFFFF"/>
                </a:solidFill>
                <a:latin typeface="Touvlo"/>
                <a:ea typeface="Touvlo"/>
                <a:cs typeface="Touvlo"/>
                <a:sym typeface="Touvlo"/>
              </a:rPr>
              <a:t>4. Bank Transfer and Payments.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8">
                                            <p:txEl>
                                              <p:pRg st="2" end="2"/>
                                            </p:txEl>
                                          </p:spTgt>
                                        </p:tgtEl>
                                        <p:attrNameLst>
                                          <p:attrName>style.visibility</p:attrName>
                                        </p:attrNameLst>
                                      </p:cBhvr>
                                      <p:to>
                                        <p:strVal val="visible"/>
                                      </p:to>
                                    </p:set>
                                    <p:animEffect transition="in" filter="barn(inVertical)">
                                      <p:cBhvr>
                                        <p:cTn id="10" dur="500"/>
                                        <p:tgtEl>
                                          <p:spTgt spid="8">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fade">
                                      <p:cBhvr>
                                        <p:cTn id="15" dur="1000"/>
                                        <p:tgtEl>
                                          <p:spTgt spid="9">
                                            <p:txEl>
                                              <p:pRg st="0" end="0"/>
                                            </p:txEl>
                                          </p:spTgt>
                                        </p:tgtEl>
                                      </p:cBhvr>
                                    </p:animEffect>
                                    <p:anim calcmode="lin" valueType="num">
                                      <p:cBhvr>
                                        <p:cTn id="16"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9">
                                            <p:txEl>
                                              <p:pRg st="2" end="2"/>
                                            </p:txEl>
                                          </p:spTgt>
                                        </p:tgtEl>
                                        <p:attrNameLst>
                                          <p:attrName>style.visibility</p:attrName>
                                        </p:attrNameLst>
                                      </p:cBhvr>
                                      <p:to>
                                        <p:strVal val="visible"/>
                                      </p:to>
                                    </p:set>
                                    <p:animEffect transition="in" filter="fade">
                                      <p:cBhvr>
                                        <p:cTn id="22" dur="1000"/>
                                        <p:tgtEl>
                                          <p:spTgt spid="9">
                                            <p:txEl>
                                              <p:pRg st="2" end="2"/>
                                            </p:txEl>
                                          </p:spTgt>
                                        </p:tgtEl>
                                      </p:cBhvr>
                                    </p:animEffect>
                                    <p:anim calcmode="lin" valueType="num">
                                      <p:cBhvr>
                                        <p:cTn id="23"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animEffect transition="in" filter="fade">
                                      <p:cBhvr>
                                        <p:cTn id="29" dur="1000"/>
                                        <p:tgtEl>
                                          <p:spTgt spid="9">
                                            <p:txEl>
                                              <p:pRg st="4" end="4"/>
                                            </p:txEl>
                                          </p:spTgt>
                                        </p:tgtEl>
                                      </p:cBhvr>
                                    </p:animEffect>
                                    <p:anim calcmode="lin" valueType="num">
                                      <p:cBhvr>
                                        <p:cTn id="3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9">
                                            <p:txEl>
                                              <p:pRg st="6" end="6"/>
                                            </p:txEl>
                                          </p:spTgt>
                                        </p:tgtEl>
                                        <p:attrNameLst>
                                          <p:attrName>style.visibility</p:attrName>
                                        </p:attrNameLst>
                                      </p:cBhvr>
                                      <p:to>
                                        <p:strVal val="visible"/>
                                      </p:to>
                                    </p:set>
                                    <p:animEffect transition="in" filter="fade">
                                      <p:cBhvr>
                                        <p:cTn id="36" dur="1000"/>
                                        <p:tgtEl>
                                          <p:spTgt spid="9">
                                            <p:txEl>
                                              <p:pRg st="6" end="6"/>
                                            </p:txEl>
                                          </p:spTgt>
                                        </p:tgtEl>
                                      </p:cBhvr>
                                    </p:animEffect>
                                    <p:anim calcmode="lin" valueType="num">
                                      <p:cBhvr>
                                        <p:cTn id="37"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TotalTime>
  <Words>596</Words>
  <Application>Microsoft Office PowerPoint</Application>
  <PresentationFormat>Custom</PresentationFormat>
  <Paragraphs>88</Paragraphs>
  <Slides>11</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11</vt:i4>
      </vt:variant>
    </vt:vector>
  </HeadingPairs>
  <TitlesOfParts>
    <vt:vector size="23" baseType="lpstr">
      <vt:lpstr>Touvlo Bold Italics</vt:lpstr>
      <vt:lpstr>DM Sans Bold</vt:lpstr>
      <vt:lpstr>Touvlo Italics</vt:lpstr>
      <vt:lpstr>Arial</vt:lpstr>
      <vt:lpstr>DM Sans Italics</vt:lpstr>
      <vt:lpstr>DM Sans</vt:lpstr>
      <vt:lpstr>Now Bold</vt:lpstr>
      <vt:lpstr>Calibri</vt:lpstr>
      <vt:lpstr>Touvlo Bold</vt:lpstr>
      <vt:lpstr>Touvlo</vt:lpstr>
      <vt:lpstr>DM Sans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3</dc:title>
  <dc:creator>iprahem sleem</dc:creator>
  <cp:lastModifiedBy>iprahem sleem</cp:lastModifiedBy>
  <cp:revision>4</cp:revision>
  <dcterms:created xsi:type="dcterms:W3CDTF">2006-08-16T00:00:00Z</dcterms:created>
  <dcterms:modified xsi:type="dcterms:W3CDTF">2025-04-27T15:42:56Z</dcterms:modified>
  <dc:identifier>DAGYuuSbXJ0</dc:identifier>
</cp:coreProperties>
</file>