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7" r:id="rId2"/>
    <p:sldId id="268" r:id="rId3"/>
    <p:sldId id="269" r:id="rId4"/>
    <p:sldId id="270" r:id="rId5"/>
    <p:sldId id="271" r:id="rId6"/>
    <p:sldId id="272" r:id="rId7"/>
    <p:sldId id="273" r:id="rId8"/>
    <p:sldId id="274" r:id="rId9"/>
    <p:sldId id="276" r:id="rId10"/>
    <p:sldId id="277" r:id="rId11"/>
  </p:sldIdLst>
  <p:sldSz cx="18288000" cy="10287000"/>
  <p:notesSz cx="6858000" cy="9144000"/>
  <p:embeddedFontLst>
    <p:embeddedFont>
      <p:font typeface="Calibri (MS)" panose="020B0604020202020204" charset="0"/>
      <p:regular r:id="rId12"/>
    </p:embeddedFont>
    <p:embeddedFont>
      <p:font typeface="Calibri (MS) Bold" panose="020B0604020202020204" charset="0"/>
      <p:regular r:id="rId13"/>
    </p:embeddedFont>
    <p:embeddedFont>
      <p:font typeface="Canva Sans" panose="020B0604020202020204" charset="0"/>
      <p:regular r:id="rId14"/>
    </p:embeddedFont>
    <p:embeddedFont>
      <p:font typeface="DM Sans" pitchFamily="2" charset="0"/>
      <p:regular r:id="rId15"/>
    </p:embeddedFont>
    <p:embeddedFont>
      <p:font typeface="DM Sans Bold" charset="0"/>
      <p:regular r:id="rId16"/>
    </p:embeddedFont>
    <p:embeddedFont>
      <p:font typeface="DM Sans Bold Italics" panose="020B0604020202020204" charset="0"/>
      <p:regular r:id="rId17"/>
    </p:embeddedFont>
    <p:embeddedFont>
      <p:font typeface="DM Sans Italics" panose="020B0604020202020204" charset="0"/>
      <p:regular r:id="rId18"/>
    </p:embeddedFont>
    <p:embeddedFont>
      <p:font typeface="Now Bold" panose="020B0604020202020204" charset="0"/>
      <p:regular r:id="rId19"/>
    </p:embeddedFont>
    <p:embeddedFont>
      <p:font typeface="Touvlo"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6" autoAdjust="0"/>
    <p:restoredTop sz="94622" autoAdjust="0"/>
  </p:normalViewPr>
  <p:slideViewPr>
    <p:cSldViewPr>
      <p:cViewPr varScale="1">
        <p:scale>
          <a:sx n="45" d="100"/>
          <a:sy n="45" d="100"/>
        </p:scale>
        <p:origin x="106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30.svg"/><Relationship Id="rId7" Type="http://schemas.openxmlformats.org/officeDocument/2006/relationships/image" Target="../media/image18.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5645905" y="-1664281"/>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664281"/>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14358" y="7820941"/>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4861494" y="6172200"/>
            <a:ext cx="3426506" cy="4114800"/>
          </a:xfrm>
          <a:custGeom>
            <a:avLst/>
            <a:gdLst/>
            <a:ahLst/>
            <a:cxnLst/>
            <a:rect l="l" t="t" r="r" b="b"/>
            <a:pathLst>
              <a:path w="3426506" h="4114800">
                <a:moveTo>
                  <a:pt x="0" y="0"/>
                </a:moveTo>
                <a:lnTo>
                  <a:pt x="3426506" y="0"/>
                </a:lnTo>
                <a:lnTo>
                  <a:pt x="342650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8501028" y="3827179"/>
            <a:ext cx="9250750" cy="5906950"/>
          </a:xfrm>
          <a:custGeom>
            <a:avLst/>
            <a:gdLst/>
            <a:ahLst/>
            <a:cxnLst/>
            <a:rect l="l" t="t" r="r" b="b"/>
            <a:pathLst>
              <a:path w="9250750" h="5906950">
                <a:moveTo>
                  <a:pt x="0" y="0"/>
                </a:moveTo>
                <a:lnTo>
                  <a:pt x="9250750" y="0"/>
                </a:lnTo>
                <a:lnTo>
                  <a:pt x="9250750" y="5906950"/>
                </a:lnTo>
                <a:lnTo>
                  <a:pt x="0" y="5906950"/>
                </a:lnTo>
                <a:lnTo>
                  <a:pt x="0" y="0"/>
                </a:lnTo>
                <a:close/>
              </a:path>
            </a:pathLst>
          </a:custGeom>
          <a:blipFill>
            <a:blip r:embed="rId6"/>
            <a:stretch>
              <a:fillRect t="-6762" r="-111156" b="-79249"/>
            </a:stretch>
          </a:blipFill>
        </p:spPr>
      </p:sp>
      <p:sp>
        <p:nvSpPr>
          <p:cNvPr id="7" name="Freeform 7"/>
          <p:cNvSpPr/>
          <p:nvPr/>
        </p:nvSpPr>
        <p:spPr>
          <a:xfrm>
            <a:off x="748930" y="3785548"/>
            <a:ext cx="7377021" cy="5948581"/>
          </a:xfrm>
          <a:custGeom>
            <a:avLst/>
            <a:gdLst/>
            <a:ahLst/>
            <a:cxnLst/>
            <a:rect l="l" t="t" r="r" b="b"/>
            <a:pathLst>
              <a:path w="7377021" h="5948581">
                <a:moveTo>
                  <a:pt x="0" y="0"/>
                </a:moveTo>
                <a:lnTo>
                  <a:pt x="7377020" y="0"/>
                </a:lnTo>
                <a:lnTo>
                  <a:pt x="7377020" y="5948581"/>
                </a:lnTo>
                <a:lnTo>
                  <a:pt x="0" y="5948581"/>
                </a:lnTo>
                <a:lnTo>
                  <a:pt x="0" y="0"/>
                </a:lnTo>
                <a:close/>
              </a:path>
            </a:pathLst>
          </a:custGeom>
          <a:blipFill>
            <a:blip r:embed="rId7"/>
            <a:stretch>
              <a:fillRect t="-15686" r="-135361" b="-48495"/>
            </a:stretch>
          </a:blipFill>
        </p:spPr>
      </p:sp>
      <p:sp>
        <p:nvSpPr>
          <p:cNvPr id="8" name="TextBox 8"/>
          <p:cNvSpPr txBox="1"/>
          <p:nvPr/>
        </p:nvSpPr>
        <p:spPr>
          <a:xfrm>
            <a:off x="748930" y="1365215"/>
            <a:ext cx="12281270" cy="896977"/>
          </a:xfrm>
          <a:prstGeom prst="rect">
            <a:avLst/>
          </a:prstGeom>
        </p:spPr>
        <p:txBody>
          <a:bodyPr wrap="square"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1. PAYROLL PROCESSED (PAYROLL RUN)</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9" name="TextBox 9"/>
          <p:cNvSpPr txBox="1"/>
          <p:nvPr/>
        </p:nvSpPr>
        <p:spPr>
          <a:xfrm>
            <a:off x="1071280" y="2407144"/>
            <a:ext cx="15503467" cy="1448345"/>
          </a:xfrm>
          <a:prstGeom prst="rect">
            <a:avLst/>
          </a:prstGeom>
        </p:spPr>
        <p:txBody>
          <a:bodyPr lIns="0" tIns="0" rIns="0" bIns="0" rtlCol="0" anchor="t">
            <a:spAutoFit/>
          </a:bodyPr>
          <a:lstStyle/>
          <a:p>
            <a:pPr algn="ctr">
              <a:lnSpc>
                <a:spcPts val="2870"/>
              </a:lnSpc>
            </a:pPr>
            <a:r>
              <a:rPr lang="en-US" sz="2800" dirty="0">
                <a:solidFill>
                  <a:srgbClr val="FFFFFF"/>
                </a:solidFill>
                <a:latin typeface="DM Sans"/>
                <a:ea typeface="DM Sans"/>
                <a:cs typeface="DM Sans"/>
                <a:sym typeface="DM Sans"/>
              </a:rPr>
              <a:t>"A payroll run is the process of calculating employee salaries based on the requested period, taking into account any changes made to monthly elements for each employee."</a:t>
            </a:r>
          </a:p>
          <a:p>
            <a:pPr algn="ctr">
              <a:lnSpc>
                <a:spcPts val="2781"/>
              </a:lnSpc>
            </a:pPr>
            <a:endParaRPr lang="en-US" sz="2079" dirty="0">
              <a:solidFill>
                <a:srgbClr val="FFFFFF"/>
              </a:solidFill>
              <a:latin typeface="DM Sans"/>
              <a:ea typeface="DM Sans"/>
              <a:cs typeface="DM Sans"/>
              <a:sym typeface="DM Sans"/>
            </a:endParaRPr>
          </a:p>
          <a:p>
            <a:pPr algn="ctr">
              <a:lnSpc>
                <a:spcPts val="2781"/>
              </a:lnSpc>
              <a:spcBef>
                <a:spcPct val="0"/>
              </a:spcBef>
            </a:pPr>
            <a:endParaRPr lang="en-US" sz="2079" dirty="0">
              <a:solidFill>
                <a:srgbClr val="FFFFFF"/>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down)">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5645905" y="-1664281"/>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664281"/>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14358" y="7820941"/>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4861494" y="6172200"/>
            <a:ext cx="3426506" cy="4114800"/>
          </a:xfrm>
          <a:custGeom>
            <a:avLst/>
            <a:gdLst/>
            <a:ahLst/>
            <a:cxnLst/>
            <a:rect l="l" t="t" r="r" b="b"/>
            <a:pathLst>
              <a:path w="3426506" h="4114800">
                <a:moveTo>
                  <a:pt x="0" y="0"/>
                </a:moveTo>
                <a:lnTo>
                  <a:pt x="3426506" y="0"/>
                </a:lnTo>
                <a:lnTo>
                  <a:pt x="342650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786003" y="4114800"/>
            <a:ext cx="13471248" cy="4976966"/>
          </a:xfrm>
          <a:custGeom>
            <a:avLst/>
            <a:gdLst/>
            <a:ahLst/>
            <a:cxnLst/>
            <a:rect l="l" t="t" r="r" b="b"/>
            <a:pathLst>
              <a:path w="13471248" h="4976966">
                <a:moveTo>
                  <a:pt x="0" y="0"/>
                </a:moveTo>
                <a:lnTo>
                  <a:pt x="13471248" y="0"/>
                </a:lnTo>
                <a:lnTo>
                  <a:pt x="13471248" y="4976966"/>
                </a:lnTo>
                <a:lnTo>
                  <a:pt x="0" y="4976966"/>
                </a:lnTo>
                <a:lnTo>
                  <a:pt x="0" y="0"/>
                </a:lnTo>
                <a:close/>
              </a:path>
            </a:pathLst>
          </a:custGeom>
          <a:blipFill>
            <a:blip r:embed="rId6"/>
            <a:stretch>
              <a:fillRect t="-5563" r="-14042"/>
            </a:stretch>
          </a:blipFill>
        </p:spPr>
      </p:sp>
      <p:sp>
        <p:nvSpPr>
          <p:cNvPr id="7" name="TextBox 7"/>
          <p:cNvSpPr txBox="1"/>
          <p:nvPr/>
        </p:nvSpPr>
        <p:spPr>
          <a:xfrm>
            <a:off x="1028700" y="1389094"/>
            <a:ext cx="7479792"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2. QUICK PAY RUNS</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8" name="TextBox 8"/>
          <p:cNvSpPr txBox="1"/>
          <p:nvPr/>
        </p:nvSpPr>
        <p:spPr>
          <a:xfrm>
            <a:off x="1786003" y="2236819"/>
            <a:ext cx="13471248" cy="2138471"/>
          </a:xfrm>
          <a:prstGeom prst="rect">
            <a:avLst/>
          </a:prstGeom>
        </p:spPr>
        <p:txBody>
          <a:bodyPr lIns="0" tIns="0" rIns="0" bIns="0" rtlCol="0" anchor="t">
            <a:spAutoFit/>
          </a:bodyPr>
          <a:lstStyle/>
          <a:p>
            <a:pPr algn="ctr">
              <a:lnSpc>
                <a:spcPts val="2781"/>
              </a:lnSpc>
            </a:pPr>
            <a:r>
              <a:rPr lang="en-US" sz="2800" dirty="0">
                <a:solidFill>
                  <a:srgbClr val="FFFFFF"/>
                </a:solidFill>
                <a:latin typeface="DM Sans"/>
                <a:ea typeface="DM Sans"/>
                <a:cs typeface="DM Sans"/>
                <a:sym typeface="DM Sans"/>
              </a:rPr>
              <a:t>"Quick Pay is a functionality used for ad-hoc or off-cycle payroll runs, such as bonuses or corrections. It allows processing individual payments for employees as needed while ensuring accurate salary calculations, deductions, taxes, and benefits."</a:t>
            </a:r>
          </a:p>
          <a:p>
            <a:pPr algn="ctr">
              <a:lnSpc>
                <a:spcPts val="2781"/>
              </a:lnSpc>
            </a:pPr>
            <a:endParaRPr lang="en-US" sz="2015" dirty="0">
              <a:solidFill>
                <a:srgbClr val="FFFFFF"/>
              </a:solidFill>
              <a:latin typeface="DM Sans"/>
              <a:ea typeface="DM Sans"/>
              <a:cs typeface="DM Sans"/>
              <a:sym typeface="DM Sans"/>
            </a:endParaRPr>
          </a:p>
          <a:p>
            <a:pPr algn="ctr">
              <a:lnSpc>
                <a:spcPts val="2781"/>
              </a:lnSpc>
              <a:spcBef>
                <a:spcPct val="0"/>
              </a:spcBef>
            </a:pPr>
            <a:endParaRPr lang="en-US" sz="2015" dirty="0">
              <a:solidFill>
                <a:srgbClr val="FFFFFF"/>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1798847" y="4857201"/>
            <a:ext cx="7526968" cy="4401099"/>
          </a:xfrm>
          <a:custGeom>
            <a:avLst/>
            <a:gdLst/>
            <a:ahLst/>
            <a:cxnLst/>
            <a:rect l="l" t="t" r="r" b="b"/>
            <a:pathLst>
              <a:path w="7526968" h="4401099">
                <a:moveTo>
                  <a:pt x="0" y="0"/>
                </a:moveTo>
                <a:lnTo>
                  <a:pt x="7526968" y="0"/>
                </a:lnTo>
                <a:lnTo>
                  <a:pt x="7526968" y="4401099"/>
                </a:lnTo>
                <a:lnTo>
                  <a:pt x="0" y="4401099"/>
                </a:lnTo>
                <a:lnTo>
                  <a:pt x="0" y="0"/>
                </a:lnTo>
                <a:close/>
              </a:path>
            </a:pathLst>
          </a:custGeom>
          <a:blipFill>
            <a:blip r:embed="rId3"/>
            <a:stretch>
              <a:fillRect l="-56" t="-17028" r="-83734" b="-59781"/>
            </a:stretch>
          </a:blipFill>
        </p:spPr>
      </p:sp>
      <p:sp>
        <p:nvSpPr>
          <p:cNvPr id="4" name="Freeform 4"/>
          <p:cNvSpPr/>
          <p:nvPr/>
        </p:nvSpPr>
        <p:spPr>
          <a:xfrm>
            <a:off x="10268721" y="349186"/>
            <a:ext cx="7341300" cy="4908001"/>
          </a:xfrm>
          <a:custGeom>
            <a:avLst/>
            <a:gdLst/>
            <a:ahLst/>
            <a:cxnLst/>
            <a:rect l="l" t="t" r="r" b="b"/>
            <a:pathLst>
              <a:path w="7341300" h="4908001">
                <a:moveTo>
                  <a:pt x="0" y="0"/>
                </a:moveTo>
                <a:lnTo>
                  <a:pt x="7341300" y="0"/>
                </a:lnTo>
                <a:lnTo>
                  <a:pt x="7341300" y="4908001"/>
                </a:lnTo>
                <a:lnTo>
                  <a:pt x="0" y="4908001"/>
                </a:lnTo>
                <a:lnTo>
                  <a:pt x="0" y="0"/>
                </a:lnTo>
                <a:close/>
              </a:path>
            </a:pathLst>
          </a:custGeom>
          <a:blipFill>
            <a:blip r:embed="rId4"/>
            <a:stretch>
              <a:fillRect t="-15579" r="-129359" b="-77398"/>
            </a:stretch>
          </a:blipFill>
        </p:spPr>
      </p:sp>
      <p:sp>
        <p:nvSpPr>
          <p:cNvPr id="5" name="Freeform 5"/>
          <p:cNvSpPr/>
          <p:nvPr/>
        </p:nvSpPr>
        <p:spPr>
          <a:xfrm>
            <a:off x="10268721" y="5428001"/>
            <a:ext cx="7341300" cy="4541309"/>
          </a:xfrm>
          <a:custGeom>
            <a:avLst/>
            <a:gdLst/>
            <a:ahLst/>
            <a:cxnLst/>
            <a:rect l="l" t="t" r="r" b="b"/>
            <a:pathLst>
              <a:path w="7341300" h="4541309">
                <a:moveTo>
                  <a:pt x="0" y="0"/>
                </a:moveTo>
                <a:lnTo>
                  <a:pt x="7341300" y="0"/>
                </a:lnTo>
                <a:lnTo>
                  <a:pt x="7341300" y="4541309"/>
                </a:lnTo>
                <a:lnTo>
                  <a:pt x="0" y="4541309"/>
                </a:lnTo>
                <a:lnTo>
                  <a:pt x="0" y="0"/>
                </a:lnTo>
                <a:close/>
              </a:path>
            </a:pathLst>
          </a:custGeom>
          <a:blipFill>
            <a:blip r:embed="rId5"/>
            <a:stretch>
              <a:fillRect t="-5996" r="-83308" b="-60688"/>
            </a:stretch>
          </a:blipFill>
        </p:spPr>
      </p:sp>
      <p:sp>
        <p:nvSpPr>
          <p:cNvPr id="6" name="TextBox 6"/>
          <p:cNvSpPr txBox="1"/>
          <p:nvPr/>
        </p:nvSpPr>
        <p:spPr>
          <a:xfrm>
            <a:off x="-190769" y="781050"/>
            <a:ext cx="11506199" cy="1333500"/>
          </a:xfrm>
          <a:prstGeom prst="rect">
            <a:avLst/>
          </a:prstGeom>
        </p:spPr>
        <p:txBody>
          <a:bodyPr wrap="square"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3. MANAGE ADJUSTMENTS AND </a:t>
            </a:r>
          </a:p>
          <a:p>
            <a:pPr algn="ctr">
              <a:lnSpc>
                <a:spcPts val="3479"/>
              </a:lnSpc>
            </a:pPr>
            <a:r>
              <a:rPr lang="en-US" sz="3600" b="1" dirty="0">
                <a:solidFill>
                  <a:srgbClr val="FFFFFF"/>
                </a:solidFill>
                <a:latin typeface="Now Bold"/>
                <a:ea typeface="Now Bold"/>
                <a:cs typeface="Now Bold"/>
                <a:sym typeface="Now Bold"/>
              </a:rPr>
              <a:t>CORRECTIONS HANDLED</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7" name="TextBox 7"/>
          <p:cNvSpPr txBox="1"/>
          <p:nvPr/>
        </p:nvSpPr>
        <p:spPr>
          <a:xfrm>
            <a:off x="702615" y="1809750"/>
            <a:ext cx="9719432" cy="3731021"/>
          </a:xfrm>
          <a:prstGeom prst="rect">
            <a:avLst/>
          </a:prstGeom>
        </p:spPr>
        <p:txBody>
          <a:bodyPr lIns="0" tIns="0" rIns="0" bIns="0" rtlCol="0" anchor="t">
            <a:spAutoFit/>
          </a:bodyPr>
          <a:lstStyle/>
          <a:p>
            <a:pPr algn="ctr">
              <a:lnSpc>
                <a:spcPts val="3898"/>
              </a:lnSpc>
            </a:pPr>
            <a:r>
              <a:rPr lang="en-US" sz="2800" b="1" dirty="0">
                <a:solidFill>
                  <a:srgbClr val="FFFFFF"/>
                </a:solidFill>
                <a:latin typeface="DM Sans Bold"/>
                <a:ea typeface="DM Sans Bold"/>
                <a:cs typeface="DM Sans Bold"/>
                <a:sym typeface="DM Sans Bold"/>
              </a:rPr>
              <a:t>Retry</a:t>
            </a:r>
          </a:p>
          <a:p>
            <a:pPr algn="ctr">
              <a:lnSpc>
                <a:spcPts val="3898"/>
              </a:lnSpc>
            </a:pPr>
            <a:endParaRPr lang="en-US" sz="2800" b="1" dirty="0">
              <a:solidFill>
                <a:srgbClr val="FFFFFF"/>
              </a:solidFill>
              <a:latin typeface="DM Sans Bold"/>
              <a:ea typeface="DM Sans Bold"/>
              <a:cs typeface="DM Sans Bold"/>
              <a:sym typeface="DM Sans Bold"/>
            </a:endParaRPr>
          </a:p>
          <a:p>
            <a:pPr algn="ctr">
              <a:lnSpc>
                <a:spcPts val="3556"/>
              </a:lnSpc>
            </a:pPr>
            <a:r>
              <a:rPr lang="en-US" sz="2079" dirty="0">
                <a:solidFill>
                  <a:srgbClr val="FFFFFF"/>
                </a:solidFill>
                <a:latin typeface="DM Sans"/>
                <a:ea typeface="DM Sans"/>
                <a:cs typeface="DM Sans"/>
                <a:sym typeface="DM Sans"/>
              </a:rPr>
              <a:t> </a:t>
            </a:r>
            <a:r>
              <a:rPr lang="en-US" sz="2800" dirty="0">
                <a:solidFill>
                  <a:srgbClr val="FFFFFF"/>
                </a:solidFill>
                <a:latin typeface="DM Sans"/>
                <a:ea typeface="DM Sans"/>
                <a:cs typeface="DM Sans"/>
                <a:sym typeface="DM Sans"/>
              </a:rPr>
              <a:t>This option allows the system to reprocess payroll calculations without completely reversing the payroll run. It is typically used for minor corrections, such as adding a missing allowance or fixing a small deduction error.</a:t>
            </a:r>
          </a:p>
          <a:p>
            <a:pPr algn="ctr">
              <a:lnSpc>
                <a:spcPts val="3556"/>
              </a:lnSpc>
            </a:pPr>
            <a:endParaRPr lang="en-US" sz="2079" dirty="0">
              <a:solidFill>
                <a:srgbClr val="FFFFFF"/>
              </a:solidFill>
              <a:latin typeface="DM Sans"/>
              <a:ea typeface="DM Sans"/>
              <a:cs typeface="DM Sans"/>
              <a:sym typeface="DM Sans"/>
            </a:endParaRPr>
          </a:p>
          <a:p>
            <a:pPr algn="ctr">
              <a:lnSpc>
                <a:spcPts val="3556"/>
              </a:lnSpc>
            </a:pPr>
            <a:endParaRPr lang="en-US" sz="2079" dirty="0">
              <a:solidFill>
                <a:srgbClr val="FFFFFF"/>
              </a:solidFill>
              <a:latin typeface="DM Sans"/>
              <a:ea typeface="DM Sans"/>
              <a:cs typeface="DM Sans"/>
              <a:sym typeface="DM Sans"/>
            </a:endParaRPr>
          </a:p>
        </p:txBody>
      </p:sp>
      <p:sp>
        <p:nvSpPr>
          <p:cNvPr id="8" name="TextBox 8"/>
          <p:cNvSpPr txBox="1"/>
          <p:nvPr/>
        </p:nvSpPr>
        <p:spPr>
          <a:xfrm>
            <a:off x="16108174" y="4676797"/>
            <a:ext cx="150184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2</a:t>
            </a:r>
          </a:p>
        </p:txBody>
      </p:sp>
      <p:sp>
        <p:nvSpPr>
          <p:cNvPr id="9" name="TextBox 9"/>
          <p:cNvSpPr txBox="1"/>
          <p:nvPr/>
        </p:nvSpPr>
        <p:spPr>
          <a:xfrm>
            <a:off x="16108174" y="9388920"/>
            <a:ext cx="150184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3</a:t>
            </a:r>
          </a:p>
        </p:txBody>
      </p:sp>
      <p:sp>
        <p:nvSpPr>
          <p:cNvPr id="10" name="TextBox 10"/>
          <p:cNvSpPr txBox="1"/>
          <p:nvPr/>
        </p:nvSpPr>
        <p:spPr>
          <a:xfrm>
            <a:off x="1825397" y="8677910"/>
            <a:ext cx="150184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arn(inVertical)">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1000"/>
                                        <p:tgtEl>
                                          <p:spTgt spid="7">
                                            <p:txEl>
                                              <p:pRg st="0" end="0"/>
                                            </p:txEl>
                                          </p:spTgt>
                                        </p:tgtEl>
                                      </p:cBhvr>
                                    </p:animEffect>
                                    <p:anim calcmode="lin" valueType="num">
                                      <p:cBhvr>
                                        <p:cTn id="1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down)">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down)">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down)">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down)">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down)">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down)">
                                      <p:cBhvr>
                                        <p:cTn id="5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908902" y="3868990"/>
            <a:ext cx="7564447" cy="5389310"/>
          </a:xfrm>
          <a:custGeom>
            <a:avLst/>
            <a:gdLst/>
            <a:ahLst/>
            <a:cxnLst/>
            <a:rect l="l" t="t" r="r" b="b"/>
            <a:pathLst>
              <a:path w="7564447" h="5389310">
                <a:moveTo>
                  <a:pt x="0" y="0"/>
                </a:moveTo>
                <a:lnTo>
                  <a:pt x="7564447" y="0"/>
                </a:lnTo>
                <a:lnTo>
                  <a:pt x="7564447" y="5389310"/>
                </a:lnTo>
                <a:lnTo>
                  <a:pt x="0" y="5389310"/>
                </a:lnTo>
                <a:lnTo>
                  <a:pt x="0" y="0"/>
                </a:lnTo>
                <a:close/>
              </a:path>
            </a:pathLst>
          </a:custGeom>
          <a:blipFill>
            <a:blip r:embed="rId3"/>
            <a:stretch>
              <a:fillRect r="-126190" b="-78583"/>
            </a:stretch>
          </a:blipFill>
        </p:spPr>
      </p:sp>
      <p:sp>
        <p:nvSpPr>
          <p:cNvPr id="4" name="Freeform 4"/>
          <p:cNvSpPr/>
          <p:nvPr/>
        </p:nvSpPr>
        <p:spPr>
          <a:xfrm>
            <a:off x="9050230" y="624953"/>
            <a:ext cx="8637869" cy="4296002"/>
          </a:xfrm>
          <a:custGeom>
            <a:avLst/>
            <a:gdLst/>
            <a:ahLst/>
            <a:cxnLst/>
            <a:rect l="l" t="t" r="r" b="b"/>
            <a:pathLst>
              <a:path w="8637869" h="4296002">
                <a:moveTo>
                  <a:pt x="0" y="0"/>
                </a:moveTo>
                <a:lnTo>
                  <a:pt x="8637869" y="0"/>
                </a:lnTo>
                <a:lnTo>
                  <a:pt x="8637869" y="4296002"/>
                </a:lnTo>
                <a:lnTo>
                  <a:pt x="0" y="4296002"/>
                </a:lnTo>
                <a:lnTo>
                  <a:pt x="0" y="0"/>
                </a:lnTo>
                <a:close/>
              </a:path>
            </a:pathLst>
          </a:custGeom>
          <a:blipFill>
            <a:blip r:embed="rId4"/>
            <a:stretch>
              <a:fillRect r="-63137" b="-84509"/>
            </a:stretch>
          </a:blipFill>
        </p:spPr>
      </p:sp>
      <p:sp>
        <p:nvSpPr>
          <p:cNvPr id="5" name="Freeform 5"/>
          <p:cNvSpPr/>
          <p:nvPr/>
        </p:nvSpPr>
        <p:spPr>
          <a:xfrm>
            <a:off x="9050230" y="5347345"/>
            <a:ext cx="8544099" cy="4352321"/>
          </a:xfrm>
          <a:custGeom>
            <a:avLst/>
            <a:gdLst/>
            <a:ahLst/>
            <a:cxnLst/>
            <a:rect l="l" t="t" r="r" b="b"/>
            <a:pathLst>
              <a:path w="8544099" h="4352321">
                <a:moveTo>
                  <a:pt x="0" y="0"/>
                </a:moveTo>
                <a:lnTo>
                  <a:pt x="8544099" y="0"/>
                </a:lnTo>
                <a:lnTo>
                  <a:pt x="8544099" y="4352321"/>
                </a:lnTo>
                <a:lnTo>
                  <a:pt x="0" y="4352321"/>
                </a:lnTo>
                <a:lnTo>
                  <a:pt x="0" y="0"/>
                </a:lnTo>
                <a:close/>
              </a:path>
            </a:pathLst>
          </a:custGeom>
          <a:blipFill>
            <a:blip r:embed="rId5"/>
            <a:stretch>
              <a:fillRect t="-7760" r="-114077" b="-128634"/>
            </a:stretch>
          </a:blipFill>
        </p:spPr>
      </p:sp>
      <p:sp>
        <p:nvSpPr>
          <p:cNvPr id="6" name="TextBox 6"/>
          <p:cNvSpPr txBox="1"/>
          <p:nvPr/>
        </p:nvSpPr>
        <p:spPr>
          <a:xfrm>
            <a:off x="231608" y="928527"/>
            <a:ext cx="8593019" cy="3167534"/>
          </a:xfrm>
          <a:prstGeom prst="rect">
            <a:avLst/>
          </a:prstGeom>
        </p:spPr>
        <p:txBody>
          <a:bodyPr wrap="square" lIns="0" tIns="0" rIns="0" bIns="0" rtlCol="0" anchor="t">
            <a:spAutoFit/>
          </a:bodyPr>
          <a:lstStyle/>
          <a:p>
            <a:pPr algn="ctr">
              <a:lnSpc>
                <a:spcPts val="2735"/>
              </a:lnSpc>
            </a:pPr>
            <a:r>
              <a:rPr lang="en-US" sz="2800" b="1" dirty="0">
                <a:solidFill>
                  <a:srgbClr val="FFFFFF"/>
                </a:solidFill>
                <a:latin typeface="DM Sans Bold"/>
                <a:ea typeface="DM Sans Bold"/>
                <a:cs typeface="DM Sans Bold"/>
                <a:sym typeface="DM Sans Bold"/>
              </a:rPr>
              <a:t>Rollback</a:t>
            </a:r>
          </a:p>
          <a:p>
            <a:pPr algn="ctr">
              <a:lnSpc>
                <a:spcPts val="2735"/>
              </a:lnSpc>
            </a:pPr>
            <a:endParaRPr lang="en-US" sz="2800" b="1" dirty="0">
              <a:solidFill>
                <a:srgbClr val="FFFFFF"/>
              </a:solidFill>
              <a:latin typeface="DM Sans Bold"/>
              <a:ea typeface="DM Sans Bold"/>
              <a:cs typeface="DM Sans Bold"/>
              <a:sym typeface="DM Sans Bold"/>
            </a:endParaRPr>
          </a:p>
          <a:p>
            <a:pPr algn="justLow">
              <a:lnSpc>
                <a:spcPts val="2911"/>
              </a:lnSpc>
            </a:pPr>
            <a:r>
              <a:rPr lang="en-US" sz="2079" b="1" dirty="0">
                <a:solidFill>
                  <a:srgbClr val="FFFFFF"/>
                </a:solidFill>
                <a:latin typeface="DM Sans Bold"/>
                <a:ea typeface="DM Sans Bold"/>
                <a:cs typeface="DM Sans Bold"/>
                <a:sym typeface="DM Sans Bold"/>
              </a:rPr>
              <a:t> </a:t>
            </a:r>
            <a:r>
              <a:rPr lang="en-US" sz="2800" dirty="0">
                <a:solidFill>
                  <a:srgbClr val="FFFFFF"/>
                </a:solidFill>
                <a:latin typeface="DM Sans"/>
                <a:ea typeface="DM Sans"/>
                <a:cs typeface="DM Sans"/>
                <a:sym typeface="DM Sans"/>
              </a:rPr>
              <a:t>This process reverses a payroll run, removing all calculations and returning the payroll data to its previous state before processing. It is used when critical errors are found, such as incorrect salary components or missing employee details.</a:t>
            </a:r>
          </a:p>
          <a:p>
            <a:pPr algn="justLow">
              <a:lnSpc>
                <a:spcPts val="2400"/>
              </a:lnSpc>
            </a:pPr>
            <a:endParaRPr lang="en-US" sz="2800" dirty="0">
              <a:solidFill>
                <a:srgbClr val="FFFFFF"/>
              </a:solidFill>
              <a:latin typeface="DM Sans"/>
              <a:ea typeface="DM Sans"/>
              <a:cs typeface="DM Sans"/>
              <a:sym typeface="DM Sans"/>
            </a:endParaRPr>
          </a:p>
          <a:p>
            <a:pPr algn="ctr">
              <a:lnSpc>
                <a:spcPts val="2400"/>
              </a:lnSpc>
              <a:spcBef>
                <a:spcPct val="0"/>
              </a:spcBef>
            </a:pPr>
            <a:endParaRPr lang="en-US" sz="2079" dirty="0">
              <a:solidFill>
                <a:srgbClr val="FFFFFF"/>
              </a:solidFill>
              <a:latin typeface="DM Sans"/>
              <a:ea typeface="DM Sans"/>
              <a:cs typeface="DM Sans"/>
              <a:sym typeface="DM Sans"/>
            </a:endParaRPr>
          </a:p>
        </p:txBody>
      </p:sp>
      <p:sp>
        <p:nvSpPr>
          <p:cNvPr id="7" name="TextBox 7"/>
          <p:cNvSpPr txBox="1"/>
          <p:nvPr/>
        </p:nvSpPr>
        <p:spPr>
          <a:xfrm>
            <a:off x="16411855" y="4340565"/>
            <a:ext cx="150184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2</a:t>
            </a:r>
          </a:p>
        </p:txBody>
      </p:sp>
      <p:sp>
        <p:nvSpPr>
          <p:cNvPr id="8" name="TextBox 8"/>
          <p:cNvSpPr txBox="1"/>
          <p:nvPr/>
        </p:nvSpPr>
        <p:spPr>
          <a:xfrm>
            <a:off x="16411855" y="9119276"/>
            <a:ext cx="150184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3</a:t>
            </a:r>
          </a:p>
        </p:txBody>
      </p:sp>
      <p:sp>
        <p:nvSpPr>
          <p:cNvPr id="9" name="TextBox 9"/>
          <p:cNvSpPr txBox="1"/>
          <p:nvPr/>
        </p:nvSpPr>
        <p:spPr>
          <a:xfrm>
            <a:off x="7290720" y="8566960"/>
            <a:ext cx="150184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Canva Sans"/>
                <a:ea typeface="Canva Sans"/>
                <a:cs typeface="Canva Sans"/>
                <a:sym typeface="Canva Sans"/>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wipe(down)">
                                      <p:cBhvr>
                                        <p:cTn id="14" dur="500"/>
                                        <p:tgtEl>
                                          <p:spTgt spid="6">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down)">
                                      <p:cBhvr>
                                        <p:cTn id="4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dirty="0"/>
          </a:p>
        </p:txBody>
      </p:sp>
      <p:sp>
        <p:nvSpPr>
          <p:cNvPr id="3" name="TextBox 3"/>
          <p:cNvSpPr txBox="1"/>
          <p:nvPr/>
        </p:nvSpPr>
        <p:spPr>
          <a:xfrm>
            <a:off x="581590" y="1346390"/>
            <a:ext cx="9900291"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4. BANK TRANSFER AND PAYMENTS</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4" name="TextBox 4"/>
          <p:cNvSpPr txBox="1"/>
          <p:nvPr/>
        </p:nvSpPr>
        <p:spPr>
          <a:xfrm>
            <a:off x="2064988" y="2316266"/>
            <a:ext cx="14158025" cy="6328656"/>
          </a:xfrm>
          <a:prstGeom prst="rect">
            <a:avLst/>
          </a:prstGeom>
        </p:spPr>
        <p:txBody>
          <a:bodyPr lIns="0" tIns="0" rIns="0" bIns="0" rtlCol="0" anchor="t">
            <a:spAutoFit/>
          </a:bodyPr>
          <a:lstStyle/>
          <a:p>
            <a:pPr algn="l">
              <a:lnSpc>
                <a:spcPts val="3411"/>
              </a:lnSpc>
            </a:pPr>
            <a:endParaRPr sz="2400" dirty="0"/>
          </a:p>
          <a:p>
            <a:pPr algn="ctr">
              <a:lnSpc>
                <a:spcPts val="4014"/>
              </a:lnSpc>
            </a:pPr>
            <a:r>
              <a:rPr lang="en-US" sz="2400" dirty="0">
                <a:solidFill>
                  <a:srgbClr val="FFFFFF"/>
                </a:solidFill>
                <a:latin typeface="DM Sans"/>
                <a:ea typeface="DM Sans"/>
                <a:cs typeface="DM Sans"/>
                <a:sym typeface="DM Sans"/>
              </a:rPr>
              <a:t>This step involves generating and approving bank payment files that contain salary details for employees. Once approved, these files are sent to the bank for processing, ensuring that salaries are transferred to employees' bank accounts on time.</a:t>
            </a:r>
          </a:p>
          <a:p>
            <a:pPr algn="l">
              <a:lnSpc>
                <a:spcPts val="3411"/>
              </a:lnSpc>
            </a:pPr>
            <a:r>
              <a:rPr lang="en-US" sz="2800" dirty="0">
                <a:solidFill>
                  <a:srgbClr val="FFFFFF"/>
                </a:solidFill>
                <a:latin typeface="DM Sans"/>
                <a:ea typeface="DM Sans"/>
                <a:cs typeface="DM Sans"/>
                <a:sym typeface="DM Sans"/>
              </a:rPr>
              <a:t>   </a:t>
            </a:r>
            <a:r>
              <a:rPr lang="en-US" sz="2800" b="1" dirty="0">
                <a:solidFill>
                  <a:srgbClr val="FFFFFF"/>
                </a:solidFill>
                <a:latin typeface="DM Sans"/>
                <a:ea typeface="DM Sans"/>
                <a:cs typeface="DM Sans"/>
                <a:sym typeface="DM Sans"/>
              </a:rPr>
              <a:t>Benefits:</a:t>
            </a:r>
          </a:p>
          <a:p>
            <a:pPr algn="l">
              <a:lnSpc>
                <a:spcPts val="3411"/>
              </a:lnSpc>
            </a:pPr>
            <a:endParaRPr lang="en-US" sz="2800" dirty="0">
              <a:solidFill>
                <a:srgbClr val="FFFFFF"/>
              </a:solidFill>
              <a:latin typeface="DM Sans"/>
              <a:ea typeface="DM Sans"/>
              <a:cs typeface="DM Sans"/>
              <a:sym typeface="DM Sans"/>
            </a:endParaRPr>
          </a:p>
          <a:p>
            <a:pPr marL="449071" lvl="1" indent="-224536" algn="l">
              <a:lnSpc>
                <a:spcPts val="3411"/>
              </a:lnSpc>
              <a:buFont typeface="Arial"/>
              <a:buChar char="•"/>
            </a:pPr>
            <a:r>
              <a:rPr lang="en-US" sz="2800" dirty="0">
                <a:solidFill>
                  <a:srgbClr val="FFFFFF"/>
                </a:solidFill>
                <a:latin typeface="DM Sans"/>
                <a:ea typeface="DM Sans"/>
                <a:cs typeface="DM Sans"/>
                <a:sym typeface="DM Sans"/>
              </a:rPr>
              <a:t>Ensures timely salary payments to employees, improving satisfaction and trust.</a:t>
            </a:r>
          </a:p>
          <a:p>
            <a:pPr algn="l">
              <a:lnSpc>
                <a:spcPts val="3411"/>
              </a:lnSpc>
            </a:pPr>
            <a:endParaRPr lang="en-US" sz="2800" dirty="0">
              <a:solidFill>
                <a:srgbClr val="FFFFFF"/>
              </a:solidFill>
              <a:latin typeface="DM Sans"/>
              <a:ea typeface="DM Sans"/>
              <a:cs typeface="DM Sans"/>
              <a:sym typeface="DM Sans"/>
            </a:endParaRPr>
          </a:p>
          <a:p>
            <a:pPr marL="449071" lvl="1" indent="-224536" algn="l">
              <a:lnSpc>
                <a:spcPts val="3411"/>
              </a:lnSpc>
              <a:buFont typeface="Arial"/>
              <a:buChar char="•"/>
            </a:pPr>
            <a:r>
              <a:rPr lang="en-US" sz="2800" dirty="0">
                <a:solidFill>
                  <a:srgbClr val="FFFFFF"/>
                </a:solidFill>
                <a:latin typeface="DM Sans"/>
                <a:ea typeface="DM Sans"/>
                <a:cs typeface="DM Sans"/>
                <a:sym typeface="DM Sans"/>
              </a:rPr>
              <a:t>Automates payment processing, reducing manual effort and errors.</a:t>
            </a:r>
          </a:p>
          <a:p>
            <a:pPr algn="l">
              <a:lnSpc>
                <a:spcPts val="3411"/>
              </a:lnSpc>
            </a:pPr>
            <a:endParaRPr lang="en-US" sz="2800" dirty="0">
              <a:solidFill>
                <a:srgbClr val="FFFFFF"/>
              </a:solidFill>
              <a:latin typeface="DM Sans"/>
              <a:ea typeface="DM Sans"/>
              <a:cs typeface="DM Sans"/>
              <a:sym typeface="DM Sans"/>
            </a:endParaRPr>
          </a:p>
          <a:p>
            <a:pPr marL="449071" lvl="1" indent="-224536" algn="l">
              <a:lnSpc>
                <a:spcPts val="3411"/>
              </a:lnSpc>
              <a:buFont typeface="Arial"/>
              <a:buChar char="•"/>
            </a:pPr>
            <a:r>
              <a:rPr lang="en-US" sz="2800" dirty="0">
                <a:solidFill>
                  <a:srgbClr val="FFFFFF"/>
                </a:solidFill>
                <a:latin typeface="DM Sans"/>
                <a:ea typeface="DM Sans"/>
                <a:cs typeface="DM Sans"/>
                <a:sym typeface="DM Sans"/>
              </a:rPr>
              <a:t>Enhances financial security and compliance by maintaining accurate transaction records.</a:t>
            </a:r>
          </a:p>
          <a:p>
            <a:pPr algn="l">
              <a:lnSpc>
                <a:spcPts val="3411"/>
              </a:lnSpc>
            </a:pPr>
            <a:endParaRPr lang="en-US" sz="2800" dirty="0">
              <a:solidFill>
                <a:srgbClr val="FFFFFF"/>
              </a:solidFill>
              <a:latin typeface="DM Sans"/>
              <a:ea typeface="DM Sans"/>
              <a:cs typeface="DM Sans"/>
              <a:sym typeface="DM Sans"/>
            </a:endParaRPr>
          </a:p>
          <a:p>
            <a:pPr marL="449071" lvl="1" indent="-224536" algn="l">
              <a:lnSpc>
                <a:spcPts val="3411"/>
              </a:lnSpc>
              <a:buFont typeface="Arial"/>
              <a:buChar char="•"/>
            </a:pPr>
            <a:r>
              <a:rPr lang="en-US" sz="2800" dirty="0">
                <a:solidFill>
                  <a:srgbClr val="FFFFFF"/>
                </a:solidFill>
                <a:latin typeface="DM Sans"/>
                <a:ea typeface="DM Sans"/>
                <a:cs typeface="DM Sans"/>
                <a:sym typeface="DM Sans"/>
              </a:rPr>
              <a:t>Facilitates easy reconciliation between payroll records and bank transactions.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down)">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1000"/>
                                        <p:tgtEl>
                                          <p:spTgt spid="4">
                                            <p:txEl>
                                              <p:pRg st="4" end="4"/>
                                            </p:txEl>
                                          </p:spTgt>
                                        </p:tgtEl>
                                      </p:cBhvr>
                                    </p:animEffect>
                                    <p:anim calcmode="lin" valueType="num">
                                      <p:cBhvr>
                                        <p:cTn id="2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1000"/>
                                        <p:tgtEl>
                                          <p:spTgt spid="4">
                                            <p:txEl>
                                              <p:pRg st="6" end="6"/>
                                            </p:txEl>
                                          </p:spTgt>
                                        </p:tgtEl>
                                      </p:cBhvr>
                                    </p:animEffect>
                                    <p:anim calcmode="lin" valueType="num">
                                      <p:cBhvr>
                                        <p:cTn id="3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4">
                                            <p:txEl>
                                              <p:pRg st="8" end="8"/>
                                            </p:txEl>
                                          </p:spTgt>
                                        </p:tgtEl>
                                        <p:attrNameLst>
                                          <p:attrName>style.visibility</p:attrName>
                                        </p:attrNameLst>
                                      </p:cBhvr>
                                      <p:to>
                                        <p:strVal val="visible"/>
                                      </p:to>
                                    </p:set>
                                    <p:animEffect transition="in" filter="fade">
                                      <p:cBhvr>
                                        <p:cTn id="38" dur="1000"/>
                                        <p:tgtEl>
                                          <p:spTgt spid="4">
                                            <p:txEl>
                                              <p:pRg st="8" end="8"/>
                                            </p:txEl>
                                          </p:spTgt>
                                        </p:tgtEl>
                                      </p:cBhvr>
                                    </p:animEffect>
                                    <p:anim calcmode="lin" valueType="num">
                                      <p:cBhvr>
                                        <p:cTn id="3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Effect transition="in" filter="fade">
                                      <p:cBhvr>
                                        <p:cTn id="45" dur="1000"/>
                                        <p:tgtEl>
                                          <p:spTgt spid="4">
                                            <p:txEl>
                                              <p:pRg st="10" end="10"/>
                                            </p:txEl>
                                          </p:spTgt>
                                        </p:tgtEl>
                                      </p:cBhvr>
                                    </p:animEffect>
                                    <p:anim calcmode="lin" valueType="num">
                                      <p:cBhvr>
                                        <p:cTn id="4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74819" y="0"/>
            <a:ext cx="11338536" cy="10287000"/>
          </a:xfrm>
          <a:custGeom>
            <a:avLst/>
            <a:gdLst/>
            <a:ahLst/>
            <a:cxnLst/>
            <a:rect l="l" t="t" r="r" b="b"/>
            <a:pathLst>
              <a:path w="11338536" h="10287000">
                <a:moveTo>
                  <a:pt x="0" y="0"/>
                </a:moveTo>
                <a:lnTo>
                  <a:pt x="11338537" y="0"/>
                </a:lnTo>
                <a:lnTo>
                  <a:pt x="11338537" y="10287000"/>
                </a:lnTo>
                <a:lnTo>
                  <a:pt x="0" y="10287000"/>
                </a:lnTo>
                <a:lnTo>
                  <a:pt x="0" y="0"/>
                </a:lnTo>
                <a:close/>
              </a:path>
            </a:pathLst>
          </a:custGeom>
          <a:blipFill>
            <a:blip r:embed="rId2"/>
            <a:stretch>
              <a:fillRect l="-22556" r="-13617"/>
            </a:stretch>
          </a:blipFill>
        </p:spPr>
      </p:sp>
      <p:sp>
        <p:nvSpPr>
          <p:cNvPr id="3" name="Freeform 3"/>
          <p:cNvSpPr/>
          <p:nvPr/>
        </p:nvSpPr>
        <p:spPr>
          <a:xfrm>
            <a:off x="0" y="7444938"/>
            <a:ext cx="4028613" cy="4114800"/>
          </a:xfrm>
          <a:custGeom>
            <a:avLst/>
            <a:gdLst/>
            <a:ahLst/>
            <a:cxnLst/>
            <a:rect l="l" t="t" r="r" b="b"/>
            <a:pathLst>
              <a:path w="4028613" h="4114800">
                <a:moveTo>
                  <a:pt x="0" y="0"/>
                </a:moveTo>
                <a:lnTo>
                  <a:pt x="4028613" y="0"/>
                </a:lnTo>
                <a:lnTo>
                  <a:pt x="402861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9062" y="-1755049"/>
            <a:ext cx="2466059" cy="2466059"/>
          </a:xfrm>
          <a:custGeom>
            <a:avLst/>
            <a:gdLst/>
            <a:ahLst/>
            <a:cxnLst/>
            <a:rect l="l" t="t" r="r" b="b"/>
            <a:pathLst>
              <a:path w="2466059" h="2466059">
                <a:moveTo>
                  <a:pt x="0" y="0"/>
                </a:moveTo>
                <a:lnTo>
                  <a:pt x="2466059" y="0"/>
                </a:lnTo>
                <a:lnTo>
                  <a:pt x="2466059" y="2466059"/>
                </a:lnTo>
                <a:lnTo>
                  <a:pt x="0" y="24660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650004" y="1003102"/>
            <a:ext cx="11991474" cy="1533753"/>
          </a:xfrm>
          <a:prstGeom prst="rect">
            <a:avLst/>
          </a:prstGeom>
        </p:spPr>
        <p:txBody>
          <a:bodyPr wrap="square" lIns="0" tIns="0" rIns="0" bIns="0" rtlCol="0" anchor="t">
            <a:spAutoFit/>
          </a:bodyPr>
          <a:lstStyle/>
          <a:p>
            <a:pPr algn="ctr">
              <a:lnSpc>
                <a:spcPts val="4001"/>
              </a:lnSpc>
            </a:pPr>
            <a:r>
              <a:rPr lang="en-US" sz="4000" b="1" dirty="0">
                <a:solidFill>
                  <a:srgbClr val="FFFFFF"/>
                </a:solidFill>
                <a:latin typeface="Now Bold"/>
                <a:ea typeface="Now Bold"/>
                <a:cs typeface="Now Bold"/>
                <a:sym typeface="Now Bold"/>
              </a:rPr>
              <a:t>PHASE THREE</a:t>
            </a:r>
          </a:p>
          <a:p>
            <a:pPr algn="ctr">
              <a:lnSpc>
                <a:spcPts val="4001"/>
              </a:lnSpc>
            </a:pPr>
            <a:endParaRPr lang="en-US" sz="4000" b="1" dirty="0">
              <a:solidFill>
                <a:srgbClr val="FFFFFF"/>
              </a:solidFill>
              <a:latin typeface="Now Bold"/>
              <a:ea typeface="Now Bold"/>
              <a:cs typeface="Now Bold"/>
              <a:sym typeface="Now Bold"/>
            </a:endParaRPr>
          </a:p>
          <a:p>
            <a:pPr algn="ctr">
              <a:lnSpc>
                <a:spcPts val="4001"/>
              </a:lnSpc>
              <a:spcBef>
                <a:spcPct val="0"/>
              </a:spcBef>
            </a:pPr>
            <a:r>
              <a:rPr lang="en-US" sz="3200" b="1" dirty="0">
                <a:solidFill>
                  <a:srgbClr val="FFFFFF"/>
                </a:solidFill>
                <a:latin typeface="Now Bold"/>
                <a:ea typeface="Now Bold"/>
                <a:cs typeface="Now Bold"/>
                <a:sym typeface="Now Bold"/>
              </a:rPr>
              <a:t>PAYROLL RECONCILIATION AND REPORTING </a:t>
            </a:r>
          </a:p>
        </p:txBody>
      </p:sp>
      <p:sp>
        <p:nvSpPr>
          <p:cNvPr id="6" name="TextBox 6"/>
          <p:cNvSpPr txBox="1"/>
          <p:nvPr/>
        </p:nvSpPr>
        <p:spPr>
          <a:xfrm>
            <a:off x="4500037" y="6055240"/>
            <a:ext cx="5992120" cy="3447098"/>
          </a:xfrm>
          <a:prstGeom prst="rect">
            <a:avLst/>
          </a:prstGeom>
        </p:spPr>
        <p:txBody>
          <a:bodyPr lIns="0" tIns="0" rIns="0" bIns="0" rtlCol="0" anchor="t">
            <a:spAutoFit/>
          </a:bodyPr>
          <a:lstStyle/>
          <a:p>
            <a:pPr algn="l"/>
            <a:r>
              <a:rPr lang="en-US" sz="3200" spc="48" dirty="0">
                <a:solidFill>
                  <a:srgbClr val="FFFFFF"/>
                </a:solidFill>
                <a:latin typeface="Touvlo"/>
                <a:ea typeface="Touvlo"/>
                <a:cs typeface="Touvlo"/>
                <a:sym typeface="Touvlo"/>
              </a:rPr>
              <a:t>1. Payroll Reconciliation.</a:t>
            </a:r>
          </a:p>
          <a:p>
            <a:pPr algn="l"/>
            <a:endParaRPr lang="en-US" sz="3200" spc="48" dirty="0">
              <a:solidFill>
                <a:srgbClr val="FFFFFF"/>
              </a:solidFill>
              <a:latin typeface="Touvlo"/>
              <a:ea typeface="Touvlo"/>
              <a:cs typeface="Touvlo"/>
              <a:sym typeface="Touvlo"/>
            </a:endParaRPr>
          </a:p>
          <a:p>
            <a:pPr algn="l"/>
            <a:r>
              <a:rPr lang="en-US" sz="3200" spc="48" dirty="0">
                <a:solidFill>
                  <a:srgbClr val="FFFFFF"/>
                </a:solidFill>
                <a:latin typeface="Touvlo"/>
                <a:ea typeface="Touvlo"/>
                <a:cs typeface="Touvlo"/>
                <a:sym typeface="Touvlo"/>
              </a:rPr>
              <a:t>2.  Payroll Reporting.</a:t>
            </a:r>
          </a:p>
          <a:p>
            <a:pPr algn="l"/>
            <a:endParaRPr lang="en-US" sz="3200" spc="48" dirty="0">
              <a:solidFill>
                <a:srgbClr val="FFFFFF"/>
              </a:solidFill>
              <a:latin typeface="Touvlo"/>
              <a:ea typeface="Touvlo"/>
              <a:cs typeface="Touvlo"/>
              <a:sym typeface="Touvlo"/>
            </a:endParaRPr>
          </a:p>
          <a:p>
            <a:pPr algn="l"/>
            <a:r>
              <a:rPr lang="en-US" sz="3200" spc="48" dirty="0">
                <a:solidFill>
                  <a:srgbClr val="FFFFFF"/>
                </a:solidFill>
                <a:latin typeface="Touvlo"/>
                <a:ea typeface="Touvlo"/>
                <a:cs typeface="Touvlo"/>
                <a:sym typeface="Touvlo"/>
              </a:rPr>
              <a:t>3. Close Payroll Period.</a:t>
            </a:r>
          </a:p>
          <a:p>
            <a:pPr algn="l"/>
            <a:endParaRPr lang="en-US" sz="3200" spc="48" dirty="0">
              <a:solidFill>
                <a:srgbClr val="FFFFFF"/>
              </a:solidFill>
              <a:latin typeface="Touvlo"/>
              <a:ea typeface="Touvlo"/>
              <a:cs typeface="Touvlo"/>
              <a:sym typeface="Touvlo"/>
            </a:endParaRPr>
          </a:p>
          <a:p>
            <a:pPr algn="l"/>
            <a:r>
              <a:rPr lang="en-US" sz="3200" spc="48" dirty="0">
                <a:solidFill>
                  <a:srgbClr val="FFFFFF"/>
                </a:solidFill>
                <a:latin typeface="Touvlo"/>
                <a:ea typeface="Touvlo"/>
                <a:cs typeface="Touvlo"/>
                <a:sym typeface="Touvlo"/>
              </a:rPr>
              <a:t>4. Audit &amp; Compliance</a:t>
            </a:r>
            <a:r>
              <a:rPr lang="en-US" sz="2100" spc="48" dirty="0">
                <a:solidFill>
                  <a:srgbClr val="FFFFFF"/>
                </a:solidFill>
                <a:latin typeface="Touvlo"/>
                <a:ea typeface="Touvlo"/>
                <a:cs typeface="Touvlo"/>
                <a:sym typeface="Touvlo"/>
              </a:rPr>
              <a:t>.</a:t>
            </a:r>
          </a:p>
        </p:txBody>
      </p:sp>
      <p:sp>
        <p:nvSpPr>
          <p:cNvPr id="7" name="TextBox 7"/>
          <p:cNvSpPr txBox="1"/>
          <p:nvPr/>
        </p:nvSpPr>
        <p:spPr>
          <a:xfrm>
            <a:off x="888072" y="2828948"/>
            <a:ext cx="8915323" cy="2585323"/>
          </a:xfrm>
          <a:prstGeom prst="rect">
            <a:avLst/>
          </a:prstGeom>
        </p:spPr>
        <p:txBody>
          <a:bodyPr lIns="0" tIns="0" rIns="0" bIns="0" rtlCol="0" anchor="t">
            <a:spAutoFit/>
          </a:bodyPr>
          <a:lstStyle/>
          <a:p>
            <a:pPr algn="ctr">
              <a:spcBef>
                <a:spcPct val="0"/>
              </a:spcBef>
            </a:pPr>
            <a:r>
              <a:rPr lang="en-US" sz="2800" dirty="0">
                <a:solidFill>
                  <a:srgbClr val="FFFFFF"/>
                </a:solidFill>
                <a:latin typeface="DM Sans"/>
                <a:ea typeface="DM Sans"/>
                <a:cs typeface="DM Sans"/>
                <a:sym typeface="DM Sans"/>
              </a:rPr>
              <a:t>All these reports should be created on oracle system through developer which will be responsible for linking all elements and data on monthly basis and any editing will be automatically customized on oracle system and check elements and employee criteria with our HR department for each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barn(inVertical)">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down)">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1000"/>
                                        <p:tgtEl>
                                          <p:spTgt spid="6">
                                            <p:txEl>
                                              <p:pRg st="0" end="0"/>
                                            </p:txEl>
                                          </p:spTgt>
                                        </p:tgtEl>
                                      </p:cBhvr>
                                    </p:animEffect>
                                    <p:anim calcmode="lin" valueType="num">
                                      <p:cBhvr>
                                        <p:cTn id="2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1000"/>
                                        <p:tgtEl>
                                          <p:spTgt spid="6">
                                            <p:txEl>
                                              <p:pRg st="2" end="2"/>
                                            </p:txEl>
                                          </p:spTgt>
                                        </p:tgtEl>
                                      </p:cBhvr>
                                    </p:animEffect>
                                    <p:anim calcmode="lin" valueType="num">
                                      <p:cBhvr>
                                        <p:cTn id="2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6">
                                            <p:txEl>
                                              <p:pRg st="4" end="4"/>
                                            </p:txEl>
                                          </p:spTgt>
                                        </p:tgtEl>
                                        <p:attrNameLst>
                                          <p:attrName>style.visibility</p:attrName>
                                        </p:attrNameLst>
                                      </p:cBhvr>
                                      <p:to>
                                        <p:strVal val="visible"/>
                                      </p:to>
                                    </p:set>
                                    <p:animEffect transition="in" filter="fade">
                                      <p:cBhvr>
                                        <p:cTn id="34" dur="1000"/>
                                        <p:tgtEl>
                                          <p:spTgt spid="6">
                                            <p:txEl>
                                              <p:pRg st="4" end="4"/>
                                            </p:txEl>
                                          </p:spTgt>
                                        </p:tgtEl>
                                      </p:cBhvr>
                                    </p:animEffect>
                                    <p:anim calcmode="lin" valueType="num">
                                      <p:cBhvr>
                                        <p:cTn id="3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1000"/>
                                        <p:tgtEl>
                                          <p:spTgt spid="6">
                                            <p:txEl>
                                              <p:pRg st="6" end="6"/>
                                            </p:txEl>
                                          </p:spTgt>
                                        </p:tgtEl>
                                      </p:cBhvr>
                                    </p:animEffect>
                                    <p:anim calcmode="lin" valueType="num">
                                      <p:cBhvr>
                                        <p:cTn id="42"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15483959" y="0"/>
            <a:ext cx="2988937" cy="570615"/>
          </a:xfrm>
          <a:custGeom>
            <a:avLst/>
            <a:gdLst/>
            <a:ahLst/>
            <a:cxnLst/>
            <a:rect l="l" t="t" r="r" b="b"/>
            <a:pathLst>
              <a:path w="2988937" h="570615">
                <a:moveTo>
                  <a:pt x="0" y="0"/>
                </a:moveTo>
                <a:lnTo>
                  <a:pt x="2988938" y="0"/>
                </a:lnTo>
                <a:lnTo>
                  <a:pt x="2988938" y="570615"/>
                </a:lnTo>
                <a:lnTo>
                  <a:pt x="0" y="5706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93544" y="9716385"/>
            <a:ext cx="2988937" cy="570615"/>
          </a:xfrm>
          <a:custGeom>
            <a:avLst/>
            <a:gdLst/>
            <a:ahLst/>
            <a:cxnLst/>
            <a:rect l="l" t="t" r="r" b="b"/>
            <a:pathLst>
              <a:path w="2988937" h="570615">
                <a:moveTo>
                  <a:pt x="0" y="0"/>
                </a:moveTo>
                <a:lnTo>
                  <a:pt x="2988937" y="0"/>
                </a:lnTo>
                <a:lnTo>
                  <a:pt x="2988937" y="570615"/>
                </a:lnTo>
                <a:lnTo>
                  <a:pt x="0" y="5706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944537" y="-2422841"/>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5">
              <a:alphaModFix amt="29000"/>
              <a:extLst>
                <a:ext uri="{96DAC541-7B7A-43D3-8B79-37D633B846F1}">
                  <asvg:svgBlip xmlns:asvg="http://schemas.microsoft.com/office/drawing/2016/SVG/main" r:embed="rId6"/>
                </a:ext>
              </a:extLst>
            </a:blip>
            <a:stretch>
              <a:fillRect/>
            </a:stretch>
          </a:blipFill>
        </p:spPr>
      </p:sp>
      <p:sp>
        <p:nvSpPr>
          <p:cNvPr id="6" name="Freeform 6"/>
          <p:cNvSpPr/>
          <p:nvPr/>
        </p:nvSpPr>
        <p:spPr>
          <a:xfrm>
            <a:off x="16304214" y="7724998"/>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5">
              <a:alphaModFix amt="29000"/>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643033" y="1028700"/>
            <a:ext cx="7479792"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1. PAYROLL RECONCILIATION</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8" name="TextBox 8"/>
          <p:cNvSpPr txBox="1"/>
          <p:nvPr/>
        </p:nvSpPr>
        <p:spPr>
          <a:xfrm>
            <a:off x="335738" y="2184570"/>
            <a:ext cx="8094381" cy="7819000"/>
          </a:xfrm>
          <a:prstGeom prst="rect">
            <a:avLst/>
          </a:prstGeom>
        </p:spPr>
        <p:txBody>
          <a:bodyPr lIns="0" tIns="0" rIns="0" bIns="0" rtlCol="0" anchor="t">
            <a:spAutoFit/>
          </a:bodyPr>
          <a:lstStyle/>
          <a:p>
            <a:pPr algn="ctr">
              <a:lnSpc>
                <a:spcPts val="2500"/>
              </a:lnSpc>
            </a:pPr>
            <a:r>
              <a:rPr lang="en-US" sz="2800" b="1" i="1" spc="46" dirty="0">
                <a:solidFill>
                  <a:srgbClr val="FFFFFF"/>
                </a:solidFill>
                <a:latin typeface="DM Sans Bold Italics"/>
                <a:ea typeface="DM Sans Bold Italics"/>
                <a:cs typeface="DM Sans Bold Italics"/>
                <a:sym typeface="DM Sans Bold Italics"/>
              </a:rPr>
              <a:t>Verifies payroll data for accuracy before processing payments.</a:t>
            </a:r>
          </a:p>
          <a:p>
            <a:pPr algn="l">
              <a:lnSpc>
                <a:spcPts val="2500"/>
              </a:lnSpc>
              <a:spcBef>
                <a:spcPct val="0"/>
              </a:spcBef>
            </a:pPr>
            <a:endParaRPr lang="en-US" sz="2000" i="1" spc="46" dirty="0">
              <a:solidFill>
                <a:srgbClr val="FFFFFF"/>
              </a:solidFill>
              <a:latin typeface="DM Sans Bold Italics"/>
              <a:ea typeface="DM Sans Bold Italics"/>
              <a:cs typeface="DM Sans Bold Italics"/>
              <a:sym typeface="DM Sans Bold Italics"/>
            </a:endParaRPr>
          </a:p>
          <a:p>
            <a:pPr algn="l">
              <a:lnSpc>
                <a:spcPts val="2500"/>
              </a:lnSpc>
              <a:spcBef>
                <a:spcPct val="0"/>
              </a:spcBef>
            </a:pPr>
            <a:r>
              <a:rPr lang="en-US" sz="2000" b="1" spc="46" dirty="0">
                <a:solidFill>
                  <a:srgbClr val="FFFFFF"/>
                </a:solidFill>
                <a:latin typeface="DM Sans"/>
                <a:ea typeface="DM Sans"/>
                <a:cs typeface="DM Sans"/>
                <a:sym typeface="DM Sans"/>
              </a:rPr>
              <a:t>      </a:t>
            </a:r>
            <a:r>
              <a:rPr lang="en-US" sz="2400" b="1" spc="46" dirty="0">
                <a:solidFill>
                  <a:srgbClr val="FFFFFF"/>
                </a:solidFill>
                <a:latin typeface="DM Sans"/>
                <a:ea typeface="DM Sans"/>
                <a:cs typeface="DM Sans"/>
                <a:sym typeface="DM Sans"/>
              </a:rPr>
              <a:t>Key Steps:</a:t>
            </a:r>
          </a:p>
          <a:p>
            <a:pPr algn="l">
              <a:lnSpc>
                <a:spcPts val="3220"/>
              </a:lnSpc>
            </a:pPr>
            <a:endParaRPr lang="en-US" sz="2400" spc="46" dirty="0">
              <a:solidFill>
                <a:srgbClr val="FFFFFF"/>
              </a:solidFill>
              <a:latin typeface="DM Sans"/>
              <a:ea typeface="DM Sans"/>
              <a:cs typeface="DM Sans"/>
              <a:sym typeface="DM Sans"/>
            </a:endParaRPr>
          </a:p>
          <a:p>
            <a:pPr marL="431801" lvl="1" indent="-215900" algn="l">
              <a:lnSpc>
                <a:spcPts val="3220"/>
              </a:lnSpc>
              <a:buFont typeface="Arial"/>
              <a:buChar char="•"/>
            </a:pPr>
            <a:r>
              <a:rPr lang="en-US" sz="2400" spc="46" dirty="0">
                <a:solidFill>
                  <a:srgbClr val="FFFFFF"/>
                </a:solidFill>
                <a:latin typeface="DM Sans"/>
                <a:ea typeface="DM Sans"/>
                <a:cs typeface="DM Sans"/>
                <a:sym typeface="DM Sans"/>
              </a:rPr>
              <a:t>Verify Employee Earnings &amp; Deductions &amp;Net (salaries, overtime, bonuses, benefits) with finance costing entries which will be shared with finance department.</a:t>
            </a:r>
          </a:p>
          <a:p>
            <a:pPr algn="l">
              <a:lnSpc>
                <a:spcPts val="3220"/>
              </a:lnSpc>
            </a:pPr>
            <a:endParaRPr lang="en-US" sz="2400" spc="46" dirty="0">
              <a:solidFill>
                <a:srgbClr val="FFFFFF"/>
              </a:solidFill>
              <a:latin typeface="DM Sans"/>
              <a:ea typeface="DM Sans"/>
              <a:cs typeface="DM Sans"/>
              <a:sym typeface="DM Sans"/>
            </a:endParaRPr>
          </a:p>
          <a:p>
            <a:pPr marL="431801" lvl="1" indent="-215900" algn="l">
              <a:lnSpc>
                <a:spcPts val="3220"/>
              </a:lnSpc>
              <a:buFont typeface="Arial"/>
              <a:buChar char="•"/>
            </a:pPr>
            <a:r>
              <a:rPr lang="en-US" sz="2400" spc="46" dirty="0">
                <a:solidFill>
                  <a:srgbClr val="FFFFFF"/>
                </a:solidFill>
                <a:latin typeface="DM Sans"/>
                <a:ea typeface="DM Sans"/>
                <a:cs typeface="DM Sans"/>
                <a:sym typeface="DM Sans"/>
              </a:rPr>
              <a:t>Verify monthly net salary from payroll data with bank reconciliation</a:t>
            </a:r>
          </a:p>
          <a:p>
            <a:pPr algn="l">
              <a:lnSpc>
                <a:spcPts val="3220"/>
              </a:lnSpc>
            </a:pPr>
            <a:endParaRPr lang="en-US" sz="2400" spc="46" dirty="0">
              <a:solidFill>
                <a:srgbClr val="FFFFFF"/>
              </a:solidFill>
              <a:latin typeface="DM Sans"/>
              <a:ea typeface="DM Sans"/>
              <a:cs typeface="DM Sans"/>
              <a:sym typeface="DM Sans"/>
            </a:endParaRPr>
          </a:p>
          <a:p>
            <a:pPr marL="431801" lvl="1" indent="-215900" algn="l">
              <a:lnSpc>
                <a:spcPts val="3220"/>
              </a:lnSpc>
              <a:buFont typeface="Arial"/>
              <a:buChar char="•"/>
            </a:pPr>
            <a:r>
              <a:rPr lang="en-US" sz="2400" spc="46" dirty="0">
                <a:solidFill>
                  <a:srgbClr val="FFFFFF"/>
                </a:solidFill>
                <a:latin typeface="DM Sans"/>
                <a:ea typeface="DM Sans"/>
                <a:cs typeface="DM Sans"/>
                <a:sym typeface="DM Sans"/>
              </a:rPr>
              <a:t>Reconcile Bank Transactions with payroll data and finance costing entry.</a:t>
            </a:r>
          </a:p>
          <a:p>
            <a:pPr>
              <a:lnSpc>
                <a:spcPts val="3220"/>
              </a:lnSpc>
            </a:pPr>
            <a:endParaRPr lang="en-US" sz="2400" spc="46" dirty="0">
              <a:solidFill>
                <a:srgbClr val="FFFFFF"/>
              </a:solidFill>
              <a:latin typeface="DM Sans"/>
              <a:ea typeface="DM Sans"/>
              <a:cs typeface="DM Sans"/>
              <a:sym typeface="DM Sans"/>
            </a:endParaRPr>
          </a:p>
          <a:p>
            <a:pPr marL="431801" lvl="1" indent="-215900">
              <a:lnSpc>
                <a:spcPts val="3220"/>
              </a:lnSpc>
              <a:buFont typeface="Arial"/>
              <a:buChar char="•"/>
            </a:pPr>
            <a:r>
              <a:rPr lang="en-US" sz="2400" spc="46" dirty="0">
                <a:solidFill>
                  <a:srgbClr val="FFFFFF"/>
                </a:solidFill>
                <a:latin typeface="DM Sans"/>
                <a:ea typeface="DM Sans"/>
                <a:cs typeface="DM Sans"/>
                <a:sym typeface="DM Sans"/>
              </a:rPr>
              <a:t>Verify costing with bank reconciliation</a:t>
            </a:r>
          </a:p>
          <a:p>
            <a:pPr algn="ctr">
              <a:lnSpc>
                <a:spcPts val="3220"/>
              </a:lnSpc>
            </a:pPr>
            <a:r>
              <a:rPr lang="en-US" sz="2400" spc="46" dirty="0">
                <a:solidFill>
                  <a:srgbClr val="FFFFFF"/>
                </a:solidFill>
                <a:latin typeface="DM Sans"/>
                <a:ea typeface="DM Sans"/>
                <a:cs typeface="DM Sans"/>
                <a:sym typeface="DM Sans"/>
              </a:rPr>
              <a:t>(Sharing cost entries with finance to validate and </a:t>
            </a:r>
            <a:r>
              <a:rPr lang="en-US" sz="2400" spc="46" dirty="0" err="1">
                <a:solidFill>
                  <a:srgbClr val="FFFFFF"/>
                </a:solidFill>
                <a:latin typeface="DM Sans"/>
                <a:ea typeface="DM Sans"/>
                <a:cs typeface="DM Sans"/>
                <a:sym typeface="DM Sans"/>
              </a:rPr>
              <a:t>virtify</a:t>
            </a:r>
            <a:r>
              <a:rPr lang="en-US" sz="2400" spc="46" dirty="0">
                <a:solidFill>
                  <a:srgbClr val="FFFFFF"/>
                </a:solidFill>
                <a:latin typeface="DM Sans"/>
                <a:ea typeface="DM Sans"/>
                <a:cs typeface="DM Sans"/>
                <a:sym typeface="DM Sans"/>
              </a:rPr>
              <a:t> the bank transaction with costing entries)</a:t>
            </a:r>
          </a:p>
          <a:p>
            <a:pPr algn="ctr">
              <a:lnSpc>
                <a:spcPts val="3220"/>
              </a:lnSpc>
            </a:pPr>
            <a:endParaRPr lang="en-US" sz="2000" spc="46" dirty="0">
              <a:solidFill>
                <a:srgbClr val="FFFFFF"/>
              </a:solidFill>
              <a:latin typeface="DM Sans"/>
              <a:ea typeface="DM Sans"/>
              <a:cs typeface="DM Sans"/>
              <a:sym typeface="DM Sans"/>
            </a:endParaRPr>
          </a:p>
        </p:txBody>
      </p:sp>
      <p:sp>
        <p:nvSpPr>
          <p:cNvPr id="9" name="TextBox 9"/>
          <p:cNvSpPr txBox="1"/>
          <p:nvPr/>
        </p:nvSpPr>
        <p:spPr>
          <a:xfrm>
            <a:off x="8824422" y="1028700"/>
            <a:ext cx="7479792"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2. PAYROLL REPORTING</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10" name="TextBox 10"/>
          <p:cNvSpPr txBox="1"/>
          <p:nvPr/>
        </p:nvSpPr>
        <p:spPr>
          <a:xfrm>
            <a:off x="8685894" y="2190013"/>
            <a:ext cx="9198042" cy="8008154"/>
          </a:xfrm>
          <a:prstGeom prst="rect">
            <a:avLst/>
          </a:prstGeom>
        </p:spPr>
        <p:txBody>
          <a:bodyPr lIns="0" tIns="0" rIns="0" bIns="0" rtlCol="0" anchor="t">
            <a:spAutoFit/>
          </a:bodyPr>
          <a:lstStyle/>
          <a:p>
            <a:pPr algn="ctr">
              <a:lnSpc>
                <a:spcPts val="2500"/>
              </a:lnSpc>
            </a:pPr>
            <a:r>
              <a:rPr lang="en-US" sz="2800" b="1" i="1" spc="46" dirty="0">
                <a:solidFill>
                  <a:srgbClr val="FFFFFF"/>
                </a:solidFill>
                <a:latin typeface="DM Sans Bold Italics"/>
                <a:ea typeface="DM Sans Bold Italics"/>
                <a:cs typeface="DM Sans Bold Italics"/>
                <a:sym typeface="DM Sans Bold Italics"/>
              </a:rPr>
              <a:t>Provides insights into payroll expenses, taxes, and compliance.</a:t>
            </a:r>
          </a:p>
          <a:p>
            <a:pPr algn="l">
              <a:lnSpc>
                <a:spcPts val="2500"/>
              </a:lnSpc>
            </a:pPr>
            <a:endParaRPr lang="en-US" sz="2000" b="1" i="1" spc="46" dirty="0">
              <a:solidFill>
                <a:srgbClr val="FFFFFF"/>
              </a:solidFill>
              <a:latin typeface="DM Sans Bold Italics"/>
              <a:ea typeface="DM Sans Bold Italics"/>
              <a:cs typeface="DM Sans Bold Italics"/>
              <a:sym typeface="DM Sans Bold Italics"/>
            </a:endParaRPr>
          </a:p>
          <a:p>
            <a:pPr algn="l">
              <a:lnSpc>
                <a:spcPts val="2500"/>
              </a:lnSpc>
              <a:spcBef>
                <a:spcPct val="0"/>
              </a:spcBef>
            </a:pPr>
            <a:endParaRPr lang="en-US" sz="2400" b="1" i="1" spc="46" dirty="0">
              <a:solidFill>
                <a:srgbClr val="FFFFFF"/>
              </a:solidFill>
              <a:latin typeface="DM Sans Bold Italics"/>
              <a:ea typeface="DM Sans Bold Italics"/>
              <a:cs typeface="DM Sans Bold Italics"/>
              <a:sym typeface="DM Sans Bold Italics"/>
            </a:endParaRPr>
          </a:p>
          <a:p>
            <a:pPr algn="l">
              <a:lnSpc>
                <a:spcPts val="2500"/>
              </a:lnSpc>
              <a:spcBef>
                <a:spcPct val="0"/>
              </a:spcBef>
            </a:pPr>
            <a:r>
              <a:rPr lang="en-US" sz="2400" spc="46" dirty="0">
                <a:solidFill>
                  <a:srgbClr val="FFFFFF"/>
                </a:solidFill>
                <a:latin typeface="DM Sans"/>
                <a:ea typeface="DM Sans"/>
                <a:cs typeface="DM Sans"/>
                <a:sym typeface="DM Sans"/>
              </a:rPr>
              <a:t>    </a:t>
            </a:r>
            <a:r>
              <a:rPr lang="en-US" sz="2400" b="1" spc="46" dirty="0">
                <a:solidFill>
                  <a:srgbClr val="FFFFFF"/>
                </a:solidFill>
                <a:latin typeface="DM Sans"/>
                <a:ea typeface="DM Sans"/>
                <a:cs typeface="DM Sans"/>
                <a:sym typeface="DM Sans"/>
              </a:rPr>
              <a:t>Key Steps:</a:t>
            </a:r>
          </a:p>
          <a:p>
            <a:pPr algn="just">
              <a:lnSpc>
                <a:spcPts val="2500"/>
              </a:lnSpc>
              <a:spcBef>
                <a:spcPct val="0"/>
              </a:spcBef>
            </a:pPr>
            <a:endParaRPr lang="en-US" sz="2400" spc="46" dirty="0">
              <a:solidFill>
                <a:srgbClr val="FFFFFF"/>
              </a:solidFill>
              <a:latin typeface="DM Sans"/>
              <a:ea typeface="DM Sans"/>
              <a:cs typeface="DM Sans"/>
              <a:sym typeface="DM Sans"/>
            </a:endParaRPr>
          </a:p>
          <a:p>
            <a:pPr marL="431801" lvl="1" indent="-215900" algn="just">
              <a:lnSpc>
                <a:spcPts val="2500"/>
              </a:lnSpc>
              <a:spcBef>
                <a:spcPct val="0"/>
              </a:spcBef>
              <a:buFont typeface="Arial"/>
              <a:buChar char="•"/>
            </a:pPr>
            <a:r>
              <a:rPr lang="en-US" sz="2400" spc="46" dirty="0">
                <a:solidFill>
                  <a:srgbClr val="FFFFFF"/>
                </a:solidFill>
                <a:latin typeface="DM Sans"/>
                <a:ea typeface="DM Sans"/>
                <a:cs typeface="DM Sans"/>
                <a:sym typeface="DM Sans"/>
              </a:rPr>
              <a:t>Payroll summary: Total head count, total earnings, total deduction, current month.  </a:t>
            </a:r>
          </a:p>
          <a:p>
            <a:pPr algn="just">
              <a:lnSpc>
                <a:spcPts val="2500"/>
              </a:lnSpc>
              <a:spcBef>
                <a:spcPct val="0"/>
              </a:spcBef>
            </a:pPr>
            <a:r>
              <a:rPr lang="en-US" sz="2400" spc="46" dirty="0">
                <a:solidFill>
                  <a:srgbClr val="FFFFFF"/>
                </a:solidFill>
                <a:latin typeface="DM Sans"/>
                <a:ea typeface="DM Sans"/>
                <a:cs typeface="DM Sans"/>
                <a:sym typeface="DM Sans"/>
              </a:rPr>
              <a:t> </a:t>
            </a:r>
          </a:p>
          <a:p>
            <a:pPr marL="431801" lvl="1" indent="-215900" algn="just">
              <a:lnSpc>
                <a:spcPts val="2500"/>
              </a:lnSpc>
              <a:spcBef>
                <a:spcPct val="0"/>
              </a:spcBef>
              <a:buFont typeface="Arial"/>
              <a:buChar char="•"/>
            </a:pPr>
            <a:r>
              <a:rPr lang="en-US" sz="2400" spc="46" dirty="0">
                <a:solidFill>
                  <a:srgbClr val="FFFFFF"/>
                </a:solidFill>
                <a:latin typeface="DM Sans"/>
                <a:ea typeface="DM Sans"/>
                <a:cs typeface="DM Sans"/>
                <a:sym typeface="DM Sans"/>
              </a:rPr>
              <a:t>Employee </a:t>
            </a:r>
            <a:r>
              <a:rPr lang="en-US" sz="2400" spc="46" dirty="0" err="1">
                <a:solidFill>
                  <a:srgbClr val="FFFFFF"/>
                </a:solidFill>
                <a:latin typeface="DM Sans"/>
                <a:ea typeface="DM Sans"/>
                <a:cs typeface="DM Sans"/>
                <a:sym typeface="DM Sans"/>
              </a:rPr>
              <a:t>payslip</a:t>
            </a:r>
            <a:r>
              <a:rPr lang="en-US" sz="2400" spc="46" dirty="0">
                <a:solidFill>
                  <a:srgbClr val="FFFFFF"/>
                </a:solidFill>
                <a:latin typeface="DM Sans"/>
                <a:ea typeface="DM Sans"/>
                <a:cs typeface="DM Sans"/>
                <a:sym typeface="DM Sans"/>
              </a:rPr>
              <a:t> report:  is a detailed, personalized document generated for each employee, summarizing their earnings, deductions, and net salary for a specific pay period. In Oracle ERP, this report can be automated to notify employees via email or the self-service portal, ensuring transparency and compliance.</a:t>
            </a:r>
          </a:p>
          <a:p>
            <a:pPr algn="ctr">
              <a:lnSpc>
                <a:spcPts val="2500"/>
              </a:lnSpc>
              <a:spcBef>
                <a:spcPct val="0"/>
              </a:spcBef>
            </a:pPr>
            <a:endParaRPr lang="en-US" sz="2400" spc="46" dirty="0">
              <a:solidFill>
                <a:srgbClr val="FFFFFF"/>
              </a:solidFill>
              <a:latin typeface="DM Sans"/>
              <a:ea typeface="DM Sans"/>
              <a:cs typeface="DM Sans"/>
              <a:sym typeface="DM Sans"/>
            </a:endParaRPr>
          </a:p>
          <a:p>
            <a:pPr marL="431801" lvl="1" indent="-215900" algn="just">
              <a:lnSpc>
                <a:spcPts val="2500"/>
              </a:lnSpc>
              <a:spcBef>
                <a:spcPct val="0"/>
              </a:spcBef>
              <a:buFont typeface="Arial"/>
              <a:buChar char="•"/>
            </a:pPr>
            <a:r>
              <a:rPr lang="en-US" sz="2400" spc="46" dirty="0">
                <a:solidFill>
                  <a:srgbClr val="FFFFFF"/>
                </a:solidFill>
                <a:latin typeface="DM Sans"/>
                <a:ea typeface="DM Sans"/>
                <a:cs typeface="DM Sans"/>
                <a:sym typeface="DM Sans"/>
              </a:rPr>
              <a:t>deduction report :  Generate reports that show all deductions on payroll shared with finance department to represent every deduction need to be paid to service provider (mobile installation deduction, finance deduction)</a:t>
            </a:r>
          </a:p>
          <a:p>
            <a:pPr algn="ctr">
              <a:lnSpc>
                <a:spcPts val="2500"/>
              </a:lnSpc>
              <a:spcBef>
                <a:spcPct val="0"/>
              </a:spcBef>
            </a:pPr>
            <a:r>
              <a:rPr lang="en-US" sz="2400" spc="46" dirty="0">
                <a:solidFill>
                  <a:srgbClr val="FFFFFF"/>
                </a:solidFill>
                <a:latin typeface="DM Sans"/>
                <a:ea typeface="DM Sans"/>
                <a:cs typeface="DM Sans"/>
                <a:sym typeface="DM Sans"/>
              </a:rPr>
              <a:t> </a:t>
            </a:r>
          </a:p>
          <a:p>
            <a:pPr marL="431801" lvl="1" indent="-215900" algn="just">
              <a:lnSpc>
                <a:spcPts val="2500"/>
              </a:lnSpc>
              <a:spcBef>
                <a:spcPct val="0"/>
              </a:spcBef>
              <a:buFont typeface="Arial"/>
              <a:buChar char="•"/>
            </a:pPr>
            <a:r>
              <a:rPr lang="en-US" sz="2400" spc="46" dirty="0">
                <a:solidFill>
                  <a:srgbClr val="FFFFFF"/>
                </a:solidFill>
                <a:latin typeface="DM Sans"/>
                <a:ea typeface="DM Sans"/>
                <a:cs typeface="DM Sans"/>
                <a:sym typeface="DM Sans"/>
              </a:rPr>
              <a:t>Total liability report : Determine income tax deduction in payroll which give tax reconciliation (tax receipt) to tax porter.</a:t>
            </a:r>
          </a:p>
          <a:p>
            <a:pPr algn="ctr">
              <a:lnSpc>
                <a:spcPts val="2500"/>
              </a:lnSpc>
            </a:pPr>
            <a:endParaRPr lang="en-US" sz="2000" spc="46" dirty="0">
              <a:solidFill>
                <a:srgbClr val="FFFFFF"/>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1000"/>
                                        <p:tgtEl>
                                          <p:spTgt spid="8">
                                            <p:txEl>
                                              <p:pRg st="2" end="2"/>
                                            </p:txEl>
                                          </p:spTgt>
                                        </p:tgtEl>
                                      </p:cBhvr>
                                    </p:animEffect>
                                    <p:anim calcmode="lin" valueType="num">
                                      <p:cBhvr>
                                        <p:cTn id="1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1000"/>
                                        <p:tgtEl>
                                          <p:spTgt spid="8">
                                            <p:txEl>
                                              <p:pRg st="4" end="4"/>
                                            </p:txEl>
                                          </p:spTgt>
                                        </p:tgtEl>
                                      </p:cBhvr>
                                    </p:animEffect>
                                    <p:anim calcmode="lin" valueType="num">
                                      <p:cBhvr>
                                        <p:cTn id="2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fade">
                                      <p:cBhvr>
                                        <p:cTn id="31" dur="1000"/>
                                        <p:tgtEl>
                                          <p:spTgt spid="8">
                                            <p:txEl>
                                              <p:pRg st="6" end="6"/>
                                            </p:txEl>
                                          </p:spTgt>
                                        </p:tgtEl>
                                      </p:cBhvr>
                                    </p:animEffect>
                                    <p:anim calcmode="lin" valueType="num">
                                      <p:cBhvr>
                                        <p:cTn id="32"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8" end="8"/>
                                            </p:txEl>
                                          </p:spTgt>
                                        </p:tgtEl>
                                        <p:attrNameLst>
                                          <p:attrName>style.visibility</p:attrName>
                                        </p:attrNameLst>
                                      </p:cBhvr>
                                      <p:to>
                                        <p:strVal val="visible"/>
                                      </p:to>
                                    </p:set>
                                    <p:animEffect transition="in" filter="fade">
                                      <p:cBhvr>
                                        <p:cTn id="38" dur="1000"/>
                                        <p:tgtEl>
                                          <p:spTgt spid="8">
                                            <p:txEl>
                                              <p:pRg st="8" end="8"/>
                                            </p:txEl>
                                          </p:spTgt>
                                        </p:tgtEl>
                                      </p:cBhvr>
                                    </p:animEffect>
                                    <p:anim calcmode="lin" valueType="num">
                                      <p:cBhvr>
                                        <p:cTn id="39"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8">
                                            <p:txEl>
                                              <p:pRg st="10" end="10"/>
                                            </p:txEl>
                                          </p:spTgt>
                                        </p:tgtEl>
                                        <p:attrNameLst>
                                          <p:attrName>style.visibility</p:attrName>
                                        </p:attrNameLst>
                                      </p:cBhvr>
                                      <p:to>
                                        <p:strVal val="visible"/>
                                      </p:to>
                                    </p:set>
                                    <p:animEffect transition="in" filter="fade">
                                      <p:cBhvr>
                                        <p:cTn id="45" dur="1000"/>
                                        <p:tgtEl>
                                          <p:spTgt spid="8">
                                            <p:txEl>
                                              <p:pRg st="10" end="10"/>
                                            </p:txEl>
                                          </p:spTgt>
                                        </p:tgtEl>
                                      </p:cBhvr>
                                    </p:animEffect>
                                    <p:anim calcmode="lin" valueType="num">
                                      <p:cBhvr>
                                        <p:cTn id="46"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8">
                                            <p:txEl>
                                              <p:pRg st="11" end="11"/>
                                            </p:txEl>
                                          </p:spTgt>
                                        </p:tgtEl>
                                        <p:attrNameLst>
                                          <p:attrName>style.visibility</p:attrName>
                                        </p:attrNameLst>
                                      </p:cBhvr>
                                      <p:to>
                                        <p:strVal val="visible"/>
                                      </p:to>
                                    </p:set>
                                    <p:animEffect transition="in" filter="fade">
                                      <p:cBhvr>
                                        <p:cTn id="50" dur="1000"/>
                                        <p:tgtEl>
                                          <p:spTgt spid="8">
                                            <p:txEl>
                                              <p:pRg st="11" end="11"/>
                                            </p:txEl>
                                          </p:spTgt>
                                        </p:tgtEl>
                                      </p:cBhvr>
                                    </p:animEffect>
                                    <p:anim calcmode="lin" valueType="num">
                                      <p:cBhvr>
                                        <p:cTn id="51"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9">
                                            <p:txEl>
                                              <p:pRg st="0" end="0"/>
                                            </p:txEl>
                                          </p:spTgt>
                                        </p:tgtEl>
                                        <p:attrNameLst>
                                          <p:attrName>style.visibility</p:attrName>
                                        </p:attrNameLst>
                                      </p:cBhvr>
                                      <p:to>
                                        <p:strVal val="visible"/>
                                      </p:to>
                                    </p:set>
                                    <p:animEffect transition="in" filter="barn(inVertical)">
                                      <p:cBhvr>
                                        <p:cTn id="57" dur="500"/>
                                        <p:tgtEl>
                                          <p:spTgt spid="9">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0">
                                            <p:txEl>
                                              <p:pRg st="0" end="0"/>
                                            </p:txEl>
                                          </p:spTgt>
                                        </p:tgtEl>
                                        <p:attrNameLst>
                                          <p:attrName>style.visibility</p:attrName>
                                        </p:attrNameLst>
                                      </p:cBhvr>
                                      <p:to>
                                        <p:strVal val="visible"/>
                                      </p:to>
                                    </p:set>
                                    <p:animEffect transition="in" filter="wipe(down)">
                                      <p:cBhvr>
                                        <p:cTn id="62" dur="500"/>
                                        <p:tgtEl>
                                          <p:spTgt spid="10">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0">
                                            <p:txEl>
                                              <p:pRg st="3" end="3"/>
                                            </p:txEl>
                                          </p:spTgt>
                                        </p:tgtEl>
                                        <p:attrNameLst>
                                          <p:attrName>style.visibility</p:attrName>
                                        </p:attrNameLst>
                                      </p:cBhvr>
                                      <p:to>
                                        <p:strVal val="visible"/>
                                      </p:to>
                                    </p:set>
                                    <p:animEffect transition="in" filter="fade">
                                      <p:cBhvr>
                                        <p:cTn id="67" dur="1000"/>
                                        <p:tgtEl>
                                          <p:spTgt spid="10">
                                            <p:txEl>
                                              <p:pRg st="3" end="3"/>
                                            </p:txEl>
                                          </p:spTgt>
                                        </p:tgtEl>
                                      </p:cBhvr>
                                    </p:animEffect>
                                    <p:anim calcmode="lin" valueType="num">
                                      <p:cBhvr>
                                        <p:cTn id="68"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69"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0">
                                            <p:txEl>
                                              <p:pRg st="5" end="5"/>
                                            </p:txEl>
                                          </p:spTgt>
                                        </p:tgtEl>
                                        <p:attrNameLst>
                                          <p:attrName>style.visibility</p:attrName>
                                        </p:attrNameLst>
                                      </p:cBhvr>
                                      <p:to>
                                        <p:strVal val="visible"/>
                                      </p:to>
                                    </p:set>
                                    <p:animEffect transition="in" filter="fade">
                                      <p:cBhvr>
                                        <p:cTn id="74" dur="1000"/>
                                        <p:tgtEl>
                                          <p:spTgt spid="10">
                                            <p:txEl>
                                              <p:pRg st="5" end="5"/>
                                            </p:txEl>
                                          </p:spTgt>
                                        </p:tgtEl>
                                      </p:cBhvr>
                                    </p:animEffect>
                                    <p:anim calcmode="lin" valueType="num">
                                      <p:cBhvr>
                                        <p:cTn id="75"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76"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10">
                                            <p:txEl>
                                              <p:pRg st="6" end="6"/>
                                            </p:txEl>
                                          </p:spTgt>
                                        </p:tgtEl>
                                        <p:attrNameLst>
                                          <p:attrName>style.visibility</p:attrName>
                                        </p:attrNameLst>
                                      </p:cBhvr>
                                      <p:to>
                                        <p:strVal val="visible"/>
                                      </p:to>
                                    </p:set>
                                    <p:animEffect transition="in" filter="fade">
                                      <p:cBhvr>
                                        <p:cTn id="81" dur="1000"/>
                                        <p:tgtEl>
                                          <p:spTgt spid="10">
                                            <p:txEl>
                                              <p:pRg st="6" end="6"/>
                                            </p:txEl>
                                          </p:spTgt>
                                        </p:tgtEl>
                                      </p:cBhvr>
                                    </p:animEffect>
                                    <p:anim calcmode="lin" valueType="num">
                                      <p:cBhvr>
                                        <p:cTn id="82"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83" dur="1000" fill="hold"/>
                                        <p:tgtEl>
                                          <p:spTgt spid="10">
                                            <p:txEl>
                                              <p:pRg st="6" end="6"/>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0">
                                            <p:txEl>
                                              <p:pRg st="7" end="7"/>
                                            </p:txEl>
                                          </p:spTgt>
                                        </p:tgtEl>
                                        <p:attrNameLst>
                                          <p:attrName>style.visibility</p:attrName>
                                        </p:attrNameLst>
                                      </p:cBhvr>
                                      <p:to>
                                        <p:strVal val="visible"/>
                                      </p:to>
                                    </p:set>
                                    <p:animEffect transition="in" filter="fade">
                                      <p:cBhvr>
                                        <p:cTn id="86" dur="1000"/>
                                        <p:tgtEl>
                                          <p:spTgt spid="10">
                                            <p:txEl>
                                              <p:pRg st="7" end="7"/>
                                            </p:txEl>
                                          </p:spTgt>
                                        </p:tgtEl>
                                      </p:cBhvr>
                                    </p:animEffect>
                                    <p:anim calcmode="lin" valueType="num">
                                      <p:cBhvr>
                                        <p:cTn id="87"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88"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10">
                                            <p:txEl>
                                              <p:pRg st="9" end="9"/>
                                            </p:txEl>
                                          </p:spTgt>
                                        </p:tgtEl>
                                        <p:attrNameLst>
                                          <p:attrName>style.visibility</p:attrName>
                                        </p:attrNameLst>
                                      </p:cBhvr>
                                      <p:to>
                                        <p:strVal val="visible"/>
                                      </p:to>
                                    </p:set>
                                    <p:animEffect transition="in" filter="fade">
                                      <p:cBhvr>
                                        <p:cTn id="93" dur="1000"/>
                                        <p:tgtEl>
                                          <p:spTgt spid="10">
                                            <p:txEl>
                                              <p:pRg st="9" end="9"/>
                                            </p:txEl>
                                          </p:spTgt>
                                        </p:tgtEl>
                                      </p:cBhvr>
                                    </p:animEffect>
                                    <p:anim calcmode="lin" valueType="num">
                                      <p:cBhvr>
                                        <p:cTn id="94"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95"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10">
                                            <p:txEl>
                                              <p:pRg st="11" end="11"/>
                                            </p:txEl>
                                          </p:spTgt>
                                        </p:tgtEl>
                                        <p:attrNameLst>
                                          <p:attrName>style.visibility</p:attrName>
                                        </p:attrNameLst>
                                      </p:cBhvr>
                                      <p:to>
                                        <p:strVal val="visible"/>
                                      </p:to>
                                    </p:set>
                                    <p:animEffect transition="in" filter="fade">
                                      <p:cBhvr>
                                        <p:cTn id="100" dur="1000"/>
                                        <p:tgtEl>
                                          <p:spTgt spid="10">
                                            <p:txEl>
                                              <p:pRg st="11" end="11"/>
                                            </p:txEl>
                                          </p:spTgt>
                                        </p:tgtEl>
                                      </p:cBhvr>
                                    </p:animEffect>
                                    <p:anim calcmode="lin" valueType="num">
                                      <p:cBhvr>
                                        <p:cTn id="101"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102"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1" b="-111"/>
            </a:stretch>
          </a:blipFill>
        </p:spPr>
        <p:txBody>
          <a:bodyPr/>
          <a:lstStyle/>
          <a:p>
            <a:endParaRPr lang="en-US"/>
          </a:p>
        </p:txBody>
      </p:sp>
      <p:sp>
        <p:nvSpPr>
          <p:cNvPr id="3" name="Freeform 3"/>
          <p:cNvSpPr/>
          <p:nvPr/>
        </p:nvSpPr>
        <p:spPr>
          <a:xfrm>
            <a:off x="15483959" y="0"/>
            <a:ext cx="2988937" cy="570615"/>
          </a:xfrm>
          <a:custGeom>
            <a:avLst/>
            <a:gdLst/>
            <a:ahLst/>
            <a:cxnLst/>
            <a:rect l="l" t="t" r="r" b="b"/>
            <a:pathLst>
              <a:path w="2988937" h="570615">
                <a:moveTo>
                  <a:pt x="0" y="0"/>
                </a:moveTo>
                <a:lnTo>
                  <a:pt x="2988938" y="0"/>
                </a:lnTo>
                <a:lnTo>
                  <a:pt x="2988938" y="570615"/>
                </a:lnTo>
                <a:lnTo>
                  <a:pt x="0" y="5706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93544" y="9716385"/>
            <a:ext cx="2988937" cy="570615"/>
          </a:xfrm>
          <a:custGeom>
            <a:avLst/>
            <a:gdLst/>
            <a:ahLst/>
            <a:cxnLst/>
            <a:rect l="l" t="t" r="r" b="b"/>
            <a:pathLst>
              <a:path w="2988937" h="570615">
                <a:moveTo>
                  <a:pt x="0" y="0"/>
                </a:moveTo>
                <a:lnTo>
                  <a:pt x="2988937" y="0"/>
                </a:lnTo>
                <a:lnTo>
                  <a:pt x="2988937" y="570615"/>
                </a:lnTo>
                <a:lnTo>
                  <a:pt x="0" y="5706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944537" y="-2422841"/>
            <a:ext cx="4337366" cy="4337366"/>
          </a:xfrm>
          <a:custGeom>
            <a:avLst/>
            <a:gdLst/>
            <a:ahLst/>
            <a:cxnLst/>
            <a:rect l="l" t="t" r="r" b="b"/>
            <a:pathLst>
              <a:path w="4337366" h="4337366">
                <a:moveTo>
                  <a:pt x="0" y="0"/>
                </a:moveTo>
                <a:lnTo>
                  <a:pt x="4337366" y="0"/>
                </a:lnTo>
                <a:lnTo>
                  <a:pt x="4337366" y="4337366"/>
                </a:lnTo>
                <a:lnTo>
                  <a:pt x="0" y="4337366"/>
                </a:lnTo>
                <a:lnTo>
                  <a:pt x="0" y="0"/>
                </a:lnTo>
                <a:close/>
              </a:path>
            </a:pathLst>
          </a:custGeom>
          <a:blipFill>
            <a:blip r:embed="rId5">
              <a:alphaModFix amt="29000"/>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703546" y="1247775"/>
            <a:ext cx="7479792" cy="475130"/>
          </a:xfrm>
          <a:prstGeom prst="rect">
            <a:avLst/>
          </a:prstGeom>
        </p:spPr>
        <p:txBody>
          <a:bodyPr lIns="0" tIns="0" rIns="0" bIns="0" rtlCol="0" anchor="t">
            <a:spAutoFit/>
          </a:bodyPr>
          <a:lstStyle/>
          <a:p>
            <a:pPr marL="0" lvl="0" indent="0" algn="ctr">
              <a:lnSpc>
                <a:spcPts val="3479"/>
              </a:lnSpc>
              <a:spcBef>
                <a:spcPct val="0"/>
              </a:spcBef>
            </a:pPr>
            <a:r>
              <a:rPr lang="en-US" sz="3600" b="1" dirty="0">
                <a:solidFill>
                  <a:srgbClr val="FFFFFF"/>
                </a:solidFill>
                <a:latin typeface="Now Bold"/>
                <a:ea typeface="Now Bold"/>
                <a:cs typeface="Now Bold"/>
                <a:sym typeface="Now Bold"/>
              </a:rPr>
              <a:t>3. CLOSE PAYROLL PERIOD</a:t>
            </a:r>
          </a:p>
        </p:txBody>
      </p:sp>
      <p:sp>
        <p:nvSpPr>
          <p:cNvPr id="7" name="TextBox 7"/>
          <p:cNvSpPr txBox="1"/>
          <p:nvPr/>
        </p:nvSpPr>
        <p:spPr>
          <a:xfrm>
            <a:off x="907675" y="2502342"/>
            <a:ext cx="8464925" cy="7046353"/>
          </a:xfrm>
          <a:prstGeom prst="rect">
            <a:avLst/>
          </a:prstGeom>
        </p:spPr>
        <p:txBody>
          <a:bodyPr wrap="square" lIns="0" tIns="0" rIns="0" bIns="0" rtlCol="0" anchor="t">
            <a:spAutoFit/>
          </a:bodyPr>
          <a:lstStyle/>
          <a:p>
            <a:pPr algn="ctr">
              <a:lnSpc>
                <a:spcPts val="2500"/>
              </a:lnSpc>
            </a:pPr>
            <a:r>
              <a:rPr lang="en-US" sz="2800" b="1" i="1" spc="46" dirty="0">
                <a:solidFill>
                  <a:srgbClr val="FFFFFF"/>
                </a:solidFill>
                <a:latin typeface="DM Sans Bold Italics"/>
                <a:ea typeface="DM Sans Bold Italics"/>
                <a:cs typeface="DM Sans Bold Italics"/>
                <a:sym typeface="DM Sans Bold Italics"/>
              </a:rPr>
              <a:t>Finalizing payroll records and ensuring proper closure.</a:t>
            </a:r>
          </a:p>
          <a:p>
            <a:pPr algn="ctr">
              <a:lnSpc>
                <a:spcPts val="2500"/>
              </a:lnSpc>
            </a:pPr>
            <a:endParaRPr lang="en-US" sz="2000" b="1" i="1" spc="46" dirty="0">
              <a:solidFill>
                <a:srgbClr val="FFFFFF"/>
              </a:solidFill>
              <a:latin typeface="DM Sans Bold Italics"/>
              <a:ea typeface="DM Sans Bold Italics"/>
              <a:cs typeface="DM Sans Bold Italics"/>
              <a:sym typeface="DM Sans Bold Italics"/>
            </a:endParaRPr>
          </a:p>
          <a:p>
            <a:pPr algn="l">
              <a:lnSpc>
                <a:spcPts val="2500"/>
              </a:lnSpc>
            </a:pPr>
            <a:endParaRPr lang="en-US" sz="2400" b="1" i="1" spc="46" dirty="0">
              <a:solidFill>
                <a:srgbClr val="FFFFFF"/>
              </a:solidFill>
              <a:latin typeface="DM Sans Bold Italics"/>
              <a:ea typeface="DM Sans Bold Italics"/>
              <a:cs typeface="DM Sans Bold Italics"/>
              <a:sym typeface="DM Sans Bold Italics"/>
            </a:endParaRPr>
          </a:p>
          <a:p>
            <a:pPr algn="l">
              <a:lnSpc>
                <a:spcPts val="2500"/>
              </a:lnSpc>
              <a:spcBef>
                <a:spcPct val="0"/>
              </a:spcBef>
            </a:pPr>
            <a:endParaRPr lang="en-US" sz="2400" i="1" spc="46" dirty="0">
              <a:solidFill>
                <a:srgbClr val="FFFFFF"/>
              </a:solidFill>
              <a:latin typeface="DM Sans Bold Italics"/>
              <a:ea typeface="DM Sans Bold Italics"/>
              <a:cs typeface="DM Sans Bold Italics"/>
              <a:sym typeface="DM Sans Bold Italics"/>
            </a:endParaRPr>
          </a:p>
          <a:p>
            <a:pPr algn="l">
              <a:lnSpc>
                <a:spcPts val="2500"/>
              </a:lnSpc>
              <a:spcBef>
                <a:spcPct val="0"/>
              </a:spcBef>
            </a:pPr>
            <a:r>
              <a:rPr lang="en-US" sz="2400" b="1" spc="46" dirty="0">
                <a:solidFill>
                  <a:srgbClr val="FFFFFF"/>
                </a:solidFill>
                <a:latin typeface="DM Sans"/>
                <a:ea typeface="DM Sans"/>
                <a:cs typeface="DM Sans"/>
                <a:sym typeface="DM Sans"/>
              </a:rPr>
              <a:t>    Key Steps:</a:t>
            </a:r>
          </a:p>
          <a:p>
            <a:pPr algn="l">
              <a:lnSpc>
                <a:spcPts val="2500"/>
              </a:lnSpc>
              <a:spcBef>
                <a:spcPct val="0"/>
              </a:spcBef>
            </a:pPr>
            <a:endParaRPr lang="en-US" sz="2400" spc="46" dirty="0">
              <a:solidFill>
                <a:srgbClr val="FFFFFF"/>
              </a:solidFill>
              <a:latin typeface="DM Sans"/>
              <a:ea typeface="DM Sans"/>
              <a:cs typeface="DM Sans"/>
              <a:sym typeface="DM Sans"/>
            </a:endParaRPr>
          </a:p>
          <a:p>
            <a:pPr marL="431801" lvl="1" indent="-215900" algn="l">
              <a:lnSpc>
                <a:spcPts val="2500"/>
              </a:lnSpc>
              <a:spcBef>
                <a:spcPct val="0"/>
              </a:spcBef>
              <a:buFont typeface="Arial"/>
              <a:buChar char="•"/>
            </a:pPr>
            <a:r>
              <a:rPr lang="en-US" sz="2400" spc="46" dirty="0">
                <a:solidFill>
                  <a:srgbClr val="FFFFFF"/>
                </a:solidFill>
                <a:latin typeface="DM Sans"/>
                <a:ea typeface="DM Sans"/>
                <a:cs typeface="DM Sans"/>
                <a:sym typeface="DM Sans"/>
              </a:rPr>
              <a:t>Lock Payroll Records (prevent unauthorized changes).</a:t>
            </a:r>
          </a:p>
          <a:p>
            <a:pPr marL="215901" lvl="1" algn="l">
              <a:lnSpc>
                <a:spcPts val="2500"/>
              </a:lnSpc>
              <a:spcBef>
                <a:spcPct val="0"/>
              </a:spcBef>
            </a:pPr>
            <a:endParaRPr lang="en-US" sz="2400" spc="46" dirty="0">
              <a:solidFill>
                <a:srgbClr val="FFFFFF"/>
              </a:solidFill>
              <a:latin typeface="DM Sans"/>
              <a:ea typeface="DM Sans"/>
              <a:cs typeface="DM Sans"/>
              <a:sym typeface="DM Sans"/>
            </a:endParaRPr>
          </a:p>
          <a:p>
            <a:pPr marL="431801" lvl="1" indent="-215900" algn="l">
              <a:lnSpc>
                <a:spcPts val="2500"/>
              </a:lnSpc>
              <a:spcBef>
                <a:spcPct val="0"/>
              </a:spcBef>
              <a:buFont typeface="Arial"/>
              <a:buChar char="•"/>
            </a:pPr>
            <a:r>
              <a:rPr lang="en-US" sz="2400" spc="46" dirty="0">
                <a:solidFill>
                  <a:srgbClr val="FFFFFF"/>
                </a:solidFill>
                <a:latin typeface="DM Sans"/>
                <a:ea typeface="DM Sans"/>
                <a:cs typeface="DM Sans"/>
                <a:sym typeface="DM Sans"/>
              </a:rPr>
              <a:t>Review Final Payroll Reports (confirm data accuracy).</a:t>
            </a:r>
          </a:p>
          <a:p>
            <a:pPr algn="l">
              <a:lnSpc>
                <a:spcPts val="2500"/>
              </a:lnSpc>
              <a:spcBef>
                <a:spcPct val="0"/>
              </a:spcBef>
            </a:pPr>
            <a:endParaRPr lang="en-US" sz="2400" spc="46" dirty="0">
              <a:solidFill>
                <a:srgbClr val="FFFFFF"/>
              </a:solidFill>
              <a:latin typeface="DM Sans"/>
              <a:ea typeface="DM Sans"/>
              <a:cs typeface="DM Sans"/>
              <a:sym typeface="DM Sans"/>
            </a:endParaRPr>
          </a:p>
          <a:p>
            <a:pPr marL="431801" lvl="1" indent="-215900" algn="l">
              <a:lnSpc>
                <a:spcPts val="2500"/>
              </a:lnSpc>
              <a:spcBef>
                <a:spcPct val="0"/>
              </a:spcBef>
              <a:buFont typeface="Arial"/>
              <a:buChar char="•"/>
            </a:pPr>
            <a:r>
              <a:rPr lang="en-US" sz="2400" spc="46" dirty="0">
                <a:solidFill>
                  <a:srgbClr val="FFFFFF"/>
                </a:solidFill>
                <a:latin typeface="DM Sans"/>
                <a:ea typeface="DM Sans"/>
                <a:cs typeface="DM Sans"/>
                <a:sym typeface="DM Sans"/>
              </a:rPr>
              <a:t>Submit Taxes &amp; Deductions (pay liabilities and contributions)</a:t>
            </a:r>
          </a:p>
          <a:p>
            <a:pPr algn="l">
              <a:lnSpc>
                <a:spcPts val="2500"/>
              </a:lnSpc>
              <a:spcBef>
                <a:spcPct val="0"/>
              </a:spcBef>
            </a:pPr>
            <a:endParaRPr lang="en-US" sz="2400" spc="46" dirty="0">
              <a:solidFill>
                <a:srgbClr val="FFFFFF"/>
              </a:solidFill>
              <a:latin typeface="DM Sans"/>
              <a:ea typeface="DM Sans"/>
              <a:cs typeface="DM Sans"/>
              <a:sym typeface="DM Sans"/>
            </a:endParaRPr>
          </a:p>
          <a:p>
            <a:pPr marL="431801" lvl="1" indent="-215900" algn="l">
              <a:lnSpc>
                <a:spcPts val="2500"/>
              </a:lnSpc>
              <a:spcBef>
                <a:spcPct val="0"/>
              </a:spcBef>
              <a:buFont typeface="Arial"/>
              <a:buChar char="•"/>
            </a:pPr>
            <a:r>
              <a:rPr lang="en-US" sz="2400" spc="46" dirty="0">
                <a:solidFill>
                  <a:srgbClr val="FFFFFF"/>
                </a:solidFill>
                <a:latin typeface="DM Sans"/>
                <a:ea typeface="DM Sans"/>
                <a:cs typeface="DM Sans"/>
                <a:sym typeface="DM Sans"/>
              </a:rPr>
              <a:t>Finalize payroll for the period and ensure all payroll transactions are posted to the General Ledger.</a:t>
            </a:r>
          </a:p>
          <a:p>
            <a:pPr algn="l">
              <a:lnSpc>
                <a:spcPts val="2500"/>
              </a:lnSpc>
              <a:spcBef>
                <a:spcPct val="0"/>
              </a:spcBef>
            </a:pPr>
            <a:endParaRPr lang="en-US" sz="2000" spc="46" dirty="0">
              <a:solidFill>
                <a:srgbClr val="FFFFFF"/>
              </a:solidFill>
              <a:latin typeface="DM Sans"/>
              <a:ea typeface="DM Sans"/>
              <a:cs typeface="DM Sans"/>
              <a:sym typeface="DM Sans"/>
            </a:endParaRPr>
          </a:p>
          <a:p>
            <a:pPr algn="l">
              <a:lnSpc>
                <a:spcPts val="2500"/>
              </a:lnSpc>
              <a:spcBef>
                <a:spcPct val="0"/>
              </a:spcBef>
            </a:pPr>
            <a:endParaRPr lang="en-US" sz="2000" spc="46" dirty="0">
              <a:solidFill>
                <a:srgbClr val="FFFFFF"/>
              </a:solidFill>
              <a:latin typeface="DM Sans"/>
              <a:ea typeface="DM Sans"/>
              <a:cs typeface="DM Sans"/>
              <a:sym typeface="DM Sans"/>
            </a:endParaRPr>
          </a:p>
          <a:p>
            <a:pPr algn="l">
              <a:lnSpc>
                <a:spcPts val="2500"/>
              </a:lnSpc>
              <a:spcBef>
                <a:spcPct val="0"/>
              </a:spcBef>
            </a:pPr>
            <a:endParaRPr lang="en-US" sz="2000" spc="46" dirty="0">
              <a:solidFill>
                <a:srgbClr val="FFFFFF"/>
              </a:solidFill>
              <a:latin typeface="DM Sans"/>
              <a:ea typeface="DM Sans"/>
              <a:cs typeface="DM Sans"/>
              <a:sym typeface="DM Sans"/>
            </a:endParaRPr>
          </a:p>
          <a:p>
            <a:pPr algn="l">
              <a:lnSpc>
                <a:spcPts val="2500"/>
              </a:lnSpc>
              <a:spcBef>
                <a:spcPct val="0"/>
              </a:spcBef>
            </a:pPr>
            <a:endParaRPr lang="en-US" sz="2000" spc="46" dirty="0">
              <a:solidFill>
                <a:srgbClr val="FFFFFF"/>
              </a:solidFill>
              <a:latin typeface="DM Sans"/>
              <a:ea typeface="DM Sans"/>
              <a:cs typeface="DM Sans"/>
              <a:sym typeface="DM Sans"/>
            </a:endParaRPr>
          </a:p>
          <a:p>
            <a:pPr algn="l">
              <a:lnSpc>
                <a:spcPts val="2500"/>
              </a:lnSpc>
              <a:spcBef>
                <a:spcPct val="0"/>
              </a:spcBef>
            </a:pPr>
            <a:endParaRPr lang="en-US" sz="2000" spc="46" dirty="0">
              <a:solidFill>
                <a:srgbClr val="FFFFFF"/>
              </a:solidFill>
              <a:latin typeface="DM Sans"/>
              <a:ea typeface="DM Sans"/>
              <a:cs typeface="DM Sans"/>
              <a:sym typeface="DM Sans"/>
            </a:endParaRPr>
          </a:p>
          <a:p>
            <a:pPr algn="l">
              <a:lnSpc>
                <a:spcPts val="2500"/>
              </a:lnSpc>
            </a:pPr>
            <a:endParaRPr lang="en-US" sz="2000" spc="46" dirty="0">
              <a:solidFill>
                <a:srgbClr val="FFFFFF"/>
              </a:solidFill>
              <a:latin typeface="DM Sans"/>
              <a:ea typeface="DM Sans"/>
              <a:cs typeface="DM Sans"/>
              <a:sym typeface="DM Sans"/>
            </a:endParaRPr>
          </a:p>
        </p:txBody>
      </p:sp>
      <p:sp>
        <p:nvSpPr>
          <p:cNvPr id="8" name="TextBox 8"/>
          <p:cNvSpPr txBox="1"/>
          <p:nvPr/>
        </p:nvSpPr>
        <p:spPr>
          <a:xfrm>
            <a:off x="9779508" y="1028700"/>
            <a:ext cx="7479792" cy="896977"/>
          </a:xfrm>
          <a:prstGeom prst="rect">
            <a:avLst/>
          </a:prstGeom>
        </p:spPr>
        <p:txBody>
          <a:bodyPr lIns="0" tIns="0" rIns="0" bIns="0" rtlCol="0" anchor="t">
            <a:spAutoFit/>
          </a:bodyPr>
          <a:lstStyle/>
          <a:p>
            <a:pPr algn="ctr">
              <a:lnSpc>
                <a:spcPts val="3479"/>
              </a:lnSpc>
            </a:pPr>
            <a:r>
              <a:rPr lang="en-US" sz="3600" b="1" dirty="0">
                <a:solidFill>
                  <a:srgbClr val="FFFFFF"/>
                </a:solidFill>
                <a:latin typeface="Now Bold"/>
                <a:ea typeface="Now Bold"/>
                <a:cs typeface="Now Bold"/>
                <a:sym typeface="Now Bold"/>
              </a:rPr>
              <a:t>4. AUDIT &amp; COMPLIANCE</a:t>
            </a:r>
          </a:p>
          <a:p>
            <a:pPr marL="0" lvl="0" indent="0" algn="ctr">
              <a:lnSpc>
                <a:spcPts val="3479"/>
              </a:lnSpc>
              <a:spcBef>
                <a:spcPct val="0"/>
              </a:spcBef>
            </a:pPr>
            <a:endParaRPr lang="en-US" sz="2899" b="1" dirty="0">
              <a:solidFill>
                <a:srgbClr val="FFFFFF"/>
              </a:solidFill>
              <a:latin typeface="Now Bold"/>
              <a:ea typeface="Now Bold"/>
              <a:cs typeface="Now Bold"/>
              <a:sym typeface="Now Bold"/>
            </a:endParaRPr>
          </a:p>
        </p:txBody>
      </p:sp>
      <p:sp>
        <p:nvSpPr>
          <p:cNvPr id="9" name="TextBox 9"/>
          <p:cNvSpPr txBox="1"/>
          <p:nvPr/>
        </p:nvSpPr>
        <p:spPr>
          <a:xfrm>
            <a:off x="9779508" y="2502342"/>
            <a:ext cx="8094381" cy="7328160"/>
          </a:xfrm>
          <a:prstGeom prst="rect">
            <a:avLst/>
          </a:prstGeom>
        </p:spPr>
        <p:txBody>
          <a:bodyPr lIns="0" tIns="0" rIns="0" bIns="0" rtlCol="0" anchor="t">
            <a:spAutoFit/>
          </a:bodyPr>
          <a:lstStyle/>
          <a:p>
            <a:pPr algn="ctr">
              <a:lnSpc>
                <a:spcPts val="2599"/>
              </a:lnSpc>
            </a:pPr>
            <a:r>
              <a:rPr lang="en-US" sz="2800" b="1" i="1" spc="47" dirty="0">
                <a:solidFill>
                  <a:srgbClr val="FFFFFF"/>
                </a:solidFill>
                <a:latin typeface="DM Sans Bold Italics"/>
                <a:ea typeface="DM Sans Bold Italics"/>
                <a:cs typeface="DM Sans Bold Italics"/>
                <a:sym typeface="DM Sans Bold Italics"/>
              </a:rPr>
              <a:t>Regular audits ensure accuracy and maintain compliance.</a:t>
            </a:r>
          </a:p>
          <a:p>
            <a:pPr algn="l">
              <a:lnSpc>
                <a:spcPts val="2599"/>
              </a:lnSpc>
              <a:spcBef>
                <a:spcPct val="0"/>
              </a:spcBef>
            </a:pPr>
            <a:endParaRPr lang="en-US" sz="2400" b="1" i="1" spc="47" dirty="0">
              <a:solidFill>
                <a:srgbClr val="FFFFFF"/>
              </a:solidFill>
              <a:latin typeface="DM Sans Bold Italics"/>
              <a:ea typeface="DM Sans Bold Italics"/>
              <a:cs typeface="DM Sans Bold Italics"/>
              <a:sym typeface="DM Sans Bold Italics"/>
            </a:endParaRPr>
          </a:p>
          <a:p>
            <a:pPr algn="just">
              <a:lnSpc>
                <a:spcPts val="2599"/>
              </a:lnSpc>
              <a:spcBef>
                <a:spcPct val="0"/>
              </a:spcBef>
            </a:pPr>
            <a:r>
              <a:rPr lang="en-US" sz="2400" spc="47" dirty="0">
                <a:solidFill>
                  <a:srgbClr val="FFFFFF"/>
                </a:solidFill>
                <a:latin typeface="DM Sans"/>
                <a:ea typeface="DM Sans"/>
                <a:cs typeface="DM Sans"/>
                <a:sym typeface="DM Sans"/>
              </a:rPr>
              <a:t>    </a:t>
            </a:r>
            <a:r>
              <a:rPr lang="en-US" sz="2400" b="1" spc="47" dirty="0">
                <a:solidFill>
                  <a:srgbClr val="FFFFFF"/>
                </a:solidFill>
                <a:latin typeface="DM Sans"/>
                <a:ea typeface="DM Sans"/>
                <a:cs typeface="DM Sans"/>
                <a:sym typeface="DM Sans"/>
              </a:rPr>
              <a:t>Payroll Audit Checklist:</a:t>
            </a:r>
          </a:p>
          <a:p>
            <a:pPr algn="just">
              <a:lnSpc>
                <a:spcPts val="2599"/>
              </a:lnSpc>
              <a:spcBef>
                <a:spcPct val="0"/>
              </a:spcBef>
            </a:pPr>
            <a:endParaRPr lang="en-US" sz="2400" spc="47" dirty="0">
              <a:solidFill>
                <a:srgbClr val="FFFFFF"/>
              </a:solidFill>
              <a:latin typeface="DM Sans"/>
              <a:ea typeface="DM Sans"/>
              <a:cs typeface="DM Sans"/>
              <a:sym typeface="DM Sans"/>
            </a:endParaRPr>
          </a:p>
          <a:p>
            <a:pPr marL="449071" lvl="1" indent="-224536" algn="just">
              <a:lnSpc>
                <a:spcPts val="2599"/>
              </a:lnSpc>
              <a:spcBef>
                <a:spcPct val="0"/>
              </a:spcBef>
              <a:buFont typeface="Arial"/>
              <a:buChar char="•"/>
            </a:pPr>
            <a:r>
              <a:rPr lang="en-US" sz="2400" spc="47" dirty="0">
                <a:solidFill>
                  <a:srgbClr val="FFFFFF"/>
                </a:solidFill>
                <a:latin typeface="DM Sans"/>
                <a:ea typeface="DM Sans"/>
                <a:cs typeface="DM Sans"/>
                <a:sym typeface="DM Sans"/>
              </a:rPr>
              <a:t>Review Tax Filings &amp; Payments (timely and accurate submissions). </a:t>
            </a:r>
          </a:p>
          <a:p>
            <a:pPr algn="just">
              <a:lnSpc>
                <a:spcPts val="2599"/>
              </a:lnSpc>
              <a:spcBef>
                <a:spcPct val="0"/>
              </a:spcBef>
            </a:pPr>
            <a:endParaRPr lang="en-US" sz="2400" spc="47" dirty="0">
              <a:solidFill>
                <a:srgbClr val="FFFFFF"/>
              </a:solidFill>
              <a:latin typeface="DM Sans"/>
              <a:ea typeface="DM Sans"/>
              <a:cs typeface="DM Sans"/>
              <a:sym typeface="DM Sans"/>
            </a:endParaRPr>
          </a:p>
          <a:p>
            <a:pPr marL="449071" lvl="1" indent="-224536" algn="just">
              <a:lnSpc>
                <a:spcPts val="2599"/>
              </a:lnSpc>
              <a:spcBef>
                <a:spcPct val="0"/>
              </a:spcBef>
              <a:buFont typeface="Arial"/>
              <a:buChar char="•"/>
            </a:pPr>
            <a:r>
              <a:rPr lang="en-US" sz="2400" spc="47" dirty="0">
                <a:solidFill>
                  <a:srgbClr val="FFFFFF"/>
                </a:solidFill>
                <a:latin typeface="DM Sans"/>
                <a:ea typeface="DM Sans"/>
                <a:cs typeface="DM Sans"/>
                <a:sym typeface="DM Sans"/>
              </a:rPr>
              <a:t>Ensure Labor Law Compliance (minimum salary, overtime, tax laws). </a:t>
            </a:r>
          </a:p>
          <a:p>
            <a:pPr algn="just">
              <a:lnSpc>
                <a:spcPts val="2599"/>
              </a:lnSpc>
              <a:spcBef>
                <a:spcPct val="0"/>
              </a:spcBef>
            </a:pPr>
            <a:endParaRPr lang="en-US" sz="2400" spc="47" dirty="0">
              <a:solidFill>
                <a:srgbClr val="FFFFFF"/>
              </a:solidFill>
              <a:latin typeface="DM Sans"/>
              <a:ea typeface="DM Sans"/>
              <a:cs typeface="DM Sans"/>
              <a:sym typeface="DM Sans"/>
            </a:endParaRPr>
          </a:p>
          <a:p>
            <a:pPr marL="449071" lvl="1" indent="-224536" algn="just">
              <a:lnSpc>
                <a:spcPts val="2599"/>
              </a:lnSpc>
              <a:spcBef>
                <a:spcPct val="0"/>
              </a:spcBef>
              <a:buFont typeface="Arial"/>
              <a:buChar char="•"/>
            </a:pPr>
            <a:r>
              <a:rPr lang="en-US" sz="2400" spc="47" dirty="0">
                <a:solidFill>
                  <a:srgbClr val="FFFFFF"/>
                </a:solidFill>
                <a:latin typeface="DM Sans"/>
                <a:ea typeface="DM Sans"/>
                <a:cs typeface="DM Sans"/>
                <a:sym typeface="DM Sans"/>
              </a:rPr>
              <a:t>Maintain Payroll Documentation (records for audits &amp; legal purposes)</a:t>
            </a:r>
          </a:p>
          <a:p>
            <a:pPr algn="just">
              <a:lnSpc>
                <a:spcPts val="2599"/>
              </a:lnSpc>
              <a:spcBef>
                <a:spcPct val="0"/>
              </a:spcBef>
            </a:pPr>
            <a:endParaRPr lang="en-US" sz="2400" spc="47" dirty="0">
              <a:solidFill>
                <a:srgbClr val="FFFFFF"/>
              </a:solidFill>
              <a:latin typeface="DM Sans"/>
              <a:ea typeface="DM Sans"/>
              <a:cs typeface="DM Sans"/>
              <a:sym typeface="DM Sans"/>
            </a:endParaRPr>
          </a:p>
          <a:p>
            <a:pPr marL="449071" lvl="1" indent="-224536" algn="just">
              <a:lnSpc>
                <a:spcPts val="2599"/>
              </a:lnSpc>
              <a:spcBef>
                <a:spcPct val="0"/>
              </a:spcBef>
              <a:buFont typeface="Arial"/>
              <a:buChar char="•"/>
            </a:pPr>
            <a:r>
              <a:rPr lang="en-US" sz="2400" spc="47" dirty="0">
                <a:solidFill>
                  <a:srgbClr val="FFFFFF"/>
                </a:solidFill>
                <a:latin typeface="DM Sans"/>
                <a:ea typeface="DM Sans"/>
                <a:cs typeface="DM Sans"/>
                <a:sym typeface="DM Sans"/>
              </a:rPr>
              <a:t>Conduct an internal audit to ensure payroll compliance with company policies and local tax regulations.</a:t>
            </a:r>
          </a:p>
          <a:p>
            <a:pPr algn="just">
              <a:lnSpc>
                <a:spcPts val="2599"/>
              </a:lnSpc>
            </a:pPr>
            <a:endParaRPr lang="en-US" sz="2400" spc="47" dirty="0">
              <a:solidFill>
                <a:srgbClr val="FFFFFF"/>
              </a:solidFill>
              <a:latin typeface="DM Sans"/>
              <a:ea typeface="DM Sans"/>
              <a:cs typeface="DM Sans"/>
              <a:sym typeface="DM Sans"/>
            </a:endParaRPr>
          </a:p>
          <a:p>
            <a:pPr marL="449071" lvl="1" indent="-224536" algn="just">
              <a:lnSpc>
                <a:spcPts val="2599"/>
              </a:lnSpc>
              <a:buFont typeface="Arial"/>
              <a:buChar char="•"/>
            </a:pPr>
            <a:r>
              <a:rPr lang="en-US" sz="2400" spc="47" dirty="0">
                <a:solidFill>
                  <a:srgbClr val="FFFFFF"/>
                </a:solidFill>
                <a:latin typeface="DM Sans"/>
                <a:ea typeface="DM Sans"/>
                <a:cs typeface="DM Sans"/>
                <a:sym typeface="DM Sans"/>
              </a:rPr>
              <a:t>Address any discrepancies found during the audit process and make sure to be covered of any upcoming audit for this.</a:t>
            </a:r>
          </a:p>
          <a:p>
            <a:pPr algn="just">
              <a:lnSpc>
                <a:spcPts val="2599"/>
              </a:lnSpc>
            </a:pPr>
            <a:endParaRPr lang="en-US" sz="2079" spc="47" dirty="0">
              <a:solidFill>
                <a:srgbClr val="FFFFFF"/>
              </a:solidFill>
              <a:latin typeface="DM Sans"/>
              <a:ea typeface="DM Sans"/>
              <a:cs typeface="DM Sans"/>
              <a:sym typeface="DM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Vertic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1000"/>
                                        <p:tgtEl>
                                          <p:spTgt spid="7">
                                            <p:txEl>
                                              <p:pRg st="4" end="4"/>
                                            </p:txEl>
                                          </p:spTgt>
                                        </p:tgtEl>
                                      </p:cBhvr>
                                    </p:animEffect>
                                    <p:anim calcmode="lin" valueType="num">
                                      <p:cBhvr>
                                        <p:cTn id="1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1000"/>
                                        <p:tgtEl>
                                          <p:spTgt spid="7">
                                            <p:txEl>
                                              <p:pRg st="6" end="6"/>
                                            </p:txEl>
                                          </p:spTgt>
                                        </p:tgtEl>
                                      </p:cBhvr>
                                    </p:animEffect>
                                    <p:anim calcmode="lin" valueType="num">
                                      <p:cBhvr>
                                        <p:cTn id="2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Effect transition="in" filter="fade">
                                      <p:cBhvr>
                                        <p:cTn id="31" dur="1000"/>
                                        <p:tgtEl>
                                          <p:spTgt spid="7">
                                            <p:txEl>
                                              <p:pRg st="8" end="8"/>
                                            </p:txEl>
                                          </p:spTgt>
                                        </p:tgtEl>
                                      </p:cBhvr>
                                    </p:animEffect>
                                    <p:anim calcmode="lin" valueType="num">
                                      <p:cBhvr>
                                        <p:cTn id="32"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7">
                                            <p:txEl>
                                              <p:pRg st="10" end="10"/>
                                            </p:txEl>
                                          </p:spTgt>
                                        </p:tgtEl>
                                        <p:attrNameLst>
                                          <p:attrName>style.visibility</p:attrName>
                                        </p:attrNameLst>
                                      </p:cBhvr>
                                      <p:to>
                                        <p:strVal val="visible"/>
                                      </p:to>
                                    </p:set>
                                    <p:animEffect transition="in" filter="fade">
                                      <p:cBhvr>
                                        <p:cTn id="38" dur="1000"/>
                                        <p:tgtEl>
                                          <p:spTgt spid="7">
                                            <p:txEl>
                                              <p:pRg st="10" end="10"/>
                                            </p:txEl>
                                          </p:spTgt>
                                        </p:tgtEl>
                                      </p:cBhvr>
                                    </p:animEffect>
                                    <p:anim calcmode="lin" valueType="num">
                                      <p:cBhvr>
                                        <p:cTn id="39"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7">
                                            <p:txEl>
                                              <p:pRg st="12" end="12"/>
                                            </p:txEl>
                                          </p:spTgt>
                                        </p:tgtEl>
                                        <p:attrNameLst>
                                          <p:attrName>style.visibility</p:attrName>
                                        </p:attrNameLst>
                                      </p:cBhvr>
                                      <p:to>
                                        <p:strVal val="visible"/>
                                      </p:to>
                                    </p:set>
                                    <p:animEffect transition="in" filter="fade">
                                      <p:cBhvr>
                                        <p:cTn id="45" dur="1000"/>
                                        <p:tgtEl>
                                          <p:spTgt spid="7">
                                            <p:txEl>
                                              <p:pRg st="12" end="12"/>
                                            </p:txEl>
                                          </p:spTgt>
                                        </p:tgtEl>
                                      </p:cBhvr>
                                    </p:animEffect>
                                    <p:anim calcmode="lin" valueType="num">
                                      <p:cBhvr>
                                        <p:cTn id="46"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7"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8">
                                            <p:txEl>
                                              <p:pRg st="0" end="0"/>
                                            </p:txEl>
                                          </p:spTgt>
                                        </p:tgtEl>
                                        <p:attrNameLst>
                                          <p:attrName>style.visibility</p:attrName>
                                        </p:attrNameLst>
                                      </p:cBhvr>
                                      <p:to>
                                        <p:strVal val="visible"/>
                                      </p:to>
                                    </p:set>
                                    <p:animEffect transition="in" filter="barn(inVertical)">
                                      <p:cBhvr>
                                        <p:cTn id="52" dur="500"/>
                                        <p:tgtEl>
                                          <p:spTgt spid="8">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9">
                                            <p:txEl>
                                              <p:pRg st="0" end="0"/>
                                            </p:txEl>
                                          </p:spTgt>
                                        </p:tgtEl>
                                        <p:attrNameLst>
                                          <p:attrName>style.visibility</p:attrName>
                                        </p:attrNameLst>
                                      </p:cBhvr>
                                      <p:to>
                                        <p:strVal val="visible"/>
                                      </p:to>
                                    </p:set>
                                    <p:animEffect transition="in" filter="wipe(down)">
                                      <p:cBhvr>
                                        <p:cTn id="57" dur="500"/>
                                        <p:tgtEl>
                                          <p:spTgt spid="9">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9">
                                            <p:txEl>
                                              <p:pRg st="2" end="2"/>
                                            </p:txEl>
                                          </p:spTgt>
                                        </p:tgtEl>
                                        <p:attrNameLst>
                                          <p:attrName>style.visibility</p:attrName>
                                        </p:attrNameLst>
                                      </p:cBhvr>
                                      <p:to>
                                        <p:strVal val="visible"/>
                                      </p:to>
                                    </p:set>
                                    <p:animEffect transition="in" filter="fade">
                                      <p:cBhvr>
                                        <p:cTn id="62" dur="1000"/>
                                        <p:tgtEl>
                                          <p:spTgt spid="9">
                                            <p:txEl>
                                              <p:pRg st="2" end="2"/>
                                            </p:txEl>
                                          </p:spTgt>
                                        </p:tgtEl>
                                      </p:cBhvr>
                                    </p:animEffect>
                                    <p:anim calcmode="lin" valueType="num">
                                      <p:cBhvr>
                                        <p:cTn id="6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6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9">
                                            <p:txEl>
                                              <p:pRg st="4" end="4"/>
                                            </p:txEl>
                                          </p:spTgt>
                                        </p:tgtEl>
                                        <p:attrNameLst>
                                          <p:attrName>style.visibility</p:attrName>
                                        </p:attrNameLst>
                                      </p:cBhvr>
                                      <p:to>
                                        <p:strVal val="visible"/>
                                      </p:to>
                                    </p:set>
                                    <p:animEffect transition="in" filter="fade">
                                      <p:cBhvr>
                                        <p:cTn id="69" dur="1000"/>
                                        <p:tgtEl>
                                          <p:spTgt spid="9">
                                            <p:txEl>
                                              <p:pRg st="4" end="4"/>
                                            </p:txEl>
                                          </p:spTgt>
                                        </p:tgtEl>
                                      </p:cBhvr>
                                    </p:animEffect>
                                    <p:anim calcmode="lin" valueType="num">
                                      <p:cBhvr>
                                        <p:cTn id="7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7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9">
                                            <p:txEl>
                                              <p:pRg st="6" end="6"/>
                                            </p:txEl>
                                          </p:spTgt>
                                        </p:tgtEl>
                                        <p:attrNameLst>
                                          <p:attrName>style.visibility</p:attrName>
                                        </p:attrNameLst>
                                      </p:cBhvr>
                                      <p:to>
                                        <p:strVal val="visible"/>
                                      </p:to>
                                    </p:set>
                                    <p:animEffect transition="in" filter="fade">
                                      <p:cBhvr>
                                        <p:cTn id="76" dur="1000"/>
                                        <p:tgtEl>
                                          <p:spTgt spid="9">
                                            <p:txEl>
                                              <p:pRg st="6" end="6"/>
                                            </p:txEl>
                                          </p:spTgt>
                                        </p:tgtEl>
                                      </p:cBhvr>
                                    </p:animEffect>
                                    <p:anim calcmode="lin" valueType="num">
                                      <p:cBhvr>
                                        <p:cTn id="77"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78"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9">
                                            <p:txEl>
                                              <p:pRg st="8" end="8"/>
                                            </p:txEl>
                                          </p:spTgt>
                                        </p:tgtEl>
                                        <p:attrNameLst>
                                          <p:attrName>style.visibility</p:attrName>
                                        </p:attrNameLst>
                                      </p:cBhvr>
                                      <p:to>
                                        <p:strVal val="visible"/>
                                      </p:to>
                                    </p:set>
                                    <p:animEffect transition="in" filter="fade">
                                      <p:cBhvr>
                                        <p:cTn id="83" dur="1000"/>
                                        <p:tgtEl>
                                          <p:spTgt spid="9">
                                            <p:txEl>
                                              <p:pRg st="8" end="8"/>
                                            </p:txEl>
                                          </p:spTgt>
                                        </p:tgtEl>
                                      </p:cBhvr>
                                    </p:animEffect>
                                    <p:anim calcmode="lin" valueType="num">
                                      <p:cBhvr>
                                        <p:cTn id="84"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85"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9">
                                            <p:txEl>
                                              <p:pRg st="10" end="10"/>
                                            </p:txEl>
                                          </p:spTgt>
                                        </p:tgtEl>
                                        <p:attrNameLst>
                                          <p:attrName>style.visibility</p:attrName>
                                        </p:attrNameLst>
                                      </p:cBhvr>
                                      <p:to>
                                        <p:strVal val="visible"/>
                                      </p:to>
                                    </p:set>
                                    <p:animEffect transition="in" filter="fade">
                                      <p:cBhvr>
                                        <p:cTn id="90" dur="1000"/>
                                        <p:tgtEl>
                                          <p:spTgt spid="9">
                                            <p:txEl>
                                              <p:pRg st="10" end="10"/>
                                            </p:txEl>
                                          </p:spTgt>
                                        </p:tgtEl>
                                      </p:cBhvr>
                                    </p:animEffect>
                                    <p:anim calcmode="lin" valueType="num">
                                      <p:cBhvr>
                                        <p:cTn id="91"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92"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nodeType="clickEffect">
                                  <p:stCondLst>
                                    <p:cond delay="0"/>
                                  </p:stCondLst>
                                  <p:childTnLst>
                                    <p:set>
                                      <p:cBhvr>
                                        <p:cTn id="96" dur="1" fill="hold">
                                          <p:stCondLst>
                                            <p:cond delay="0"/>
                                          </p:stCondLst>
                                        </p:cTn>
                                        <p:tgtEl>
                                          <p:spTgt spid="9">
                                            <p:txEl>
                                              <p:pRg st="12" end="12"/>
                                            </p:txEl>
                                          </p:spTgt>
                                        </p:tgtEl>
                                        <p:attrNameLst>
                                          <p:attrName>style.visibility</p:attrName>
                                        </p:attrNameLst>
                                      </p:cBhvr>
                                      <p:to>
                                        <p:strVal val="visible"/>
                                      </p:to>
                                    </p:set>
                                    <p:animEffect transition="in" filter="fade">
                                      <p:cBhvr>
                                        <p:cTn id="97" dur="1000"/>
                                        <p:tgtEl>
                                          <p:spTgt spid="9">
                                            <p:txEl>
                                              <p:pRg st="12" end="12"/>
                                            </p:txEl>
                                          </p:spTgt>
                                        </p:tgtEl>
                                      </p:cBhvr>
                                    </p:animEffect>
                                    <p:anim calcmode="lin" valueType="num">
                                      <p:cBhvr>
                                        <p:cTn id="98" dur="1000" fill="hold"/>
                                        <p:tgtEl>
                                          <p:spTgt spid="9">
                                            <p:txEl>
                                              <p:pRg st="12" end="12"/>
                                            </p:txEl>
                                          </p:spTgt>
                                        </p:tgtEl>
                                        <p:attrNameLst>
                                          <p:attrName>ppt_x</p:attrName>
                                        </p:attrNameLst>
                                      </p:cBhvr>
                                      <p:tavLst>
                                        <p:tav tm="0">
                                          <p:val>
                                            <p:strVal val="#ppt_x"/>
                                          </p:val>
                                        </p:tav>
                                        <p:tav tm="100000">
                                          <p:val>
                                            <p:strVal val="#ppt_x"/>
                                          </p:val>
                                        </p:tav>
                                      </p:tavLst>
                                    </p:anim>
                                    <p:anim calcmode="lin" valueType="num">
                                      <p:cBhvr>
                                        <p:cTn id="99" dur="1000" fill="hold"/>
                                        <p:tgtEl>
                                          <p:spTgt spid="9">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14" name="AutoShape 14" descr="line connector"/>
          <p:cNvSpPr/>
          <p:nvPr/>
        </p:nvSpPr>
        <p:spPr>
          <a:xfrm rot="2206797">
            <a:off x="5533777" y="3134080"/>
            <a:ext cx="1084450" cy="0"/>
          </a:xfrm>
          <a:prstGeom prst="line">
            <a:avLst/>
          </a:prstGeom>
          <a:ln w="28575" cap="rnd">
            <a:gradFill>
              <a:gsLst>
                <a:gs pos="0">
                  <a:srgbClr val="FFF7AD">
                    <a:alpha val="100000"/>
                  </a:srgbClr>
                </a:gs>
                <a:gs pos="100000">
                  <a:srgbClr val="FFA9F9">
                    <a:alpha val="100000"/>
                  </a:srgbClr>
                </a:gs>
              </a:gsLst>
              <a:lin ang="0"/>
            </a:gradFill>
            <a:prstDash val="solid"/>
            <a:headEnd type="none" w="sm" len="sm"/>
            <a:tailEnd type="none" w="sm" len="sm"/>
          </a:ln>
        </p:spPr>
      </p:sp>
      <p:sp>
        <p:nvSpPr>
          <p:cNvPr id="7" name="AutoShape 7" descr="line connector"/>
          <p:cNvSpPr/>
          <p:nvPr/>
        </p:nvSpPr>
        <p:spPr>
          <a:xfrm>
            <a:off x="2867577" y="3100471"/>
            <a:ext cx="3642716" cy="506484"/>
          </a:xfrm>
          <a:prstGeom prst="line">
            <a:avLst/>
          </a:prstGeom>
          <a:ln w="28575" cap="rnd">
            <a:gradFill>
              <a:gsLst>
                <a:gs pos="0">
                  <a:srgbClr val="FFF7AD">
                    <a:alpha val="100000"/>
                  </a:srgbClr>
                </a:gs>
                <a:gs pos="100000">
                  <a:srgbClr val="FFA9F9">
                    <a:alpha val="100000"/>
                  </a:srgbClr>
                </a:gs>
              </a:gsLst>
              <a:lin ang="0"/>
            </a:gradFill>
            <a:prstDash val="solid"/>
            <a:headEnd type="none" w="sm" len="sm"/>
            <a:tailEnd type="none" w="sm" len="sm"/>
          </a:ln>
        </p:spPr>
      </p:sp>
      <p:sp>
        <p:nvSpPr>
          <p:cNvPr id="15" name="AutoShape 15" descr="line connector"/>
          <p:cNvSpPr/>
          <p:nvPr/>
        </p:nvSpPr>
        <p:spPr>
          <a:xfrm rot="-1011252">
            <a:off x="3804979" y="4336740"/>
            <a:ext cx="2797939" cy="0"/>
          </a:xfrm>
          <a:prstGeom prst="line">
            <a:avLst/>
          </a:prstGeom>
          <a:ln w="28575" cap="rnd">
            <a:gradFill>
              <a:gsLst>
                <a:gs pos="0">
                  <a:srgbClr val="FFF7AD">
                    <a:alpha val="100000"/>
                  </a:srgbClr>
                </a:gs>
                <a:gs pos="100000">
                  <a:srgbClr val="FFA9F9">
                    <a:alpha val="100000"/>
                  </a:srgbClr>
                </a:gs>
              </a:gsLst>
              <a:lin ang="0"/>
            </a:gradFill>
            <a:prstDash val="solid"/>
            <a:headEnd type="none" w="sm" len="sm"/>
            <a:tailEnd type="none" w="sm" len="sm"/>
          </a:ln>
        </p:spPr>
      </p:sp>
      <p:sp>
        <p:nvSpPr>
          <p:cNvPr id="2" name="AutoShape 2" descr="line connector"/>
          <p:cNvSpPr/>
          <p:nvPr/>
        </p:nvSpPr>
        <p:spPr>
          <a:xfrm flipV="1">
            <a:off x="4520844" y="4098396"/>
            <a:ext cx="2216052" cy="2540016"/>
          </a:xfrm>
          <a:prstGeom prst="line">
            <a:avLst/>
          </a:prstGeom>
          <a:ln w="28575" cap="rnd">
            <a:gradFill>
              <a:gsLst>
                <a:gs pos="0">
                  <a:srgbClr val="FFF7AD">
                    <a:alpha val="100000"/>
                  </a:srgbClr>
                </a:gs>
                <a:gs pos="100000">
                  <a:srgbClr val="FFA9F9">
                    <a:alpha val="100000"/>
                  </a:srgbClr>
                </a:gs>
              </a:gsLst>
              <a:lin ang="0"/>
            </a:gradFill>
            <a:prstDash val="solid"/>
            <a:headEnd type="none" w="sm" len="sm"/>
            <a:tailEnd type="none" w="sm" len="sm"/>
          </a:ln>
        </p:spPr>
      </p:sp>
      <p:sp>
        <p:nvSpPr>
          <p:cNvPr id="3" name="AutoShape 3" descr="line connector"/>
          <p:cNvSpPr/>
          <p:nvPr/>
        </p:nvSpPr>
        <p:spPr>
          <a:xfrm rot="-8313750">
            <a:off x="7621743" y="4517837"/>
            <a:ext cx="1821610" cy="0"/>
          </a:xfrm>
          <a:prstGeom prst="line">
            <a:avLst/>
          </a:prstGeom>
          <a:ln w="28575" cap="rnd">
            <a:gradFill>
              <a:gsLst>
                <a:gs pos="0">
                  <a:srgbClr val="004AAD">
                    <a:alpha val="100000"/>
                  </a:srgbClr>
                </a:gs>
                <a:gs pos="100000">
                  <a:srgbClr val="CB6CE6">
                    <a:alpha val="100000"/>
                  </a:srgbClr>
                </a:gs>
              </a:gsLst>
              <a:lin ang="0"/>
            </a:gradFill>
            <a:prstDash val="solid"/>
            <a:headEnd type="none" w="sm" len="sm"/>
            <a:tailEnd type="none" w="sm" len="sm"/>
          </a:ln>
        </p:spPr>
      </p:sp>
      <p:grpSp>
        <p:nvGrpSpPr>
          <p:cNvPr id="4" name="Group 4"/>
          <p:cNvGrpSpPr/>
          <p:nvPr/>
        </p:nvGrpSpPr>
        <p:grpSpPr>
          <a:xfrm>
            <a:off x="6320603" y="2683265"/>
            <a:ext cx="2253192" cy="2095500"/>
            <a:chOff x="0" y="0"/>
            <a:chExt cx="2794000" cy="2794000"/>
          </a:xfrm>
        </p:grpSpPr>
        <p:sp>
          <p:nvSpPr>
            <p:cNvPr id="5" name="Freeform 5"/>
            <p:cNvSpPr/>
            <p:nvPr/>
          </p:nvSpPr>
          <p:spPr>
            <a:xfrm>
              <a:off x="25400" y="25400"/>
              <a:ext cx="2743200" cy="2743200"/>
            </a:xfrm>
            <a:custGeom>
              <a:avLst/>
              <a:gdLst/>
              <a:ahLst/>
              <a:cxnLst/>
              <a:rect l="l" t="t" r="r" b="b"/>
              <a:pathLst>
                <a:path w="2743200" h="2743200">
                  <a:moveTo>
                    <a:pt x="0" y="1371600"/>
                  </a:moveTo>
                  <a:cubicBezTo>
                    <a:pt x="0" y="614045"/>
                    <a:pt x="614045" y="0"/>
                    <a:pt x="1371600" y="0"/>
                  </a:cubicBezTo>
                  <a:cubicBezTo>
                    <a:pt x="2129155" y="0"/>
                    <a:pt x="2743200" y="614045"/>
                    <a:pt x="2743200" y="1371600"/>
                  </a:cubicBezTo>
                  <a:cubicBezTo>
                    <a:pt x="2743200" y="2129155"/>
                    <a:pt x="2129155" y="2743200"/>
                    <a:pt x="1371600" y="2743200"/>
                  </a:cubicBezTo>
                  <a:cubicBezTo>
                    <a:pt x="614045" y="2743200"/>
                    <a:pt x="0" y="2129155"/>
                    <a:pt x="0" y="1371600"/>
                  </a:cubicBezTo>
                  <a:close/>
                </a:path>
              </a:pathLst>
            </a:custGeom>
            <a:gradFill rotWithShape="1">
              <a:gsLst>
                <a:gs pos="0">
                  <a:srgbClr val="004AAD">
                    <a:alpha val="100000"/>
                  </a:srgbClr>
                </a:gs>
                <a:gs pos="100000">
                  <a:srgbClr val="CB6CE6">
                    <a:alpha val="100000"/>
                  </a:srgbClr>
                </a:gs>
              </a:gsLst>
              <a:lin ang="0"/>
            </a:gradFill>
          </p:spPr>
        </p:sp>
        <p:sp>
          <p:nvSpPr>
            <p:cNvPr id="6" name="Freeform 6"/>
            <p:cNvSpPr/>
            <p:nvPr/>
          </p:nvSpPr>
          <p:spPr>
            <a:xfrm>
              <a:off x="0" y="0"/>
              <a:ext cx="2794000" cy="2794000"/>
            </a:xfrm>
            <a:custGeom>
              <a:avLst/>
              <a:gdLst/>
              <a:ahLst/>
              <a:cxnLst/>
              <a:rect l="l" t="t" r="r" b="b"/>
              <a:pathLst>
                <a:path w="2794000" h="2794000">
                  <a:moveTo>
                    <a:pt x="0" y="1397000"/>
                  </a:moveTo>
                  <a:cubicBezTo>
                    <a:pt x="0" y="625475"/>
                    <a:pt x="625475" y="0"/>
                    <a:pt x="1397000" y="0"/>
                  </a:cubicBezTo>
                  <a:lnTo>
                    <a:pt x="1397000" y="25400"/>
                  </a:lnTo>
                  <a:lnTo>
                    <a:pt x="1397000" y="0"/>
                  </a:lnTo>
                  <a:cubicBezTo>
                    <a:pt x="2168525" y="0"/>
                    <a:pt x="2794000" y="625475"/>
                    <a:pt x="2794000" y="1397000"/>
                  </a:cubicBezTo>
                  <a:lnTo>
                    <a:pt x="2768600" y="1397000"/>
                  </a:lnTo>
                  <a:lnTo>
                    <a:pt x="2794000" y="1397000"/>
                  </a:lnTo>
                  <a:cubicBezTo>
                    <a:pt x="2794000" y="2168525"/>
                    <a:pt x="2168525" y="2794000"/>
                    <a:pt x="1397000" y="2794000"/>
                  </a:cubicBezTo>
                  <a:lnTo>
                    <a:pt x="1397000" y="2768600"/>
                  </a:lnTo>
                  <a:lnTo>
                    <a:pt x="1397000" y="2794000"/>
                  </a:lnTo>
                  <a:cubicBezTo>
                    <a:pt x="625475" y="2794000"/>
                    <a:pt x="0" y="2168525"/>
                    <a:pt x="0" y="1397000"/>
                  </a:cubicBezTo>
                  <a:lnTo>
                    <a:pt x="25400" y="1397000"/>
                  </a:lnTo>
                  <a:lnTo>
                    <a:pt x="50800" y="1397000"/>
                  </a:lnTo>
                  <a:lnTo>
                    <a:pt x="25400" y="1397000"/>
                  </a:lnTo>
                  <a:lnTo>
                    <a:pt x="0" y="1397000"/>
                  </a:lnTo>
                  <a:moveTo>
                    <a:pt x="50800" y="1397000"/>
                  </a:moveTo>
                  <a:cubicBezTo>
                    <a:pt x="50800" y="1410970"/>
                    <a:pt x="39370" y="1422400"/>
                    <a:pt x="25400" y="1422400"/>
                  </a:cubicBezTo>
                  <a:cubicBezTo>
                    <a:pt x="11430" y="1422400"/>
                    <a:pt x="0" y="1410970"/>
                    <a:pt x="0" y="1397000"/>
                  </a:cubicBezTo>
                  <a:cubicBezTo>
                    <a:pt x="0" y="1383030"/>
                    <a:pt x="11430" y="1371600"/>
                    <a:pt x="25400" y="1371600"/>
                  </a:cubicBezTo>
                  <a:cubicBezTo>
                    <a:pt x="39370" y="1371600"/>
                    <a:pt x="50800" y="1383030"/>
                    <a:pt x="50800" y="1397000"/>
                  </a:cubicBezTo>
                  <a:cubicBezTo>
                    <a:pt x="50800" y="2140458"/>
                    <a:pt x="653542" y="2743200"/>
                    <a:pt x="1397000" y="2743200"/>
                  </a:cubicBezTo>
                  <a:cubicBezTo>
                    <a:pt x="2140458" y="2743200"/>
                    <a:pt x="2743200" y="2140458"/>
                    <a:pt x="2743200" y="1397000"/>
                  </a:cubicBezTo>
                  <a:cubicBezTo>
                    <a:pt x="2743200" y="653542"/>
                    <a:pt x="2140458" y="50800"/>
                    <a:pt x="1397000" y="50800"/>
                  </a:cubicBezTo>
                  <a:lnTo>
                    <a:pt x="1397000" y="25400"/>
                  </a:lnTo>
                  <a:lnTo>
                    <a:pt x="1397000" y="50800"/>
                  </a:lnTo>
                  <a:cubicBezTo>
                    <a:pt x="653542" y="50800"/>
                    <a:pt x="50800" y="653542"/>
                    <a:pt x="50800" y="1397000"/>
                  </a:cubicBezTo>
                  <a:close/>
                </a:path>
              </a:pathLst>
            </a:custGeom>
            <a:gradFill rotWithShape="1">
              <a:gsLst>
                <a:gs pos="0">
                  <a:srgbClr val="FFF7AD">
                    <a:alpha val="100000"/>
                  </a:srgbClr>
                </a:gs>
                <a:gs pos="100000">
                  <a:srgbClr val="FFA9F9">
                    <a:alpha val="100000"/>
                  </a:srgbClr>
                </a:gs>
              </a:gsLst>
              <a:lin ang="0"/>
            </a:gradFill>
          </p:spPr>
        </p:sp>
      </p:grpSp>
      <p:sp>
        <p:nvSpPr>
          <p:cNvPr id="8" name="AutoShape 8" descr="line connector"/>
          <p:cNvSpPr/>
          <p:nvPr/>
        </p:nvSpPr>
        <p:spPr>
          <a:xfrm flipH="1" flipV="1">
            <a:off x="11555889" y="4424829"/>
            <a:ext cx="3554521" cy="1424199"/>
          </a:xfrm>
          <a:prstGeom prst="line">
            <a:avLst/>
          </a:prstGeom>
          <a:ln w="28575" cap="rnd">
            <a:gradFill>
              <a:gsLst>
                <a:gs pos="0">
                  <a:srgbClr val="8C52FF">
                    <a:alpha val="100000"/>
                  </a:srgbClr>
                </a:gs>
                <a:gs pos="100000">
                  <a:srgbClr val="00BF63">
                    <a:alpha val="100000"/>
                  </a:srgbClr>
                </a:gs>
              </a:gsLst>
              <a:lin ang="0"/>
            </a:gradFill>
            <a:prstDash val="solid"/>
            <a:headEnd type="none" w="sm" len="sm"/>
            <a:tailEnd type="none" w="sm" len="sm"/>
          </a:ln>
        </p:spPr>
      </p:sp>
      <p:sp>
        <p:nvSpPr>
          <p:cNvPr id="9" name="AutoShape 9" descr="line connector"/>
          <p:cNvSpPr/>
          <p:nvPr/>
        </p:nvSpPr>
        <p:spPr>
          <a:xfrm flipH="1">
            <a:off x="6722621" y="7406109"/>
            <a:ext cx="3286126" cy="984586"/>
          </a:xfrm>
          <a:prstGeom prst="line">
            <a:avLst/>
          </a:prstGeom>
          <a:ln w="28575" cap="rnd">
            <a:gradFill>
              <a:gsLst>
                <a:gs pos="0">
                  <a:srgbClr val="FF3131">
                    <a:alpha val="100000"/>
                  </a:srgbClr>
                </a:gs>
                <a:gs pos="100000">
                  <a:srgbClr val="FF914D">
                    <a:alpha val="100000"/>
                  </a:srgbClr>
                </a:gs>
              </a:gsLst>
              <a:lin ang="0"/>
            </a:gradFill>
            <a:prstDash val="solid"/>
            <a:headEnd type="none" w="sm" len="sm"/>
            <a:tailEnd type="none" w="sm" len="sm"/>
          </a:ln>
        </p:spPr>
      </p:sp>
      <p:sp>
        <p:nvSpPr>
          <p:cNvPr id="10" name="AutoShape 10" descr="line connector"/>
          <p:cNvSpPr/>
          <p:nvPr/>
        </p:nvSpPr>
        <p:spPr>
          <a:xfrm flipH="1">
            <a:off x="11834037" y="2267413"/>
            <a:ext cx="4043542" cy="1330849"/>
          </a:xfrm>
          <a:prstGeom prst="line">
            <a:avLst/>
          </a:prstGeom>
          <a:ln w="28575" cap="rnd">
            <a:gradFill>
              <a:gsLst>
                <a:gs pos="0">
                  <a:srgbClr val="8C52FF">
                    <a:alpha val="100000"/>
                  </a:srgbClr>
                </a:gs>
                <a:gs pos="100000">
                  <a:srgbClr val="00BF63">
                    <a:alpha val="100000"/>
                  </a:srgbClr>
                </a:gs>
              </a:gsLst>
              <a:lin ang="0"/>
            </a:gradFill>
            <a:prstDash val="solid"/>
            <a:headEnd type="none" w="sm" len="sm"/>
            <a:tailEnd type="none" w="sm" len="sm"/>
          </a:ln>
        </p:spPr>
      </p:sp>
      <p:sp>
        <p:nvSpPr>
          <p:cNvPr id="11" name="AutoShape 11" descr="line connector"/>
          <p:cNvSpPr/>
          <p:nvPr/>
        </p:nvSpPr>
        <p:spPr>
          <a:xfrm rot="-10480297">
            <a:off x="11293871" y="4154217"/>
            <a:ext cx="5318814" cy="0"/>
          </a:xfrm>
          <a:prstGeom prst="line">
            <a:avLst/>
          </a:prstGeom>
          <a:ln w="28575" cap="rnd">
            <a:gradFill>
              <a:gsLst>
                <a:gs pos="0">
                  <a:srgbClr val="8C52FF">
                    <a:alpha val="100000"/>
                  </a:srgbClr>
                </a:gs>
                <a:gs pos="100000">
                  <a:srgbClr val="00BF63">
                    <a:alpha val="100000"/>
                  </a:srgbClr>
                </a:gs>
              </a:gsLst>
              <a:lin ang="0"/>
            </a:gradFill>
            <a:prstDash val="solid"/>
            <a:headEnd type="none" w="sm" len="sm"/>
            <a:tailEnd type="none" w="sm" len="sm"/>
          </a:ln>
        </p:spPr>
      </p:sp>
      <p:sp>
        <p:nvSpPr>
          <p:cNvPr id="12" name="AutoShape 12" descr="line connector"/>
          <p:cNvSpPr/>
          <p:nvPr/>
        </p:nvSpPr>
        <p:spPr>
          <a:xfrm>
            <a:off x="9342240" y="6256424"/>
            <a:ext cx="1531993" cy="606709"/>
          </a:xfrm>
          <a:prstGeom prst="line">
            <a:avLst/>
          </a:prstGeom>
          <a:ln w="28575" cap="rnd">
            <a:gradFill>
              <a:gsLst>
                <a:gs pos="0">
                  <a:srgbClr val="004AAD">
                    <a:alpha val="100000"/>
                  </a:srgbClr>
                </a:gs>
                <a:gs pos="100000">
                  <a:srgbClr val="CB6CE6">
                    <a:alpha val="100000"/>
                  </a:srgbClr>
                </a:gs>
              </a:gsLst>
              <a:lin ang="0"/>
            </a:gradFill>
            <a:prstDash val="solid"/>
            <a:headEnd type="none" w="sm" len="sm"/>
            <a:tailEnd type="none" w="sm" len="sm"/>
          </a:ln>
        </p:spPr>
      </p:sp>
      <p:sp>
        <p:nvSpPr>
          <p:cNvPr id="13" name="AutoShape 13" descr="line connector"/>
          <p:cNvSpPr/>
          <p:nvPr/>
        </p:nvSpPr>
        <p:spPr>
          <a:xfrm rot="8320560">
            <a:off x="9066800" y="4497044"/>
            <a:ext cx="1888689" cy="0"/>
          </a:xfrm>
          <a:prstGeom prst="line">
            <a:avLst/>
          </a:prstGeom>
          <a:ln w="28575" cap="rnd">
            <a:gradFill>
              <a:gsLst>
                <a:gs pos="0">
                  <a:srgbClr val="004AAD">
                    <a:alpha val="100000"/>
                  </a:srgbClr>
                </a:gs>
                <a:gs pos="100000">
                  <a:srgbClr val="CB6CE6">
                    <a:alpha val="100000"/>
                  </a:srgbClr>
                </a:gs>
              </a:gsLst>
              <a:lin ang="0"/>
            </a:gradFill>
            <a:prstDash val="solid"/>
            <a:headEnd type="none" w="sm" len="sm"/>
            <a:tailEnd type="none" w="sm" len="sm"/>
          </a:ln>
        </p:spPr>
      </p:sp>
      <p:sp>
        <p:nvSpPr>
          <p:cNvPr id="16" name="AutoShape 16" descr="line connector"/>
          <p:cNvSpPr/>
          <p:nvPr/>
        </p:nvSpPr>
        <p:spPr>
          <a:xfrm flipH="1">
            <a:off x="11809439" y="1032794"/>
            <a:ext cx="2273889" cy="2027478"/>
          </a:xfrm>
          <a:prstGeom prst="line">
            <a:avLst/>
          </a:prstGeom>
          <a:ln w="28575" cap="rnd">
            <a:gradFill>
              <a:gsLst>
                <a:gs pos="0">
                  <a:srgbClr val="8C52FF">
                    <a:alpha val="100000"/>
                  </a:srgbClr>
                </a:gs>
                <a:gs pos="100000">
                  <a:srgbClr val="00BF63">
                    <a:alpha val="100000"/>
                  </a:srgbClr>
                </a:gs>
              </a:gsLst>
              <a:lin ang="0"/>
            </a:gradFill>
            <a:prstDash val="solid"/>
            <a:headEnd type="none" w="sm" len="sm"/>
            <a:tailEnd type="none" w="sm" len="sm"/>
          </a:ln>
        </p:spPr>
      </p:sp>
      <p:sp>
        <p:nvSpPr>
          <p:cNvPr id="17" name="AutoShape 17" descr="line connector"/>
          <p:cNvSpPr/>
          <p:nvPr/>
        </p:nvSpPr>
        <p:spPr>
          <a:xfrm flipH="1" flipV="1">
            <a:off x="12044508" y="7431976"/>
            <a:ext cx="2204735" cy="1306477"/>
          </a:xfrm>
          <a:prstGeom prst="line">
            <a:avLst/>
          </a:prstGeom>
          <a:ln w="28575" cap="rnd">
            <a:gradFill>
              <a:gsLst>
                <a:gs pos="0">
                  <a:srgbClr val="FF3131">
                    <a:alpha val="100000"/>
                  </a:srgbClr>
                </a:gs>
                <a:gs pos="100000">
                  <a:srgbClr val="FF914D">
                    <a:alpha val="100000"/>
                  </a:srgbClr>
                </a:gs>
              </a:gsLst>
              <a:lin ang="0"/>
            </a:gradFill>
            <a:prstDash val="solid"/>
            <a:headEnd type="none" w="sm" len="sm"/>
            <a:tailEnd type="none" w="sm" len="sm"/>
          </a:ln>
        </p:spPr>
      </p:sp>
      <p:sp>
        <p:nvSpPr>
          <p:cNvPr id="18" name="AutoShape 18" descr="line connector"/>
          <p:cNvSpPr/>
          <p:nvPr/>
        </p:nvSpPr>
        <p:spPr>
          <a:xfrm rot="-7762096">
            <a:off x="11311856" y="8704160"/>
            <a:ext cx="873121" cy="0"/>
          </a:xfrm>
          <a:prstGeom prst="line">
            <a:avLst/>
          </a:prstGeom>
          <a:ln w="28575" cap="rnd">
            <a:gradFill>
              <a:gsLst>
                <a:gs pos="0">
                  <a:srgbClr val="FF3131">
                    <a:alpha val="100000"/>
                  </a:srgbClr>
                </a:gs>
                <a:gs pos="100000">
                  <a:srgbClr val="FF914D">
                    <a:alpha val="100000"/>
                  </a:srgbClr>
                </a:gs>
              </a:gsLst>
              <a:lin ang="0"/>
            </a:gradFill>
            <a:prstDash val="solid"/>
            <a:headEnd type="none" w="sm" len="sm"/>
            <a:tailEnd type="none" w="sm" len="sm"/>
          </a:ln>
        </p:spPr>
      </p:sp>
      <p:grpSp>
        <p:nvGrpSpPr>
          <p:cNvPr id="19" name="Group 19"/>
          <p:cNvGrpSpPr/>
          <p:nvPr/>
        </p:nvGrpSpPr>
        <p:grpSpPr>
          <a:xfrm>
            <a:off x="6320676" y="3335300"/>
            <a:ext cx="2410739" cy="1089529"/>
            <a:chOff x="0" y="0"/>
            <a:chExt cx="3214319" cy="1452705"/>
          </a:xfrm>
        </p:grpSpPr>
        <p:sp>
          <p:nvSpPr>
            <p:cNvPr id="20" name="Freeform 20"/>
            <p:cNvSpPr/>
            <p:nvPr/>
          </p:nvSpPr>
          <p:spPr>
            <a:xfrm>
              <a:off x="0" y="0"/>
              <a:ext cx="3214319" cy="1452705"/>
            </a:xfrm>
            <a:custGeom>
              <a:avLst/>
              <a:gdLst/>
              <a:ahLst/>
              <a:cxnLst/>
              <a:rect l="l" t="t" r="r" b="b"/>
              <a:pathLst>
                <a:path w="3214319" h="1452705">
                  <a:moveTo>
                    <a:pt x="0" y="0"/>
                  </a:moveTo>
                  <a:lnTo>
                    <a:pt x="3214319" y="0"/>
                  </a:lnTo>
                  <a:lnTo>
                    <a:pt x="3214319" y="1452705"/>
                  </a:lnTo>
                  <a:lnTo>
                    <a:pt x="0" y="1452705"/>
                  </a:lnTo>
                  <a:close/>
                </a:path>
              </a:pathLst>
            </a:custGeom>
            <a:solidFill>
              <a:srgbClr val="000000">
                <a:alpha val="0"/>
              </a:srgbClr>
            </a:solidFill>
          </p:spPr>
        </p:sp>
        <p:sp>
          <p:nvSpPr>
            <p:cNvPr id="21" name="TextBox 21"/>
            <p:cNvSpPr txBox="1"/>
            <p:nvPr/>
          </p:nvSpPr>
          <p:spPr>
            <a:xfrm>
              <a:off x="0" y="-19050"/>
              <a:ext cx="3214319" cy="1471755"/>
            </a:xfrm>
            <a:prstGeom prst="rect">
              <a:avLst/>
            </a:prstGeom>
          </p:spPr>
          <p:txBody>
            <a:bodyPr lIns="0" tIns="0" rIns="0" bIns="0" rtlCol="0" anchor="t"/>
            <a:lstStyle/>
            <a:p>
              <a:pPr algn="ctr">
                <a:lnSpc>
                  <a:spcPts val="1944"/>
                </a:lnSpc>
              </a:pPr>
              <a:r>
                <a:rPr lang="en-US" sz="1800" b="1" dirty="0">
                  <a:solidFill>
                    <a:srgbClr val="F4F6FC"/>
                  </a:solidFill>
                  <a:latin typeface="Calibri (MS) Bold"/>
                  <a:ea typeface="Calibri (MS) Bold"/>
                  <a:cs typeface="Calibri (MS) Bold"/>
                  <a:sym typeface="Calibri (MS) Bold"/>
                </a:rPr>
                <a:t>PAYROLL CONFIGURATION AND EMPLOYEE SETUP</a:t>
              </a:r>
            </a:p>
          </p:txBody>
        </p:sp>
      </p:grpSp>
      <p:grpSp>
        <p:nvGrpSpPr>
          <p:cNvPr id="22" name="Group 22"/>
          <p:cNvGrpSpPr/>
          <p:nvPr/>
        </p:nvGrpSpPr>
        <p:grpSpPr>
          <a:xfrm>
            <a:off x="8142082" y="4267910"/>
            <a:ext cx="2311755" cy="2368602"/>
            <a:chOff x="0" y="0"/>
            <a:chExt cx="3261468" cy="3261468"/>
          </a:xfrm>
        </p:grpSpPr>
        <p:sp>
          <p:nvSpPr>
            <p:cNvPr id="23" name="Freeform 23" descr="oval shape"/>
            <p:cNvSpPr/>
            <p:nvPr/>
          </p:nvSpPr>
          <p:spPr>
            <a:xfrm>
              <a:off x="0" y="0"/>
              <a:ext cx="3261360" cy="3261360"/>
            </a:xfrm>
            <a:custGeom>
              <a:avLst/>
              <a:gdLst/>
              <a:ahLst/>
              <a:cxnLst/>
              <a:rect l="l" t="t" r="r" b="b"/>
              <a:pathLst>
                <a:path w="3261360" h="3261360">
                  <a:moveTo>
                    <a:pt x="0" y="1630680"/>
                  </a:moveTo>
                  <a:cubicBezTo>
                    <a:pt x="0" y="730123"/>
                    <a:pt x="730123" y="0"/>
                    <a:pt x="1630680" y="0"/>
                  </a:cubicBezTo>
                  <a:cubicBezTo>
                    <a:pt x="2531237" y="0"/>
                    <a:pt x="3261360" y="730123"/>
                    <a:pt x="3261360" y="1630680"/>
                  </a:cubicBezTo>
                  <a:cubicBezTo>
                    <a:pt x="3261360" y="2531237"/>
                    <a:pt x="2531237" y="3261360"/>
                    <a:pt x="1630680" y="3261360"/>
                  </a:cubicBezTo>
                  <a:cubicBezTo>
                    <a:pt x="730123" y="3261360"/>
                    <a:pt x="0" y="2531364"/>
                    <a:pt x="0" y="1630680"/>
                  </a:cubicBezTo>
                  <a:close/>
                </a:path>
              </a:pathLst>
            </a:custGeom>
            <a:gradFill rotWithShape="1">
              <a:gsLst>
                <a:gs pos="0">
                  <a:srgbClr val="004AAD">
                    <a:alpha val="100000"/>
                  </a:srgbClr>
                </a:gs>
                <a:gs pos="100000">
                  <a:srgbClr val="CB6CE6">
                    <a:alpha val="100000"/>
                  </a:srgbClr>
                </a:gs>
              </a:gsLst>
              <a:lin ang="0"/>
            </a:gradFill>
          </p:spPr>
        </p:sp>
      </p:grpSp>
      <p:grpSp>
        <p:nvGrpSpPr>
          <p:cNvPr id="24" name="Group 24"/>
          <p:cNvGrpSpPr/>
          <p:nvPr/>
        </p:nvGrpSpPr>
        <p:grpSpPr>
          <a:xfrm>
            <a:off x="8013769" y="5037361"/>
            <a:ext cx="2614467" cy="1094402"/>
            <a:chOff x="0" y="0"/>
            <a:chExt cx="3485956" cy="1459203"/>
          </a:xfrm>
        </p:grpSpPr>
        <p:sp>
          <p:nvSpPr>
            <p:cNvPr id="25" name="Freeform 25"/>
            <p:cNvSpPr/>
            <p:nvPr/>
          </p:nvSpPr>
          <p:spPr>
            <a:xfrm>
              <a:off x="0" y="0"/>
              <a:ext cx="3485956" cy="1459203"/>
            </a:xfrm>
            <a:custGeom>
              <a:avLst/>
              <a:gdLst/>
              <a:ahLst/>
              <a:cxnLst/>
              <a:rect l="l" t="t" r="r" b="b"/>
              <a:pathLst>
                <a:path w="3485956" h="1459203">
                  <a:moveTo>
                    <a:pt x="0" y="0"/>
                  </a:moveTo>
                  <a:lnTo>
                    <a:pt x="3485956" y="0"/>
                  </a:lnTo>
                  <a:lnTo>
                    <a:pt x="3485956" y="1459203"/>
                  </a:lnTo>
                  <a:lnTo>
                    <a:pt x="0" y="1459203"/>
                  </a:lnTo>
                  <a:close/>
                </a:path>
              </a:pathLst>
            </a:custGeom>
            <a:solidFill>
              <a:srgbClr val="000000">
                <a:alpha val="0"/>
              </a:srgbClr>
            </a:solidFill>
          </p:spPr>
        </p:sp>
        <p:sp>
          <p:nvSpPr>
            <p:cNvPr id="26" name="TextBox 26"/>
            <p:cNvSpPr txBox="1"/>
            <p:nvPr/>
          </p:nvSpPr>
          <p:spPr>
            <a:xfrm>
              <a:off x="0" y="19050"/>
              <a:ext cx="3485956" cy="1440153"/>
            </a:xfrm>
            <a:prstGeom prst="rect">
              <a:avLst/>
            </a:prstGeom>
          </p:spPr>
          <p:txBody>
            <a:bodyPr lIns="0" tIns="0" rIns="0" bIns="0" rtlCol="0" anchor="t"/>
            <a:lstStyle/>
            <a:p>
              <a:pPr algn="ctr">
                <a:lnSpc>
                  <a:spcPts val="1944"/>
                </a:lnSpc>
              </a:pPr>
              <a:r>
                <a:rPr lang="en-US" sz="1800" b="1" dirty="0">
                  <a:solidFill>
                    <a:srgbClr val="F4F6FC"/>
                  </a:solidFill>
                  <a:latin typeface="Now Bold"/>
                  <a:ea typeface="Now Bold"/>
                  <a:cs typeface="Now Bold"/>
                  <a:sym typeface="Now Bold"/>
                </a:rPr>
                <a:t>PAYROLL AND MANAGEMENT PROCESSINGIN  ORACLE ERP</a:t>
              </a:r>
            </a:p>
          </p:txBody>
        </p:sp>
      </p:grpSp>
      <p:grpSp>
        <p:nvGrpSpPr>
          <p:cNvPr id="27" name="Group 27"/>
          <p:cNvGrpSpPr/>
          <p:nvPr/>
        </p:nvGrpSpPr>
        <p:grpSpPr>
          <a:xfrm>
            <a:off x="3780942" y="6638412"/>
            <a:ext cx="2069691" cy="592421"/>
            <a:chOff x="0" y="0"/>
            <a:chExt cx="2759588" cy="789894"/>
          </a:xfrm>
        </p:grpSpPr>
        <p:sp>
          <p:nvSpPr>
            <p:cNvPr id="28" name="Freeform 28"/>
            <p:cNvSpPr/>
            <p:nvPr/>
          </p:nvSpPr>
          <p:spPr>
            <a:xfrm>
              <a:off x="0" y="0"/>
              <a:ext cx="2759588" cy="789894"/>
            </a:xfrm>
            <a:custGeom>
              <a:avLst/>
              <a:gdLst/>
              <a:ahLst/>
              <a:cxnLst/>
              <a:rect l="l" t="t" r="r" b="b"/>
              <a:pathLst>
                <a:path w="2759588" h="789894">
                  <a:moveTo>
                    <a:pt x="0" y="0"/>
                  </a:moveTo>
                  <a:lnTo>
                    <a:pt x="2759588" y="0"/>
                  </a:lnTo>
                  <a:lnTo>
                    <a:pt x="2759588" y="789894"/>
                  </a:lnTo>
                  <a:lnTo>
                    <a:pt x="0" y="789894"/>
                  </a:lnTo>
                  <a:close/>
                </a:path>
              </a:pathLst>
            </a:custGeom>
            <a:solidFill>
              <a:srgbClr val="000000">
                <a:alpha val="0"/>
              </a:srgbClr>
            </a:solidFill>
          </p:spPr>
        </p:sp>
        <p:sp>
          <p:nvSpPr>
            <p:cNvPr id="29" name="TextBox 29"/>
            <p:cNvSpPr txBox="1"/>
            <p:nvPr/>
          </p:nvSpPr>
          <p:spPr>
            <a:xfrm>
              <a:off x="0" y="-19050"/>
              <a:ext cx="2759588" cy="808944"/>
            </a:xfrm>
            <a:prstGeom prst="rect">
              <a:avLst/>
            </a:prstGeom>
          </p:spPr>
          <p:txBody>
            <a:bodyPr lIns="0" tIns="0" rIns="0" bIns="0" rtlCol="0" anchor="t"/>
            <a:lstStyle/>
            <a:p>
              <a:pPr algn="ctr">
                <a:lnSpc>
                  <a:spcPts val="1944"/>
                </a:lnSpc>
              </a:pPr>
              <a:endParaRPr/>
            </a:p>
          </p:txBody>
        </p:sp>
      </p:grpSp>
      <p:grpSp>
        <p:nvGrpSpPr>
          <p:cNvPr id="30" name="Group 30"/>
          <p:cNvGrpSpPr/>
          <p:nvPr/>
        </p:nvGrpSpPr>
        <p:grpSpPr>
          <a:xfrm>
            <a:off x="1028700" y="1881585"/>
            <a:ext cx="2062801" cy="2062801"/>
            <a:chOff x="0" y="0"/>
            <a:chExt cx="2340527" cy="2340527"/>
          </a:xfrm>
        </p:grpSpPr>
        <p:sp>
          <p:nvSpPr>
            <p:cNvPr id="31" name="Freeform 31" descr="oval shape"/>
            <p:cNvSpPr/>
            <p:nvPr/>
          </p:nvSpPr>
          <p:spPr>
            <a:xfrm>
              <a:off x="25400" y="25400"/>
              <a:ext cx="2289810" cy="2289810"/>
            </a:xfrm>
            <a:custGeom>
              <a:avLst/>
              <a:gdLst/>
              <a:ahLst/>
              <a:cxnLst/>
              <a:rect l="l" t="t" r="r" b="b"/>
              <a:pathLst>
                <a:path w="2289810" h="2289810">
                  <a:moveTo>
                    <a:pt x="0" y="1144905"/>
                  </a:moveTo>
                  <a:cubicBezTo>
                    <a:pt x="0" y="512572"/>
                    <a:pt x="512572" y="0"/>
                    <a:pt x="1144905" y="0"/>
                  </a:cubicBezTo>
                  <a:cubicBezTo>
                    <a:pt x="1777238" y="0"/>
                    <a:pt x="2289810" y="512572"/>
                    <a:pt x="2289810" y="1144905"/>
                  </a:cubicBezTo>
                  <a:cubicBezTo>
                    <a:pt x="2289810" y="1777238"/>
                    <a:pt x="1777238" y="2289810"/>
                    <a:pt x="1144905" y="2289810"/>
                  </a:cubicBezTo>
                  <a:cubicBezTo>
                    <a:pt x="512572" y="2289810"/>
                    <a:pt x="0" y="1777111"/>
                    <a:pt x="0" y="1144905"/>
                  </a:cubicBezTo>
                  <a:close/>
                </a:path>
              </a:pathLst>
            </a:custGeom>
            <a:gradFill rotWithShape="1">
              <a:gsLst>
                <a:gs pos="0">
                  <a:srgbClr val="004AAD">
                    <a:alpha val="100000"/>
                  </a:srgbClr>
                </a:gs>
                <a:gs pos="100000">
                  <a:srgbClr val="CB6CE6">
                    <a:alpha val="100000"/>
                  </a:srgbClr>
                </a:gs>
              </a:gsLst>
              <a:lin ang="0"/>
            </a:gradFill>
          </p:spPr>
        </p:sp>
        <p:sp>
          <p:nvSpPr>
            <p:cNvPr id="32" name="Freeform 32" descr="oval shape"/>
            <p:cNvSpPr/>
            <p:nvPr/>
          </p:nvSpPr>
          <p:spPr>
            <a:xfrm>
              <a:off x="0" y="0"/>
              <a:ext cx="2340610" cy="2340610"/>
            </a:xfrm>
            <a:custGeom>
              <a:avLst/>
              <a:gdLst/>
              <a:ahLst/>
              <a:cxnLst/>
              <a:rect l="l" t="t" r="r" b="b"/>
              <a:pathLst>
                <a:path w="2340610" h="2340610">
                  <a:moveTo>
                    <a:pt x="0" y="1170305"/>
                  </a:moveTo>
                  <a:cubicBezTo>
                    <a:pt x="0" y="524002"/>
                    <a:pt x="524002" y="0"/>
                    <a:pt x="1170305" y="0"/>
                  </a:cubicBezTo>
                  <a:lnTo>
                    <a:pt x="1170305" y="25400"/>
                  </a:lnTo>
                  <a:lnTo>
                    <a:pt x="1170305" y="0"/>
                  </a:lnTo>
                  <a:cubicBezTo>
                    <a:pt x="1816608" y="0"/>
                    <a:pt x="2340610" y="524002"/>
                    <a:pt x="2340610" y="1170305"/>
                  </a:cubicBezTo>
                  <a:lnTo>
                    <a:pt x="2315210" y="1170305"/>
                  </a:lnTo>
                  <a:lnTo>
                    <a:pt x="2340610" y="1170305"/>
                  </a:lnTo>
                  <a:cubicBezTo>
                    <a:pt x="2340610" y="1816608"/>
                    <a:pt x="1816608" y="2340610"/>
                    <a:pt x="1170305" y="2340610"/>
                  </a:cubicBezTo>
                  <a:lnTo>
                    <a:pt x="1170305" y="2315210"/>
                  </a:lnTo>
                  <a:lnTo>
                    <a:pt x="1170305" y="2340610"/>
                  </a:lnTo>
                  <a:cubicBezTo>
                    <a:pt x="524002" y="2340483"/>
                    <a:pt x="0" y="1816608"/>
                    <a:pt x="0" y="1170305"/>
                  </a:cubicBezTo>
                  <a:lnTo>
                    <a:pt x="25400" y="1170305"/>
                  </a:lnTo>
                  <a:lnTo>
                    <a:pt x="50800" y="1170305"/>
                  </a:lnTo>
                  <a:lnTo>
                    <a:pt x="25400" y="1170305"/>
                  </a:lnTo>
                  <a:lnTo>
                    <a:pt x="0" y="1170305"/>
                  </a:lnTo>
                  <a:moveTo>
                    <a:pt x="50800" y="1170305"/>
                  </a:moveTo>
                  <a:cubicBezTo>
                    <a:pt x="50800" y="1184275"/>
                    <a:pt x="39370" y="1195705"/>
                    <a:pt x="25400" y="1195705"/>
                  </a:cubicBezTo>
                  <a:cubicBezTo>
                    <a:pt x="11430" y="1195705"/>
                    <a:pt x="0" y="1184275"/>
                    <a:pt x="0" y="1170305"/>
                  </a:cubicBezTo>
                  <a:cubicBezTo>
                    <a:pt x="0" y="1156335"/>
                    <a:pt x="11430" y="1144905"/>
                    <a:pt x="25400" y="1144905"/>
                  </a:cubicBezTo>
                  <a:cubicBezTo>
                    <a:pt x="39370" y="1144905"/>
                    <a:pt x="50800" y="1156335"/>
                    <a:pt x="50800" y="1170305"/>
                  </a:cubicBezTo>
                  <a:cubicBezTo>
                    <a:pt x="50800" y="1788541"/>
                    <a:pt x="551942" y="2289810"/>
                    <a:pt x="1170305" y="2289810"/>
                  </a:cubicBezTo>
                  <a:cubicBezTo>
                    <a:pt x="1788668" y="2289810"/>
                    <a:pt x="2289810" y="1788668"/>
                    <a:pt x="2289810" y="1170305"/>
                  </a:cubicBezTo>
                  <a:cubicBezTo>
                    <a:pt x="2289810" y="551942"/>
                    <a:pt x="1788541" y="50800"/>
                    <a:pt x="1170305" y="50800"/>
                  </a:cubicBezTo>
                  <a:lnTo>
                    <a:pt x="1170305" y="25400"/>
                  </a:lnTo>
                  <a:lnTo>
                    <a:pt x="1170305" y="50800"/>
                  </a:lnTo>
                  <a:cubicBezTo>
                    <a:pt x="551942" y="50800"/>
                    <a:pt x="50800" y="551942"/>
                    <a:pt x="50800" y="1170305"/>
                  </a:cubicBezTo>
                  <a:close/>
                </a:path>
              </a:pathLst>
            </a:custGeom>
            <a:gradFill rotWithShape="1">
              <a:gsLst>
                <a:gs pos="0">
                  <a:srgbClr val="FFF7AD">
                    <a:alpha val="100000"/>
                  </a:srgbClr>
                </a:gs>
                <a:gs pos="100000">
                  <a:srgbClr val="FFA9F9">
                    <a:alpha val="100000"/>
                  </a:srgbClr>
                </a:gs>
              </a:gsLst>
              <a:lin ang="0"/>
            </a:gradFill>
          </p:spPr>
        </p:sp>
        <p:sp>
          <p:nvSpPr>
            <p:cNvPr id="33" name="TextBox 33"/>
            <p:cNvSpPr txBox="1"/>
            <p:nvPr/>
          </p:nvSpPr>
          <p:spPr>
            <a:xfrm>
              <a:off x="0" y="-19050"/>
              <a:ext cx="2340527" cy="2359577"/>
            </a:xfrm>
            <a:prstGeom prst="rect">
              <a:avLst/>
            </a:prstGeom>
          </p:spPr>
          <p:txBody>
            <a:bodyPr lIns="59696" tIns="59696" rIns="59696" bIns="59696" rtlCol="0" anchor="ctr"/>
            <a:lstStyle/>
            <a:p>
              <a:pPr algn="ctr">
                <a:lnSpc>
                  <a:spcPts val="2284"/>
                </a:lnSpc>
              </a:pPr>
              <a:r>
                <a:rPr lang="en-US" sz="2115">
                  <a:solidFill>
                    <a:srgbClr val="F4F6FC"/>
                  </a:solidFill>
                  <a:latin typeface="Calibri (MS)"/>
                  <a:ea typeface="Calibri (MS)"/>
                  <a:cs typeface="Calibri (MS)"/>
                  <a:sym typeface="Calibri (MS)"/>
                </a:rPr>
                <a:t>Set up Employee Payment Methods</a:t>
              </a:r>
            </a:p>
          </p:txBody>
        </p:sp>
      </p:grpSp>
      <p:grpSp>
        <p:nvGrpSpPr>
          <p:cNvPr id="34" name="Group 34"/>
          <p:cNvGrpSpPr/>
          <p:nvPr/>
        </p:nvGrpSpPr>
        <p:grpSpPr>
          <a:xfrm>
            <a:off x="2183632" y="4093633"/>
            <a:ext cx="1755395" cy="1755395"/>
            <a:chOff x="0" y="0"/>
            <a:chExt cx="2340527" cy="2340527"/>
          </a:xfrm>
        </p:grpSpPr>
        <p:sp>
          <p:nvSpPr>
            <p:cNvPr id="35" name="Freeform 35" descr="oval shape"/>
            <p:cNvSpPr/>
            <p:nvPr/>
          </p:nvSpPr>
          <p:spPr>
            <a:xfrm>
              <a:off x="25400" y="25400"/>
              <a:ext cx="2289810" cy="2289810"/>
            </a:xfrm>
            <a:custGeom>
              <a:avLst/>
              <a:gdLst/>
              <a:ahLst/>
              <a:cxnLst/>
              <a:rect l="l" t="t" r="r" b="b"/>
              <a:pathLst>
                <a:path w="2289810" h="2289810">
                  <a:moveTo>
                    <a:pt x="0" y="1144905"/>
                  </a:moveTo>
                  <a:cubicBezTo>
                    <a:pt x="0" y="512572"/>
                    <a:pt x="512572" y="0"/>
                    <a:pt x="1144905" y="0"/>
                  </a:cubicBezTo>
                  <a:cubicBezTo>
                    <a:pt x="1777238" y="0"/>
                    <a:pt x="2289810" y="512572"/>
                    <a:pt x="2289810" y="1144905"/>
                  </a:cubicBezTo>
                  <a:cubicBezTo>
                    <a:pt x="2289810" y="1777238"/>
                    <a:pt x="1777238" y="2289810"/>
                    <a:pt x="1144905" y="2289810"/>
                  </a:cubicBezTo>
                  <a:cubicBezTo>
                    <a:pt x="512572" y="2289810"/>
                    <a:pt x="0" y="1777111"/>
                    <a:pt x="0" y="1144905"/>
                  </a:cubicBezTo>
                  <a:close/>
                </a:path>
              </a:pathLst>
            </a:custGeom>
            <a:gradFill rotWithShape="1">
              <a:gsLst>
                <a:gs pos="0">
                  <a:srgbClr val="004AAD">
                    <a:alpha val="100000"/>
                  </a:srgbClr>
                </a:gs>
                <a:gs pos="100000">
                  <a:srgbClr val="CB6CE6">
                    <a:alpha val="100000"/>
                  </a:srgbClr>
                </a:gs>
              </a:gsLst>
              <a:lin ang="0"/>
            </a:gradFill>
          </p:spPr>
        </p:sp>
        <p:sp>
          <p:nvSpPr>
            <p:cNvPr id="36" name="Freeform 36" descr="oval shape"/>
            <p:cNvSpPr/>
            <p:nvPr/>
          </p:nvSpPr>
          <p:spPr>
            <a:xfrm>
              <a:off x="0" y="0"/>
              <a:ext cx="2340610" cy="2340610"/>
            </a:xfrm>
            <a:custGeom>
              <a:avLst/>
              <a:gdLst/>
              <a:ahLst/>
              <a:cxnLst/>
              <a:rect l="l" t="t" r="r" b="b"/>
              <a:pathLst>
                <a:path w="2340610" h="2340610">
                  <a:moveTo>
                    <a:pt x="0" y="1170305"/>
                  </a:moveTo>
                  <a:cubicBezTo>
                    <a:pt x="0" y="524002"/>
                    <a:pt x="524002" y="0"/>
                    <a:pt x="1170305" y="0"/>
                  </a:cubicBezTo>
                  <a:lnTo>
                    <a:pt x="1170305" y="25400"/>
                  </a:lnTo>
                  <a:lnTo>
                    <a:pt x="1170305" y="0"/>
                  </a:lnTo>
                  <a:cubicBezTo>
                    <a:pt x="1816608" y="0"/>
                    <a:pt x="2340610" y="524002"/>
                    <a:pt x="2340610" y="1170305"/>
                  </a:cubicBezTo>
                  <a:lnTo>
                    <a:pt x="2315210" y="1170305"/>
                  </a:lnTo>
                  <a:lnTo>
                    <a:pt x="2340610" y="1170305"/>
                  </a:lnTo>
                  <a:cubicBezTo>
                    <a:pt x="2340610" y="1816608"/>
                    <a:pt x="1816608" y="2340610"/>
                    <a:pt x="1170305" y="2340610"/>
                  </a:cubicBezTo>
                  <a:lnTo>
                    <a:pt x="1170305" y="2315210"/>
                  </a:lnTo>
                  <a:lnTo>
                    <a:pt x="1170305" y="2340610"/>
                  </a:lnTo>
                  <a:cubicBezTo>
                    <a:pt x="524002" y="2340483"/>
                    <a:pt x="0" y="1816608"/>
                    <a:pt x="0" y="1170305"/>
                  </a:cubicBezTo>
                  <a:lnTo>
                    <a:pt x="25400" y="1170305"/>
                  </a:lnTo>
                  <a:lnTo>
                    <a:pt x="50800" y="1170305"/>
                  </a:lnTo>
                  <a:lnTo>
                    <a:pt x="25400" y="1170305"/>
                  </a:lnTo>
                  <a:lnTo>
                    <a:pt x="0" y="1170305"/>
                  </a:lnTo>
                  <a:moveTo>
                    <a:pt x="50800" y="1170305"/>
                  </a:moveTo>
                  <a:cubicBezTo>
                    <a:pt x="50800" y="1184275"/>
                    <a:pt x="39370" y="1195705"/>
                    <a:pt x="25400" y="1195705"/>
                  </a:cubicBezTo>
                  <a:cubicBezTo>
                    <a:pt x="11430" y="1195705"/>
                    <a:pt x="0" y="1184275"/>
                    <a:pt x="0" y="1170305"/>
                  </a:cubicBezTo>
                  <a:cubicBezTo>
                    <a:pt x="0" y="1156335"/>
                    <a:pt x="11430" y="1144905"/>
                    <a:pt x="25400" y="1144905"/>
                  </a:cubicBezTo>
                  <a:cubicBezTo>
                    <a:pt x="39370" y="1144905"/>
                    <a:pt x="50800" y="1156335"/>
                    <a:pt x="50800" y="1170305"/>
                  </a:cubicBezTo>
                  <a:cubicBezTo>
                    <a:pt x="50800" y="1788541"/>
                    <a:pt x="551942" y="2289810"/>
                    <a:pt x="1170305" y="2289810"/>
                  </a:cubicBezTo>
                  <a:cubicBezTo>
                    <a:pt x="1788668" y="2289810"/>
                    <a:pt x="2289810" y="1788668"/>
                    <a:pt x="2289810" y="1170305"/>
                  </a:cubicBezTo>
                  <a:cubicBezTo>
                    <a:pt x="2289810" y="551942"/>
                    <a:pt x="1788541" y="50800"/>
                    <a:pt x="1170305" y="50800"/>
                  </a:cubicBezTo>
                  <a:lnTo>
                    <a:pt x="1170305" y="25400"/>
                  </a:lnTo>
                  <a:lnTo>
                    <a:pt x="1170305" y="50800"/>
                  </a:lnTo>
                  <a:cubicBezTo>
                    <a:pt x="551942" y="50800"/>
                    <a:pt x="50800" y="551942"/>
                    <a:pt x="50800" y="1170305"/>
                  </a:cubicBezTo>
                  <a:close/>
                </a:path>
              </a:pathLst>
            </a:custGeom>
            <a:gradFill rotWithShape="1">
              <a:gsLst>
                <a:gs pos="0">
                  <a:srgbClr val="FFF7AD">
                    <a:alpha val="100000"/>
                  </a:srgbClr>
                </a:gs>
                <a:gs pos="100000">
                  <a:srgbClr val="FFA9F9">
                    <a:alpha val="100000"/>
                  </a:srgbClr>
                </a:gs>
              </a:gsLst>
              <a:lin ang="0"/>
            </a:gradFill>
          </p:spPr>
        </p:sp>
        <p:sp>
          <p:nvSpPr>
            <p:cNvPr id="37" name="TextBox 37"/>
            <p:cNvSpPr txBox="1"/>
            <p:nvPr/>
          </p:nvSpPr>
          <p:spPr>
            <a:xfrm>
              <a:off x="0" y="-19050"/>
              <a:ext cx="2340527" cy="2359577"/>
            </a:xfrm>
            <a:prstGeom prst="rect">
              <a:avLst/>
            </a:prstGeom>
          </p:spPr>
          <p:txBody>
            <a:bodyPr lIns="50800" tIns="50800" rIns="50800" bIns="50800" rtlCol="0" anchor="ctr"/>
            <a:lstStyle/>
            <a:p>
              <a:pPr algn="ctr">
                <a:lnSpc>
                  <a:spcPts val="1944"/>
                </a:lnSpc>
              </a:pPr>
              <a:r>
                <a:rPr lang="en-US" sz="1800">
                  <a:solidFill>
                    <a:srgbClr val="F4F6FC"/>
                  </a:solidFill>
                  <a:latin typeface="Calibri (MS)"/>
                  <a:ea typeface="Calibri (MS)"/>
                  <a:cs typeface="Calibri (MS)"/>
                  <a:sym typeface="Calibri (MS)"/>
                </a:rPr>
                <a:t>Payroll calendar</a:t>
              </a:r>
            </a:p>
          </p:txBody>
        </p:sp>
      </p:grpSp>
      <p:grpSp>
        <p:nvGrpSpPr>
          <p:cNvPr id="38" name="Group 38"/>
          <p:cNvGrpSpPr/>
          <p:nvPr/>
        </p:nvGrpSpPr>
        <p:grpSpPr>
          <a:xfrm>
            <a:off x="4815787" y="7987738"/>
            <a:ext cx="2140183" cy="2140183"/>
            <a:chOff x="0" y="0"/>
            <a:chExt cx="2544519" cy="2544519"/>
          </a:xfrm>
        </p:grpSpPr>
        <p:sp>
          <p:nvSpPr>
            <p:cNvPr id="39" name="Freeform 39" descr="oval shape"/>
            <p:cNvSpPr/>
            <p:nvPr/>
          </p:nvSpPr>
          <p:spPr>
            <a:xfrm>
              <a:off x="25400" y="25400"/>
              <a:ext cx="2493772" cy="2493772"/>
            </a:xfrm>
            <a:custGeom>
              <a:avLst/>
              <a:gdLst/>
              <a:ahLst/>
              <a:cxnLst/>
              <a:rect l="l" t="t" r="r" b="b"/>
              <a:pathLst>
                <a:path w="2493772" h="2493772">
                  <a:moveTo>
                    <a:pt x="0" y="1246886"/>
                  </a:moveTo>
                  <a:cubicBezTo>
                    <a:pt x="0" y="558292"/>
                    <a:pt x="558292" y="0"/>
                    <a:pt x="1246886" y="0"/>
                  </a:cubicBezTo>
                  <a:cubicBezTo>
                    <a:pt x="1935480" y="0"/>
                    <a:pt x="2493772" y="558292"/>
                    <a:pt x="2493772" y="1246886"/>
                  </a:cubicBezTo>
                  <a:cubicBezTo>
                    <a:pt x="2493772" y="1935480"/>
                    <a:pt x="1935480" y="2493772"/>
                    <a:pt x="1246886" y="2493772"/>
                  </a:cubicBezTo>
                  <a:cubicBezTo>
                    <a:pt x="558292" y="2493772"/>
                    <a:pt x="0" y="1935480"/>
                    <a:pt x="0" y="1246886"/>
                  </a:cubicBezTo>
                  <a:close/>
                </a:path>
              </a:pathLst>
            </a:custGeom>
            <a:gradFill rotWithShape="1">
              <a:gsLst>
                <a:gs pos="0">
                  <a:srgbClr val="004AAD">
                    <a:alpha val="100000"/>
                  </a:srgbClr>
                </a:gs>
                <a:gs pos="100000">
                  <a:srgbClr val="CB6CE6">
                    <a:alpha val="100000"/>
                  </a:srgbClr>
                </a:gs>
              </a:gsLst>
              <a:lin ang="0"/>
            </a:gradFill>
          </p:spPr>
        </p:sp>
        <p:sp>
          <p:nvSpPr>
            <p:cNvPr id="40" name="Freeform 40" descr="oval shape"/>
            <p:cNvSpPr/>
            <p:nvPr/>
          </p:nvSpPr>
          <p:spPr>
            <a:xfrm>
              <a:off x="0" y="0"/>
              <a:ext cx="2544572" cy="2544572"/>
            </a:xfrm>
            <a:custGeom>
              <a:avLst/>
              <a:gdLst/>
              <a:ahLst/>
              <a:cxnLst/>
              <a:rect l="l" t="t" r="r" b="b"/>
              <a:pathLst>
                <a:path w="2544572" h="2544572">
                  <a:moveTo>
                    <a:pt x="0" y="1272286"/>
                  </a:moveTo>
                  <a:cubicBezTo>
                    <a:pt x="0" y="569595"/>
                    <a:pt x="569595" y="0"/>
                    <a:pt x="1272286" y="0"/>
                  </a:cubicBezTo>
                  <a:lnTo>
                    <a:pt x="1272286" y="25400"/>
                  </a:lnTo>
                  <a:lnTo>
                    <a:pt x="1272286" y="0"/>
                  </a:lnTo>
                  <a:cubicBezTo>
                    <a:pt x="1974850" y="0"/>
                    <a:pt x="2544572" y="569595"/>
                    <a:pt x="2544572" y="1272286"/>
                  </a:cubicBezTo>
                  <a:lnTo>
                    <a:pt x="2519172" y="1272286"/>
                  </a:lnTo>
                  <a:lnTo>
                    <a:pt x="2544572" y="1272286"/>
                  </a:lnTo>
                  <a:cubicBezTo>
                    <a:pt x="2544572" y="1974977"/>
                    <a:pt x="1974977" y="2544572"/>
                    <a:pt x="1272286" y="2544572"/>
                  </a:cubicBezTo>
                  <a:lnTo>
                    <a:pt x="1272286" y="2519172"/>
                  </a:lnTo>
                  <a:lnTo>
                    <a:pt x="1272286" y="2544572"/>
                  </a:lnTo>
                  <a:cubicBezTo>
                    <a:pt x="569595" y="2544572"/>
                    <a:pt x="0" y="1974850"/>
                    <a:pt x="0" y="1272286"/>
                  </a:cubicBezTo>
                  <a:lnTo>
                    <a:pt x="25400" y="1272286"/>
                  </a:lnTo>
                  <a:lnTo>
                    <a:pt x="50800" y="1272286"/>
                  </a:lnTo>
                  <a:lnTo>
                    <a:pt x="25400" y="1272286"/>
                  </a:lnTo>
                  <a:lnTo>
                    <a:pt x="0" y="1272286"/>
                  </a:lnTo>
                  <a:moveTo>
                    <a:pt x="50800" y="1272286"/>
                  </a:moveTo>
                  <a:cubicBezTo>
                    <a:pt x="50800" y="1286256"/>
                    <a:pt x="39370" y="1297686"/>
                    <a:pt x="25400" y="1297686"/>
                  </a:cubicBezTo>
                  <a:cubicBezTo>
                    <a:pt x="11430" y="1297686"/>
                    <a:pt x="0" y="1286256"/>
                    <a:pt x="0" y="1272286"/>
                  </a:cubicBezTo>
                  <a:cubicBezTo>
                    <a:pt x="0" y="1258316"/>
                    <a:pt x="11430" y="1246886"/>
                    <a:pt x="25400" y="1246886"/>
                  </a:cubicBezTo>
                  <a:cubicBezTo>
                    <a:pt x="39370" y="1246886"/>
                    <a:pt x="50800" y="1258316"/>
                    <a:pt x="50800" y="1272286"/>
                  </a:cubicBezTo>
                  <a:cubicBezTo>
                    <a:pt x="50800" y="1946910"/>
                    <a:pt x="597662" y="2493772"/>
                    <a:pt x="1272286" y="2493772"/>
                  </a:cubicBezTo>
                  <a:cubicBezTo>
                    <a:pt x="1946910" y="2493772"/>
                    <a:pt x="2493772" y="1946910"/>
                    <a:pt x="2493772" y="1272286"/>
                  </a:cubicBezTo>
                  <a:cubicBezTo>
                    <a:pt x="2493772" y="597662"/>
                    <a:pt x="1946910" y="50800"/>
                    <a:pt x="1272286" y="50800"/>
                  </a:cubicBezTo>
                  <a:lnTo>
                    <a:pt x="1272286" y="25400"/>
                  </a:lnTo>
                  <a:lnTo>
                    <a:pt x="1272286" y="50800"/>
                  </a:lnTo>
                  <a:cubicBezTo>
                    <a:pt x="597662" y="50800"/>
                    <a:pt x="50800" y="597662"/>
                    <a:pt x="50800" y="1272286"/>
                  </a:cubicBezTo>
                  <a:close/>
                </a:path>
              </a:pathLst>
            </a:custGeom>
            <a:gradFill rotWithShape="1">
              <a:gsLst>
                <a:gs pos="0">
                  <a:srgbClr val="FF3131">
                    <a:alpha val="100000"/>
                  </a:srgbClr>
                </a:gs>
                <a:gs pos="100000">
                  <a:srgbClr val="FF914D">
                    <a:alpha val="100000"/>
                  </a:srgbClr>
                </a:gs>
              </a:gsLst>
              <a:lin ang="0"/>
            </a:gradFill>
          </p:spPr>
        </p:sp>
        <p:sp>
          <p:nvSpPr>
            <p:cNvPr id="41" name="TextBox 41"/>
            <p:cNvSpPr txBox="1"/>
            <p:nvPr/>
          </p:nvSpPr>
          <p:spPr>
            <a:xfrm>
              <a:off x="0" y="-57150"/>
              <a:ext cx="2544519" cy="2601669"/>
            </a:xfrm>
            <a:prstGeom prst="rect">
              <a:avLst/>
            </a:prstGeom>
          </p:spPr>
          <p:txBody>
            <a:bodyPr lIns="56970" tIns="56970" rIns="56970" bIns="56970" rtlCol="0" anchor="ctr"/>
            <a:lstStyle/>
            <a:p>
              <a:pPr algn="ctr">
                <a:lnSpc>
                  <a:spcPts val="2826"/>
                </a:lnSpc>
              </a:pPr>
              <a:r>
                <a:rPr lang="en-US" sz="2355" dirty="0">
                  <a:solidFill>
                    <a:srgbClr val="F4F6FC"/>
                  </a:solidFill>
                  <a:latin typeface="Calibri (MS)"/>
                  <a:ea typeface="Calibri (MS)"/>
                  <a:cs typeface="Calibri (MS)"/>
                  <a:sym typeface="Calibri (MS)"/>
                </a:rPr>
                <a:t> Payroll Reconciliation</a:t>
              </a:r>
            </a:p>
            <a:p>
              <a:pPr algn="ctr">
                <a:lnSpc>
                  <a:spcPts val="2826"/>
                </a:lnSpc>
              </a:pPr>
              <a:endParaRPr lang="en-US" sz="2355" dirty="0">
                <a:solidFill>
                  <a:srgbClr val="F4F6FC"/>
                </a:solidFill>
                <a:latin typeface="Calibri (MS)"/>
                <a:ea typeface="Calibri (MS)"/>
                <a:cs typeface="Calibri (MS)"/>
                <a:sym typeface="Calibri (MS)"/>
              </a:endParaRPr>
            </a:p>
          </p:txBody>
        </p:sp>
      </p:grpSp>
      <p:grpSp>
        <p:nvGrpSpPr>
          <p:cNvPr id="42" name="Group 42"/>
          <p:cNvGrpSpPr/>
          <p:nvPr/>
        </p:nvGrpSpPr>
        <p:grpSpPr>
          <a:xfrm>
            <a:off x="14249243" y="7697421"/>
            <a:ext cx="2082065" cy="2082065"/>
            <a:chOff x="0" y="0"/>
            <a:chExt cx="2033243" cy="2033243"/>
          </a:xfrm>
        </p:grpSpPr>
        <p:sp>
          <p:nvSpPr>
            <p:cNvPr id="43" name="Freeform 43" descr="oval shape"/>
            <p:cNvSpPr/>
            <p:nvPr/>
          </p:nvSpPr>
          <p:spPr>
            <a:xfrm>
              <a:off x="25400" y="25400"/>
              <a:ext cx="1982470" cy="1982470"/>
            </a:xfrm>
            <a:custGeom>
              <a:avLst/>
              <a:gdLst/>
              <a:ahLst/>
              <a:cxnLst/>
              <a:rect l="l" t="t" r="r" b="b"/>
              <a:pathLst>
                <a:path w="1982470" h="1982470">
                  <a:moveTo>
                    <a:pt x="0" y="991235"/>
                  </a:moveTo>
                  <a:cubicBezTo>
                    <a:pt x="0" y="443738"/>
                    <a:pt x="443738" y="0"/>
                    <a:pt x="991235" y="0"/>
                  </a:cubicBezTo>
                  <a:cubicBezTo>
                    <a:pt x="1538732" y="0"/>
                    <a:pt x="1982470" y="443738"/>
                    <a:pt x="1982470" y="991235"/>
                  </a:cubicBezTo>
                  <a:cubicBezTo>
                    <a:pt x="1982470" y="1538732"/>
                    <a:pt x="1538605" y="1982470"/>
                    <a:pt x="991235" y="1982470"/>
                  </a:cubicBezTo>
                  <a:cubicBezTo>
                    <a:pt x="443865" y="1982470"/>
                    <a:pt x="0" y="1538605"/>
                    <a:pt x="0" y="991235"/>
                  </a:cubicBezTo>
                  <a:close/>
                </a:path>
              </a:pathLst>
            </a:custGeom>
            <a:gradFill rotWithShape="1">
              <a:gsLst>
                <a:gs pos="0">
                  <a:srgbClr val="004AAD">
                    <a:alpha val="100000"/>
                  </a:srgbClr>
                </a:gs>
                <a:gs pos="100000">
                  <a:srgbClr val="CB6CE6">
                    <a:alpha val="100000"/>
                  </a:srgbClr>
                </a:gs>
              </a:gsLst>
              <a:lin ang="0"/>
            </a:gradFill>
          </p:spPr>
        </p:sp>
        <p:sp>
          <p:nvSpPr>
            <p:cNvPr id="44" name="Freeform 44" descr="oval shape"/>
            <p:cNvSpPr/>
            <p:nvPr/>
          </p:nvSpPr>
          <p:spPr>
            <a:xfrm>
              <a:off x="0" y="0"/>
              <a:ext cx="2033270" cy="2033270"/>
            </a:xfrm>
            <a:custGeom>
              <a:avLst/>
              <a:gdLst/>
              <a:ahLst/>
              <a:cxnLst/>
              <a:rect l="l" t="t" r="r" b="b"/>
              <a:pathLst>
                <a:path w="2033270" h="2033270">
                  <a:moveTo>
                    <a:pt x="0" y="1016635"/>
                  </a:moveTo>
                  <a:cubicBezTo>
                    <a:pt x="0" y="455168"/>
                    <a:pt x="455168" y="0"/>
                    <a:pt x="1016635" y="0"/>
                  </a:cubicBezTo>
                  <a:lnTo>
                    <a:pt x="1016635" y="25400"/>
                  </a:lnTo>
                  <a:lnTo>
                    <a:pt x="1016635" y="0"/>
                  </a:lnTo>
                  <a:cubicBezTo>
                    <a:pt x="1578102" y="0"/>
                    <a:pt x="2033270" y="455168"/>
                    <a:pt x="2033270" y="1016635"/>
                  </a:cubicBezTo>
                  <a:lnTo>
                    <a:pt x="2007870" y="1016635"/>
                  </a:lnTo>
                  <a:lnTo>
                    <a:pt x="2033270" y="1016635"/>
                  </a:lnTo>
                  <a:cubicBezTo>
                    <a:pt x="2033270" y="1578102"/>
                    <a:pt x="1578102" y="2033270"/>
                    <a:pt x="1016635" y="2033270"/>
                  </a:cubicBezTo>
                  <a:lnTo>
                    <a:pt x="1016635" y="2007870"/>
                  </a:lnTo>
                  <a:lnTo>
                    <a:pt x="1016635" y="2033270"/>
                  </a:lnTo>
                  <a:cubicBezTo>
                    <a:pt x="455168" y="2033270"/>
                    <a:pt x="0" y="1578102"/>
                    <a:pt x="0" y="1016635"/>
                  </a:cubicBezTo>
                  <a:lnTo>
                    <a:pt x="25400" y="1016635"/>
                  </a:lnTo>
                  <a:lnTo>
                    <a:pt x="50800" y="1016635"/>
                  </a:lnTo>
                  <a:lnTo>
                    <a:pt x="25400" y="1016635"/>
                  </a:lnTo>
                  <a:lnTo>
                    <a:pt x="0" y="1016635"/>
                  </a:lnTo>
                  <a:moveTo>
                    <a:pt x="50800" y="1016635"/>
                  </a:moveTo>
                  <a:cubicBezTo>
                    <a:pt x="50800" y="1030605"/>
                    <a:pt x="39370" y="1042035"/>
                    <a:pt x="25400" y="1042035"/>
                  </a:cubicBezTo>
                  <a:cubicBezTo>
                    <a:pt x="11430" y="1042035"/>
                    <a:pt x="0" y="1030605"/>
                    <a:pt x="0" y="1016635"/>
                  </a:cubicBezTo>
                  <a:cubicBezTo>
                    <a:pt x="0" y="1002665"/>
                    <a:pt x="11430" y="991235"/>
                    <a:pt x="25400" y="991235"/>
                  </a:cubicBezTo>
                  <a:cubicBezTo>
                    <a:pt x="39370" y="991235"/>
                    <a:pt x="50800" y="1002665"/>
                    <a:pt x="50800" y="1016635"/>
                  </a:cubicBezTo>
                  <a:cubicBezTo>
                    <a:pt x="50800" y="1550035"/>
                    <a:pt x="483235" y="1982470"/>
                    <a:pt x="1016635" y="1982470"/>
                  </a:cubicBezTo>
                  <a:cubicBezTo>
                    <a:pt x="1550035" y="1982470"/>
                    <a:pt x="1982470" y="1550035"/>
                    <a:pt x="1982470" y="1016635"/>
                  </a:cubicBezTo>
                  <a:cubicBezTo>
                    <a:pt x="1982470" y="483235"/>
                    <a:pt x="1550035" y="50800"/>
                    <a:pt x="1016635" y="50800"/>
                  </a:cubicBezTo>
                  <a:lnTo>
                    <a:pt x="1016635" y="25400"/>
                  </a:lnTo>
                  <a:lnTo>
                    <a:pt x="1016635" y="50800"/>
                  </a:lnTo>
                  <a:cubicBezTo>
                    <a:pt x="483235" y="50800"/>
                    <a:pt x="50800" y="483235"/>
                    <a:pt x="50800" y="1016635"/>
                  </a:cubicBezTo>
                  <a:close/>
                </a:path>
              </a:pathLst>
            </a:custGeom>
            <a:gradFill rotWithShape="1">
              <a:gsLst>
                <a:gs pos="0">
                  <a:srgbClr val="FF3131">
                    <a:alpha val="100000"/>
                  </a:srgbClr>
                </a:gs>
                <a:gs pos="100000">
                  <a:srgbClr val="FF914D">
                    <a:alpha val="100000"/>
                  </a:srgbClr>
                </a:gs>
              </a:gsLst>
              <a:lin ang="0"/>
            </a:gradFill>
          </p:spPr>
        </p:sp>
        <p:sp>
          <p:nvSpPr>
            <p:cNvPr id="45" name="TextBox 45"/>
            <p:cNvSpPr txBox="1"/>
            <p:nvPr/>
          </p:nvSpPr>
          <p:spPr>
            <a:xfrm>
              <a:off x="0" y="-57150"/>
              <a:ext cx="2033243" cy="2090393"/>
            </a:xfrm>
            <a:prstGeom prst="rect">
              <a:avLst/>
            </a:prstGeom>
          </p:spPr>
          <p:txBody>
            <a:bodyPr lIns="69360" tIns="69360" rIns="69360" bIns="69360" rtlCol="0" anchor="ctr"/>
            <a:lstStyle/>
            <a:p>
              <a:pPr algn="ctr">
                <a:lnSpc>
                  <a:spcPts val="3440"/>
                </a:lnSpc>
              </a:pPr>
              <a:r>
                <a:rPr lang="en-US" sz="2867" dirty="0">
                  <a:solidFill>
                    <a:srgbClr val="FFFFFF"/>
                  </a:solidFill>
                  <a:latin typeface="Calibri (MS)"/>
                  <a:ea typeface="Calibri (MS)"/>
                  <a:cs typeface="Calibri (MS)"/>
                  <a:sym typeface="Calibri (MS)"/>
                </a:rPr>
                <a:t>Audit</a:t>
              </a:r>
            </a:p>
            <a:p>
              <a:pPr algn="ctr">
                <a:lnSpc>
                  <a:spcPts val="3440"/>
                </a:lnSpc>
              </a:pPr>
              <a:r>
                <a:rPr lang="en-US" sz="2867" dirty="0">
                  <a:solidFill>
                    <a:srgbClr val="FFFFFF"/>
                  </a:solidFill>
                  <a:latin typeface="Calibri (MS)"/>
                  <a:ea typeface="Calibri (MS)"/>
                  <a:cs typeface="Calibri (MS)"/>
                  <a:sym typeface="Calibri (MS)"/>
                </a:rPr>
                <a:t> &amp; Compliance</a:t>
              </a:r>
            </a:p>
          </p:txBody>
        </p:sp>
      </p:grpSp>
      <p:grpSp>
        <p:nvGrpSpPr>
          <p:cNvPr id="46" name="Group 46"/>
          <p:cNvGrpSpPr/>
          <p:nvPr/>
        </p:nvGrpSpPr>
        <p:grpSpPr>
          <a:xfrm>
            <a:off x="11676301" y="8601153"/>
            <a:ext cx="1810942" cy="1810942"/>
            <a:chOff x="0" y="0"/>
            <a:chExt cx="1991003" cy="1991003"/>
          </a:xfrm>
        </p:grpSpPr>
        <p:sp>
          <p:nvSpPr>
            <p:cNvPr id="47" name="Freeform 47" descr="oval shape"/>
            <p:cNvSpPr/>
            <p:nvPr/>
          </p:nvSpPr>
          <p:spPr>
            <a:xfrm>
              <a:off x="25400" y="25400"/>
              <a:ext cx="1940306" cy="1940306"/>
            </a:xfrm>
            <a:custGeom>
              <a:avLst/>
              <a:gdLst/>
              <a:ahLst/>
              <a:cxnLst/>
              <a:rect l="l" t="t" r="r" b="b"/>
              <a:pathLst>
                <a:path w="1940306" h="1940306">
                  <a:moveTo>
                    <a:pt x="0" y="970153"/>
                  </a:moveTo>
                  <a:cubicBezTo>
                    <a:pt x="0" y="434340"/>
                    <a:pt x="434340" y="0"/>
                    <a:pt x="970153" y="0"/>
                  </a:cubicBezTo>
                  <a:cubicBezTo>
                    <a:pt x="1505966" y="0"/>
                    <a:pt x="1940306" y="434340"/>
                    <a:pt x="1940306" y="970153"/>
                  </a:cubicBezTo>
                  <a:cubicBezTo>
                    <a:pt x="1940306" y="1505966"/>
                    <a:pt x="1505966" y="1940306"/>
                    <a:pt x="970153" y="1940306"/>
                  </a:cubicBezTo>
                  <a:cubicBezTo>
                    <a:pt x="434340" y="1940306"/>
                    <a:pt x="0" y="1505839"/>
                    <a:pt x="0" y="970153"/>
                  </a:cubicBezTo>
                  <a:close/>
                </a:path>
              </a:pathLst>
            </a:custGeom>
            <a:gradFill rotWithShape="1">
              <a:gsLst>
                <a:gs pos="0">
                  <a:srgbClr val="004AAD">
                    <a:alpha val="100000"/>
                  </a:srgbClr>
                </a:gs>
                <a:gs pos="100000">
                  <a:srgbClr val="CB6CE6">
                    <a:alpha val="100000"/>
                  </a:srgbClr>
                </a:gs>
              </a:gsLst>
              <a:lin ang="0"/>
            </a:gradFill>
          </p:spPr>
        </p:sp>
        <p:sp>
          <p:nvSpPr>
            <p:cNvPr id="48" name="Freeform 48" descr="oval shape"/>
            <p:cNvSpPr/>
            <p:nvPr/>
          </p:nvSpPr>
          <p:spPr>
            <a:xfrm>
              <a:off x="0" y="0"/>
              <a:ext cx="1991106" cy="1991106"/>
            </a:xfrm>
            <a:custGeom>
              <a:avLst/>
              <a:gdLst/>
              <a:ahLst/>
              <a:cxnLst/>
              <a:rect l="l" t="t" r="r" b="b"/>
              <a:pathLst>
                <a:path w="1991106" h="1991106">
                  <a:moveTo>
                    <a:pt x="0" y="995553"/>
                  </a:moveTo>
                  <a:cubicBezTo>
                    <a:pt x="0" y="445643"/>
                    <a:pt x="445643" y="0"/>
                    <a:pt x="995553" y="0"/>
                  </a:cubicBezTo>
                  <a:lnTo>
                    <a:pt x="995553" y="25400"/>
                  </a:lnTo>
                  <a:lnTo>
                    <a:pt x="995553" y="0"/>
                  </a:lnTo>
                  <a:cubicBezTo>
                    <a:pt x="1545336" y="0"/>
                    <a:pt x="1991106" y="445643"/>
                    <a:pt x="1991106" y="995553"/>
                  </a:cubicBezTo>
                  <a:lnTo>
                    <a:pt x="1965706" y="995553"/>
                  </a:lnTo>
                  <a:lnTo>
                    <a:pt x="1991106" y="995553"/>
                  </a:lnTo>
                  <a:cubicBezTo>
                    <a:pt x="1991106" y="1545336"/>
                    <a:pt x="1545463" y="1991106"/>
                    <a:pt x="995553" y="1991106"/>
                  </a:cubicBezTo>
                  <a:lnTo>
                    <a:pt x="995553" y="1965706"/>
                  </a:lnTo>
                  <a:lnTo>
                    <a:pt x="995553" y="1991106"/>
                  </a:lnTo>
                  <a:cubicBezTo>
                    <a:pt x="445643" y="1990979"/>
                    <a:pt x="0" y="1545336"/>
                    <a:pt x="0" y="995553"/>
                  </a:cubicBezTo>
                  <a:lnTo>
                    <a:pt x="25400" y="995553"/>
                  </a:lnTo>
                  <a:lnTo>
                    <a:pt x="50800" y="995553"/>
                  </a:lnTo>
                  <a:lnTo>
                    <a:pt x="25400" y="995553"/>
                  </a:lnTo>
                  <a:lnTo>
                    <a:pt x="0" y="995553"/>
                  </a:lnTo>
                  <a:moveTo>
                    <a:pt x="50800" y="995553"/>
                  </a:moveTo>
                  <a:cubicBezTo>
                    <a:pt x="50800" y="1009523"/>
                    <a:pt x="39370" y="1020953"/>
                    <a:pt x="25400" y="1020953"/>
                  </a:cubicBezTo>
                  <a:cubicBezTo>
                    <a:pt x="11430" y="1020953"/>
                    <a:pt x="0" y="1009523"/>
                    <a:pt x="0" y="995553"/>
                  </a:cubicBezTo>
                  <a:cubicBezTo>
                    <a:pt x="0" y="981583"/>
                    <a:pt x="11430" y="970153"/>
                    <a:pt x="25400" y="970153"/>
                  </a:cubicBezTo>
                  <a:cubicBezTo>
                    <a:pt x="39370" y="970153"/>
                    <a:pt x="50800" y="981583"/>
                    <a:pt x="50800" y="995553"/>
                  </a:cubicBezTo>
                  <a:cubicBezTo>
                    <a:pt x="50800" y="1517269"/>
                    <a:pt x="473710" y="1940306"/>
                    <a:pt x="995553" y="1940306"/>
                  </a:cubicBezTo>
                  <a:cubicBezTo>
                    <a:pt x="1517396" y="1940306"/>
                    <a:pt x="1940306" y="1517396"/>
                    <a:pt x="1940306" y="995553"/>
                  </a:cubicBezTo>
                  <a:cubicBezTo>
                    <a:pt x="1940306" y="473710"/>
                    <a:pt x="1517269" y="50800"/>
                    <a:pt x="995553" y="50800"/>
                  </a:cubicBezTo>
                  <a:lnTo>
                    <a:pt x="995553" y="25400"/>
                  </a:lnTo>
                  <a:lnTo>
                    <a:pt x="995553" y="50800"/>
                  </a:lnTo>
                  <a:cubicBezTo>
                    <a:pt x="473710" y="50800"/>
                    <a:pt x="50800" y="473710"/>
                    <a:pt x="50800" y="995553"/>
                  </a:cubicBezTo>
                  <a:close/>
                </a:path>
              </a:pathLst>
            </a:custGeom>
            <a:gradFill rotWithShape="1">
              <a:gsLst>
                <a:gs pos="0">
                  <a:srgbClr val="FF3131">
                    <a:alpha val="100000"/>
                  </a:srgbClr>
                </a:gs>
                <a:gs pos="100000">
                  <a:srgbClr val="FF914D">
                    <a:alpha val="100000"/>
                  </a:srgbClr>
                </a:gs>
              </a:gsLst>
              <a:lin ang="0"/>
            </a:gradFill>
          </p:spPr>
        </p:sp>
        <p:sp>
          <p:nvSpPr>
            <p:cNvPr id="49" name="TextBox 49"/>
            <p:cNvSpPr txBox="1"/>
            <p:nvPr/>
          </p:nvSpPr>
          <p:spPr>
            <a:xfrm>
              <a:off x="0" y="-47625"/>
              <a:ext cx="1991003" cy="2038628"/>
            </a:xfrm>
            <a:prstGeom prst="rect">
              <a:avLst/>
            </a:prstGeom>
          </p:spPr>
          <p:txBody>
            <a:bodyPr lIns="61608" tIns="61608" rIns="61608" bIns="61608" rtlCol="0" anchor="ctr"/>
            <a:lstStyle/>
            <a:p>
              <a:pPr algn="ctr">
                <a:lnSpc>
                  <a:spcPts val="3056"/>
                </a:lnSpc>
              </a:pPr>
              <a:r>
                <a:rPr lang="en-US" sz="2546">
                  <a:solidFill>
                    <a:srgbClr val="FFFFFF"/>
                  </a:solidFill>
                  <a:latin typeface="Calibri (MS)"/>
                  <a:ea typeface="Calibri (MS)"/>
                  <a:cs typeface="Calibri (MS)"/>
                  <a:sym typeface="Calibri (MS)"/>
                </a:rPr>
                <a:t> Close Payroll Period</a:t>
              </a:r>
            </a:p>
            <a:p>
              <a:pPr algn="ctr">
                <a:lnSpc>
                  <a:spcPts val="3056"/>
                </a:lnSpc>
              </a:pPr>
              <a:endParaRPr lang="en-US" sz="2546">
                <a:solidFill>
                  <a:srgbClr val="FFFFFF"/>
                </a:solidFill>
                <a:latin typeface="Calibri (MS)"/>
                <a:ea typeface="Calibri (MS)"/>
                <a:cs typeface="Calibri (MS)"/>
                <a:sym typeface="Calibri (MS)"/>
              </a:endParaRPr>
            </a:p>
          </p:txBody>
        </p:sp>
      </p:grpSp>
      <p:grpSp>
        <p:nvGrpSpPr>
          <p:cNvPr id="50" name="Group 50"/>
          <p:cNvGrpSpPr/>
          <p:nvPr/>
        </p:nvGrpSpPr>
        <p:grpSpPr>
          <a:xfrm>
            <a:off x="13908859" y="-201442"/>
            <a:ext cx="1851545" cy="1851545"/>
            <a:chOff x="0" y="0"/>
            <a:chExt cx="2468727" cy="2468727"/>
          </a:xfrm>
        </p:grpSpPr>
        <p:sp>
          <p:nvSpPr>
            <p:cNvPr id="51" name="Freeform 51" descr="oval shape"/>
            <p:cNvSpPr/>
            <p:nvPr/>
          </p:nvSpPr>
          <p:spPr>
            <a:xfrm>
              <a:off x="25400" y="25400"/>
              <a:ext cx="2417826" cy="2417826"/>
            </a:xfrm>
            <a:custGeom>
              <a:avLst/>
              <a:gdLst/>
              <a:ahLst/>
              <a:cxnLst/>
              <a:rect l="l" t="t" r="r" b="b"/>
              <a:pathLst>
                <a:path w="2417826" h="2417826">
                  <a:moveTo>
                    <a:pt x="0" y="1208913"/>
                  </a:moveTo>
                  <a:cubicBezTo>
                    <a:pt x="0" y="541274"/>
                    <a:pt x="541274" y="0"/>
                    <a:pt x="1208913" y="0"/>
                  </a:cubicBezTo>
                  <a:cubicBezTo>
                    <a:pt x="1876552" y="0"/>
                    <a:pt x="2417826" y="541274"/>
                    <a:pt x="2417826" y="1208913"/>
                  </a:cubicBezTo>
                  <a:cubicBezTo>
                    <a:pt x="2417826" y="1876552"/>
                    <a:pt x="1876552" y="2417826"/>
                    <a:pt x="1208913" y="2417826"/>
                  </a:cubicBezTo>
                  <a:cubicBezTo>
                    <a:pt x="541274" y="2417826"/>
                    <a:pt x="0" y="1876679"/>
                    <a:pt x="0" y="1208913"/>
                  </a:cubicBezTo>
                  <a:close/>
                </a:path>
              </a:pathLst>
            </a:custGeom>
            <a:gradFill rotWithShape="1">
              <a:gsLst>
                <a:gs pos="0">
                  <a:srgbClr val="004AAD">
                    <a:alpha val="100000"/>
                  </a:srgbClr>
                </a:gs>
                <a:gs pos="100000">
                  <a:srgbClr val="CB6CE6">
                    <a:alpha val="100000"/>
                  </a:srgbClr>
                </a:gs>
              </a:gsLst>
              <a:lin ang="0"/>
            </a:gradFill>
          </p:spPr>
        </p:sp>
        <p:sp>
          <p:nvSpPr>
            <p:cNvPr id="52" name="Freeform 52" descr="oval shape"/>
            <p:cNvSpPr/>
            <p:nvPr/>
          </p:nvSpPr>
          <p:spPr>
            <a:xfrm>
              <a:off x="0" y="0"/>
              <a:ext cx="2468626" cy="2468753"/>
            </a:xfrm>
            <a:custGeom>
              <a:avLst/>
              <a:gdLst/>
              <a:ahLst/>
              <a:cxnLst/>
              <a:rect l="l" t="t" r="r" b="b"/>
              <a:pathLst>
                <a:path w="2468626" h="2468753">
                  <a:moveTo>
                    <a:pt x="0" y="1234313"/>
                  </a:moveTo>
                  <a:cubicBezTo>
                    <a:pt x="0" y="552704"/>
                    <a:pt x="552704" y="0"/>
                    <a:pt x="1234313" y="0"/>
                  </a:cubicBezTo>
                  <a:lnTo>
                    <a:pt x="1234313" y="25400"/>
                  </a:lnTo>
                  <a:lnTo>
                    <a:pt x="1234313" y="0"/>
                  </a:lnTo>
                  <a:cubicBezTo>
                    <a:pt x="1916049" y="0"/>
                    <a:pt x="2468626" y="552704"/>
                    <a:pt x="2468626" y="1234313"/>
                  </a:cubicBezTo>
                  <a:lnTo>
                    <a:pt x="2443226" y="1234313"/>
                  </a:lnTo>
                  <a:lnTo>
                    <a:pt x="2468626" y="1234313"/>
                  </a:lnTo>
                  <a:cubicBezTo>
                    <a:pt x="2468626" y="1916049"/>
                    <a:pt x="1915922" y="2468626"/>
                    <a:pt x="1234313" y="2468626"/>
                  </a:cubicBezTo>
                  <a:lnTo>
                    <a:pt x="1234313" y="2443226"/>
                  </a:lnTo>
                  <a:lnTo>
                    <a:pt x="1234313" y="2468626"/>
                  </a:lnTo>
                  <a:cubicBezTo>
                    <a:pt x="552704" y="2468753"/>
                    <a:pt x="0" y="1916049"/>
                    <a:pt x="0" y="1234313"/>
                  </a:cubicBezTo>
                  <a:lnTo>
                    <a:pt x="25400" y="1234313"/>
                  </a:lnTo>
                  <a:lnTo>
                    <a:pt x="50800" y="1234313"/>
                  </a:lnTo>
                  <a:lnTo>
                    <a:pt x="25400" y="1234313"/>
                  </a:lnTo>
                  <a:lnTo>
                    <a:pt x="0" y="1234313"/>
                  </a:lnTo>
                  <a:moveTo>
                    <a:pt x="50800" y="1234313"/>
                  </a:moveTo>
                  <a:cubicBezTo>
                    <a:pt x="50800" y="1248283"/>
                    <a:pt x="39370" y="1259713"/>
                    <a:pt x="25400" y="1259713"/>
                  </a:cubicBezTo>
                  <a:cubicBezTo>
                    <a:pt x="11430" y="1259713"/>
                    <a:pt x="0" y="1248283"/>
                    <a:pt x="0" y="1234313"/>
                  </a:cubicBezTo>
                  <a:cubicBezTo>
                    <a:pt x="0" y="1220343"/>
                    <a:pt x="11430" y="1208913"/>
                    <a:pt x="25400" y="1208913"/>
                  </a:cubicBezTo>
                  <a:cubicBezTo>
                    <a:pt x="39370" y="1208913"/>
                    <a:pt x="50800" y="1220343"/>
                    <a:pt x="50800" y="1234313"/>
                  </a:cubicBezTo>
                  <a:cubicBezTo>
                    <a:pt x="50800" y="1887982"/>
                    <a:pt x="580644" y="2417826"/>
                    <a:pt x="1234313" y="2417826"/>
                  </a:cubicBezTo>
                  <a:cubicBezTo>
                    <a:pt x="1887982" y="2417826"/>
                    <a:pt x="2417826" y="1887982"/>
                    <a:pt x="2417826" y="1234313"/>
                  </a:cubicBezTo>
                  <a:cubicBezTo>
                    <a:pt x="2417826" y="580644"/>
                    <a:pt x="1887982" y="50800"/>
                    <a:pt x="1234313" y="50800"/>
                  </a:cubicBezTo>
                  <a:lnTo>
                    <a:pt x="1234313" y="25400"/>
                  </a:lnTo>
                  <a:lnTo>
                    <a:pt x="1234313" y="50800"/>
                  </a:lnTo>
                  <a:cubicBezTo>
                    <a:pt x="580644" y="50800"/>
                    <a:pt x="50800" y="580644"/>
                    <a:pt x="50800" y="1234313"/>
                  </a:cubicBezTo>
                  <a:close/>
                </a:path>
              </a:pathLst>
            </a:custGeom>
            <a:gradFill rotWithShape="1">
              <a:gsLst>
                <a:gs pos="0">
                  <a:srgbClr val="8C52FF">
                    <a:alpha val="100000"/>
                  </a:srgbClr>
                </a:gs>
                <a:gs pos="100000">
                  <a:srgbClr val="00BF63">
                    <a:alpha val="100000"/>
                  </a:srgbClr>
                </a:gs>
              </a:gsLst>
              <a:lin ang="0"/>
            </a:gradFill>
          </p:spPr>
        </p:sp>
        <p:sp>
          <p:nvSpPr>
            <p:cNvPr id="53" name="TextBox 53"/>
            <p:cNvSpPr txBox="1"/>
            <p:nvPr/>
          </p:nvSpPr>
          <p:spPr>
            <a:xfrm>
              <a:off x="0" y="-47625"/>
              <a:ext cx="2468727" cy="2516352"/>
            </a:xfrm>
            <a:prstGeom prst="rect">
              <a:avLst/>
            </a:prstGeom>
          </p:spPr>
          <p:txBody>
            <a:bodyPr lIns="50800" tIns="50800" rIns="50800" bIns="50800" rtlCol="0" anchor="ctr"/>
            <a:lstStyle/>
            <a:p>
              <a:pPr algn="ctr">
                <a:lnSpc>
                  <a:spcPts val="2520"/>
                </a:lnSpc>
              </a:pPr>
              <a:r>
                <a:rPr lang="en-US" sz="2100">
                  <a:solidFill>
                    <a:srgbClr val="F4F6FC"/>
                  </a:solidFill>
                  <a:latin typeface="Calibri (MS)"/>
                  <a:ea typeface="Calibri (MS)"/>
                  <a:cs typeface="Calibri (MS)"/>
                  <a:sym typeface="Calibri (MS)"/>
                </a:rPr>
                <a:t>Payroll Run</a:t>
              </a:r>
            </a:p>
          </p:txBody>
        </p:sp>
      </p:grpSp>
      <p:grpSp>
        <p:nvGrpSpPr>
          <p:cNvPr id="54" name="Group 54"/>
          <p:cNvGrpSpPr/>
          <p:nvPr/>
        </p:nvGrpSpPr>
        <p:grpSpPr>
          <a:xfrm>
            <a:off x="9987970" y="2622292"/>
            <a:ext cx="2051456" cy="2051456"/>
            <a:chOff x="0" y="0"/>
            <a:chExt cx="2840064" cy="2840064"/>
          </a:xfrm>
        </p:grpSpPr>
        <p:sp>
          <p:nvSpPr>
            <p:cNvPr id="55" name="Freeform 55"/>
            <p:cNvSpPr/>
            <p:nvPr/>
          </p:nvSpPr>
          <p:spPr>
            <a:xfrm>
              <a:off x="25400" y="25400"/>
              <a:ext cx="2743200" cy="2743200"/>
            </a:xfrm>
            <a:custGeom>
              <a:avLst/>
              <a:gdLst/>
              <a:ahLst/>
              <a:cxnLst/>
              <a:rect l="l" t="t" r="r" b="b"/>
              <a:pathLst>
                <a:path w="2743200" h="2743200">
                  <a:moveTo>
                    <a:pt x="0" y="1371600"/>
                  </a:moveTo>
                  <a:cubicBezTo>
                    <a:pt x="0" y="614045"/>
                    <a:pt x="614045" y="0"/>
                    <a:pt x="1371600" y="0"/>
                  </a:cubicBezTo>
                  <a:cubicBezTo>
                    <a:pt x="2129155" y="0"/>
                    <a:pt x="2743200" y="614045"/>
                    <a:pt x="2743200" y="1371600"/>
                  </a:cubicBezTo>
                  <a:cubicBezTo>
                    <a:pt x="2743200" y="2129155"/>
                    <a:pt x="2129155" y="2743200"/>
                    <a:pt x="1371600" y="2743200"/>
                  </a:cubicBezTo>
                  <a:cubicBezTo>
                    <a:pt x="614045" y="2743200"/>
                    <a:pt x="0" y="2129155"/>
                    <a:pt x="0" y="1371600"/>
                  </a:cubicBezTo>
                  <a:close/>
                </a:path>
              </a:pathLst>
            </a:custGeom>
            <a:gradFill rotWithShape="1">
              <a:gsLst>
                <a:gs pos="0">
                  <a:srgbClr val="004AAD">
                    <a:alpha val="100000"/>
                  </a:srgbClr>
                </a:gs>
                <a:gs pos="100000">
                  <a:srgbClr val="CB6CE6">
                    <a:alpha val="100000"/>
                  </a:srgbClr>
                </a:gs>
              </a:gsLst>
              <a:lin ang="0"/>
            </a:gradFill>
          </p:spPr>
        </p:sp>
        <p:sp>
          <p:nvSpPr>
            <p:cNvPr id="56" name="Freeform 56"/>
            <p:cNvSpPr/>
            <p:nvPr/>
          </p:nvSpPr>
          <p:spPr>
            <a:xfrm>
              <a:off x="0" y="0"/>
              <a:ext cx="2794000" cy="2794000"/>
            </a:xfrm>
            <a:custGeom>
              <a:avLst/>
              <a:gdLst/>
              <a:ahLst/>
              <a:cxnLst/>
              <a:rect l="l" t="t" r="r" b="b"/>
              <a:pathLst>
                <a:path w="2794000" h="2794000">
                  <a:moveTo>
                    <a:pt x="0" y="1397000"/>
                  </a:moveTo>
                  <a:cubicBezTo>
                    <a:pt x="0" y="625475"/>
                    <a:pt x="625475" y="0"/>
                    <a:pt x="1397000" y="0"/>
                  </a:cubicBezTo>
                  <a:lnTo>
                    <a:pt x="1397000" y="25400"/>
                  </a:lnTo>
                  <a:lnTo>
                    <a:pt x="1397000" y="0"/>
                  </a:lnTo>
                  <a:cubicBezTo>
                    <a:pt x="2168525" y="0"/>
                    <a:pt x="2794000" y="625475"/>
                    <a:pt x="2794000" y="1397000"/>
                  </a:cubicBezTo>
                  <a:lnTo>
                    <a:pt x="2768600" y="1397000"/>
                  </a:lnTo>
                  <a:lnTo>
                    <a:pt x="2794000" y="1397000"/>
                  </a:lnTo>
                  <a:cubicBezTo>
                    <a:pt x="2794000" y="2168525"/>
                    <a:pt x="2168525" y="2794000"/>
                    <a:pt x="1397000" y="2794000"/>
                  </a:cubicBezTo>
                  <a:lnTo>
                    <a:pt x="1397000" y="2768600"/>
                  </a:lnTo>
                  <a:lnTo>
                    <a:pt x="1397000" y="2794000"/>
                  </a:lnTo>
                  <a:cubicBezTo>
                    <a:pt x="625475" y="2794000"/>
                    <a:pt x="0" y="2168525"/>
                    <a:pt x="0" y="1397000"/>
                  </a:cubicBezTo>
                  <a:lnTo>
                    <a:pt x="25400" y="1397000"/>
                  </a:lnTo>
                  <a:lnTo>
                    <a:pt x="50800" y="1397000"/>
                  </a:lnTo>
                  <a:lnTo>
                    <a:pt x="25400" y="1397000"/>
                  </a:lnTo>
                  <a:lnTo>
                    <a:pt x="0" y="1397000"/>
                  </a:lnTo>
                  <a:moveTo>
                    <a:pt x="50800" y="1397000"/>
                  </a:moveTo>
                  <a:cubicBezTo>
                    <a:pt x="50800" y="1410970"/>
                    <a:pt x="39370" y="1422400"/>
                    <a:pt x="25400" y="1422400"/>
                  </a:cubicBezTo>
                  <a:cubicBezTo>
                    <a:pt x="11430" y="1422400"/>
                    <a:pt x="0" y="1410970"/>
                    <a:pt x="0" y="1397000"/>
                  </a:cubicBezTo>
                  <a:cubicBezTo>
                    <a:pt x="0" y="1383030"/>
                    <a:pt x="11430" y="1371600"/>
                    <a:pt x="25400" y="1371600"/>
                  </a:cubicBezTo>
                  <a:cubicBezTo>
                    <a:pt x="39370" y="1371600"/>
                    <a:pt x="50800" y="1383030"/>
                    <a:pt x="50800" y="1397000"/>
                  </a:cubicBezTo>
                  <a:cubicBezTo>
                    <a:pt x="50800" y="2140458"/>
                    <a:pt x="653542" y="2743200"/>
                    <a:pt x="1397000" y="2743200"/>
                  </a:cubicBezTo>
                  <a:cubicBezTo>
                    <a:pt x="2140458" y="2743200"/>
                    <a:pt x="2743200" y="2140458"/>
                    <a:pt x="2743200" y="1397000"/>
                  </a:cubicBezTo>
                  <a:cubicBezTo>
                    <a:pt x="2743200" y="653542"/>
                    <a:pt x="2140458" y="50800"/>
                    <a:pt x="1397000" y="50800"/>
                  </a:cubicBezTo>
                  <a:lnTo>
                    <a:pt x="1397000" y="25400"/>
                  </a:lnTo>
                  <a:lnTo>
                    <a:pt x="1397000" y="50800"/>
                  </a:lnTo>
                  <a:cubicBezTo>
                    <a:pt x="653542" y="50800"/>
                    <a:pt x="50800" y="653542"/>
                    <a:pt x="50800" y="1397000"/>
                  </a:cubicBezTo>
                  <a:close/>
                </a:path>
              </a:pathLst>
            </a:custGeom>
            <a:gradFill rotWithShape="1">
              <a:gsLst>
                <a:gs pos="0">
                  <a:srgbClr val="8C52FF">
                    <a:alpha val="100000"/>
                  </a:srgbClr>
                </a:gs>
                <a:gs pos="100000">
                  <a:srgbClr val="00BF63">
                    <a:alpha val="100000"/>
                  </a:srgbClr>
                </a:gs>
              </a:gsLst>
              <a:lin ang="0"/>
            </a:gradFill>
          </p:spPr>
        </p:sp>
      </p:grpSp>
      <p:grpSp>
        <p:nvGrpSpPr>
          <p:cNvPr id="57" name="Group 57"/>
          <p:cNvGrpSpPr/>
          <p:nvPr/>
        </p:nvGrpSpPr>
        <p:grpSpPr>
          <a:xfrm>
            <a:off x="10006158" y="3209556"/>
            <a:ext cx="2057400" cy="888840"/>
            <a:chOff x="0" y="0"/>
            <a:chExt cx="2743200" cy="1185120"/>
          </a:xfrm>
        </p:grpSpPr>
        <p:sp>
          <p:nvSpPr>
            <p:cNvPr id="58" name="Freeform 58"/>
            <p:cNvSpPr/>
            <p:nvPr/>
          </p:nvSpPr>
          <p:spPr>
            <a:xfrm>
              <a:off x="0" y="0"/>
              <a:ext cx="2743200" cy="1185120"/>
            </a:xfrm>
            <a:custGeom>
              <a:avLst/>
              <a:gdLst/>
              <a:ahLst/>
              <a:cxnLst/>
              <a:rect l="l" t="t" r="r" b="b"/>
              <a:pathLst>
                <a:path w="2743200" h="1185120">
                  <a:moveTo>
                    <a:pt x="0" y="0"/>
                  </a:moveTo>
                  <a:lnTo>
                    <a:pt x="2743200" y="0"/>
                  </a:lnTo>
                  <a:lnTo>
                    <a:pt x="2743200" y="1185120"/>
                  </a:lnTo>
                  <a:lnTo>
                    <a:pt x="0" y="1185120"/>
                  </a:lnTo>
                  <a:close/>
                </a:path>
              </a:pathLst>
            </a:custGeom>
            <a:solidFill>
              <a:srgbClr val="000000">
                <a:alpha val="0"/>
              </a:srgbClr>
            </a:solidFill>
          </p:spPr>
        </p:sp>
        <p:sp>
          <p:nvSpPr>
            <p:cNvPr id="59" name="TextBox 59"/>
            <p:cNvSpPr txBox="1"/>
            <p:nvPr/>
          </p:nvSpPr>
          <p:spPr>
            <a:xfrm>
              <a:off x="0" y="-38100"/>
              <a:ext cx="2743200" cy="1223220"/>
            </a:xfrm>
            <a:prstGeom prst="rect">
              <a:avLst/>
            </a:prstGeom>
          </p:spPr>
          <p:txBody>
            <a:bodyPr lIns="0" tIns="0" rIns="0" bIns="0" rtlCol="0" anchor="t"/>
            <a:lstStyle/>
            <a:p>
              <a:pPr algn="ctr">
                <a:lnSpc>
                  <a:spcPts val="2160"/>
                </a:lnSpc>
              </a:pPr>
              <a:r>
                <a:rPr lang="en-US" sz="1800" b="1" dirty="0">
                  <a:solidFill>
                    <a:srgbClr val="F4F6FC"/>
                  </a:solidFill>
                  <a:latin typeface="Calibri (MS) Bold"/>
                  <a:ea typeface="Calibri (MS) Bold"/>
                  <a:cs typeface="Calibri (MS) Bold"/>
                  <a:sym typeface="Calibri (MS) Bold"/>
                </a:rPr>
                <a:t>PAYROLL PROCESSING AND ADJUSTMENTS</a:t>
              </a:r>
            </a:p>
          </p:txBody>
        </p:sp>
      </p:grpSp>
      <p:grpSp>
        <p:nvGrpSpPr>
          <p:cNvPr id="60" name="Group 60"/>
          <p:cNvGrpSpPr/>
          <p:nvPr/>
        </p:nvGrpSpPr>
        <p:grpSpPr>
          <a:xfrm>
            <a:off x="15760328" y="996634"/>
            <a:ext cx="2092638" cy="1884285"/>
            <a:chOff x="0" y="0"/>
            <a:chExt cx="2085876" cy="1878197"/>
          </a:xfrm>
        </p:grpSpPr>
        <p:sp>
          <p:nvSpPr>
            <p:cNvPr id="61" name="Freeform 61" descr="oval shape"/>
            <p:cNvSpPr/>
            <p:nvPr/>
          </p:nvSpPr>
          <p:spPr>
            <a:xfrm>
              <a:off x="25400" y="22871"/>
              <a:ext cx="2035048" cy="1832430"/>
            </a:xfrm>
            <a:custGeom>
              <a:avLst/>
              <a:gdLst/>
              <a:ahLst/>
              <a:cxnLst/>
              <a:rect l="l" t="t" r="r" b="b"/>
              <a:pathLst>
                <a:path w="2035048" h="1832430">
                  <a:moveTo>
                    <a:pt x="0" y="916215"/>
                  </a:moveTo>
                  <a:cubicBezTo>
                    <a:pt x="0" y="410193"/>
                    <a:pt x="455549" y="0"/>
                    <a:pt x="1017524" y="0"/>
                  </a:cubicBezTo>
                  <a:cubicBezTo>
                    <a:pt x="1579499" y="0"/>
                    <a:pt x="2035048" y="410193"/>
                    <a:pt x="2035048" y="916215"/>
                  </a:cubicBezTo>
                  <a:cubicBezTo>
                    <a:pt x="2035048" y="1422237"/>
                    <a:pt x="1579499" y="1832430"/>
                    <a:pt x="1017524" y="1832430"/>
                  </a:cubicBezTo>
                  <a:cubicBezTo>
                    <a:pt x="455549" y="1832430"/>
                    <a:pt x="0" y="1422237"/>
                    <a:pt x="0" y="916215"/>
                  </a:cubicBezTo>
                  <a:close/>
                </a:path>
              </a:pathLst>
            </a:custGeom>
            <a:gradFill rotWithShape="1">
              <a:gsLst>
                <a:gs pos="0">
                  <a:srgbClr val="004AAD">
                    <a:alpha val="100000"/>
                  </a:srgbClr>
                </a:gs>
                <a:gs pos="100000">
                  <a:srgbClr val="CB6CE6">
                    <a:alpha val="100000"/>
                  </a:srgbClr>
                </a:gs>
              </a:gsLst>
              <a:lin ang="0"/>
            </a:gradFill>
          </p:spPr>
        </p:sp>
        <p:sp>
          <p:nvSpPr>
            <p:cNvPr id="62" name="Freeform 62" descr="oval shape"/>
            <p:cNvSpPr/>
            <p:nvPr/>
          </p:nvSpPr>
          <p:spPr>
            <a:xfrm>
              <a:off x="0" y="0"/>
              <a:ext cx="2085848" cy="1878172"/>
            </a:xfrm>
            <a:custGeom>
              <a:avLst/>
              <a:gdLst/>
              <a:ahLst/>
              <a:cxnLst/>
              <a:rect l="l" t="t" r="r" b="b"/>
              <a:pathLst>
                <a:path w="2085848" h="1878172">
                  <a:moveTo>
                    <a:pt x="0" y="939086"/>
                  </a:moveTo>
                  <a:cubicBezTo>
                    <a:pt x="0" y="420484"/>
                    <a:pt x="466979" y="0"/>
                    <a:pt x="1042924" y="0"/>
                  </a:cubicBezTo>
                  <a:lnTo>
                    <a:pt x="1042924" y="22871"/>
                  </a:lnTo>
                  <a:lnTo>
                    <a:pt x="1042924" y="0"/>
                  </a:lnTo>
                  <a:cubicBezTo>
                    <a:pt x="1618869" y="0"/>
                    <a:pt x="2085848" y="420484"/>
                    <a:pt x="2085848" y="939086"/>
                  </a:cubicBezTo>
                  <a:lnTo>
                    <a:pt x="2060448" y="939086"/>
                  </a:lnTo>
                  <a:lnTo>
                    <a:pt x="2085848" y="939086"/>
                  </a:lnTo>
                  <a:cubicBezTo>
                    <a:pt x="2085848" y="1457687"/>
                    <a:pt x="1618869" y="1878172"/>
                    <a:pt x="1042924" y="1878172"/>
                  </a:cubicBezTo>
                  <a:lnTo>
                    <a:pt x="1042924" y="1855301"/>
                  </a:lnTo>
                  <a:lnTo>
                    <a:pt x="1042924" y="1878172"/>
                  </a:lnTo>
                  <a:cubicBezTo>
                    <a:pt x="466979" y="1878172"/>
                    <a:pt x="0" y="1457802"/>
                    <a:pt x="0" y="939086"/>
                  </a:cubicBezTo>
                  <a:lnTo>
                    <a:pt x="25400" y="939086"/>
                  </a:lnTo>
                  <a:lnTo>
                    <a:pt x="50800" y="939086"/>
                  </a:lnTo>
                  <a:lnTo>
                    <a:pt x="25400" y="939086"/>
                  </a:lnTo>
                  <a:lnTo>
                    <a:pt x="0" y="939086"/>
                  </a:lnTo>
                  <a:moveTo>
                    <a:pt x="50800" y="939086"/>
                  </a:moveTo>
                  <a:cubicBezTo>
                    <a:pt x="50800" y="951665"/>
                    <a:pt x="39370" y="961957"/>
                    <a:pt x="25400" y="961957"/>
                  </a:cubicBezTo>
                  <a:cubicBezTo>
                    <a:pt x="11430" y="961957"/>
                    <a:pt x="0" y="951665"/>
                    <a:pt x="0" y="939086"/>
                  </a:cubicBezTo>
                  <a:cubicBezTo>
                    <a:pt x="0" y="926507"/>
                    <a:pt x="11430" y="916215"/>
                    <a:pt x="25400" y="916215"/>
                  </a:cubicBezTo>
                  <a:cubicBezTo>
                    <a:pt x="39370" y="916215"/>
                    <a:pt x="50800" y="926507"/>
                    <a:pt x="50800" y="939086"/>
                  </a:cubicBezTo>
                  <a:cubicBezTo>
                    <a:pt x="50800" y="1432529"/>
                    <a:pt x="495046" y="1832430"/>
                    <a:pt x="1042924" y="1832430"/>
                  </a:cubicBezTo>
                  <a:cubicBezTo>
                    <a:pt x="1590802" y="1832430"/>
                    <a:pt x="2035048" y="1432415"/>
                    <a:pt x="2035048" y="939086"/>
                  </a:cubicBezTo>
                  <a:cubicBezTo>
                    <a:pt x="2035048" y="445757"/>
                    <a:pt x="1590929" y="45742"/>
                    <a:pt x="1042924" y="45742"/>
                  </a:cubicBezTo>
                  <a:lnTo>
                    <a:pt x="1042924" y="22871"/>
                  </a:lnTo>
                  <a:lnTo>
                    <a:pt x="1042924" y="45742"/>
                  </a:lnTo>
                  <a:cubicBezTo>
                    <a:pt x="495046" y="45742"/>
                    <a:pt x="50800" y="445757"/>
                    <a:pt x="50800" y="939086"/>
                  </a:cubicBezTo>
                  <a:close/>
                </a:path>
              </a:pathLst>
            </a:custGeom>
            <a:gradFill rotWithShape="1">
              <a:gsLst>
                <a:gs pos="0">
                  <a:srgbClr val="8C52FF">
                    <a:alpha val="100000"/>
                  </a:srgbClr>
                </a:gs>
                <a:gs pos="100000">
                  <a:srgbClr val="00BF63">
                    <a:alpha val="100000"/>
                  </a:srgbClr>
                </a:gs>
              </a:gsLst>
              <a:lin ang="0"/>
            </a:gradFill>
          </p:spPr>
        </p:sp>
        <p:sp>
          <p:nvSpPr>
            <p:cNvPr id="63" name="TextBox 63"/>
            <p:cNvSpPr txBox="1"/>
            <p:nvPr/>
          </p:nvSpPr>
          <p:spPr>
            <a:xfrm>
              <a:off x="0" y="-47625"/>
              <a:ext cx="2085876" cy="1925822"/>
            </a:xfrm>
            <a:prstGeom prst="rect">
              <a:avLst/>
            </a:prstGeom>
          </p:spPr>
          <p:txBody>
            <a:bodyPr lIns="67953" tIns="67953" rIns="67953" bIns="67953" rtlCol="0" anchor="ctr"/>
            <a:lstStyle/>
            <a:p>
              <a:pPr algn="ctr">
                <a:lnSpc>
                  <a:spcPts val="3370"/>
                </a:lnSpc>
              </a:pPr>
              <a:r>
                <a:rPr lang="en-US" sz="2809">
                  <a:solidFill>
                    <a:srgbClr val="F4F6FC"/>
                  </a:solidFill>
                  <a:latin typeface="Calibri (MS)"/>
                  <a:ea typeface="Calibri (MS)"/>
                  <a:cs typeface="Calibri (MS)"/>
                  <a:sym typeface="Calibri (MS)"/>
                </a:rPr>
                <a:t> Quick</a:t>
              </a:r>
            </a:p>
            <a:p>
              <a:pPr algn="ctr">
                <a:lnSpc>
                  <a:spcPts val="3370"/>
                </a:lnSpc>
              </a:pPr>
              <a:r>
                <a:rPr lang="en-US" sz="2809">
                  <a:solidFill>
                    <a:srgbClr val="F4F6FC"/>
                  </a:solidFill>
                  <a:latin typeface="Calibri (MS)"/>
                  <a:ea typeface="Calibri (MS)"/>
                  <a:cs typeface="Calibri (MS)"/>
                  <a:sym typeface="Calibri (MS)"/>
                </a:rPr>
                <a:t> Pay Runs</a:t>
              </a:r>
            </a:p>
            <a:p>
              <a:pPr algn="ctr">
                <a:lnSpc>
                  <a:spcPts val="3370"/>
                </a:lnSpc>
              </a:pPr>
              <a:endParaRPr lang="en-US" sz="2809">
                <a:solidFill>
                  <a:srgbClr val="F4F6FC"/>
                </a:solidFill>
                <a:latin typeface="Calibri (MS)"/>
                <a:ea typeface="Calibri (MS)"/>
                <a:cs typeface="Calibri (MS)"/>
                <a:sym typeface="Calibri (MS)"/>
              </a:endParaRPr>
            </a:p>
          </p:txBody>
        </p:sp>
      </p:grpSp>
      <p:sp>
        <p:nvSpPr>
          <p:cNvPr id="64" name="AutoShape 64" descr="line connector"/>
          <p:cNvSpPr/>
          <p:nvPr/>
        </p:nvSpPr>
        <p:spPr>
          <a:xfrm flipV="1">
            <a:off x="9127692" y="7987738"/>
            <a:ext cx="1389278" cy="1283627"/>
          </a:xfrm>
          <a:prstGeom prst="line">
            <a:avLst/>
          </a:prstGeom>
          <a:ln w="28575" cap="rnd">
            <a:gradFill>
              <a:gsLst>
                <a:gs pos="0">
                  <a:srgbClr val="FF3131">
                    <a:alpha val="100000"/>
                  </a:srgbClr>
                </a:gs>
                <a:gs pos="100000">
                  <a:srgbClr val="FF914D">
                    <a:alpha val="100000"/>
                  </a:srgbClr>
                </a:gs>
              </a:gsLst>
              <a:lin ang="0"/>
            </a:gradFill>
            <a:prstDash val="solid"/>
            <a:headEnd type="none" w="sm" len="sm"/>
            <a:tailEnd type="none" w="sm" len="sm"/>
          </a:ln>
        </p:spPr>
      </p:sp>
      <p:grpSp>
        <p:nvGrpSpPr>
          <p:cNvPr id="65" name="Group 65"/>
          <p:cNvGrpSpPr/>
          <p:nvPr/>
        </p:nvGrpSpPr>
        <p:grpSpPr>
          <a:xfrm>
            <a:off x="9987970" y="6398463"/>
            <a:ext cx="2093775" cy="2093775"/>
            <a:chOff x="0" y="0"/>
            <a:chExt cx="2840064" cy="2840064"/>
          </a:xfrm>
        </p:grpSpPr>
        <p:sp>
          <p:nvSpPr>
            <p:cNvPr id="66" name="Freeform 66"/>
            <p:cNvSpPr/>
            <p:nvPr/>
          </p:nvSpPr>
          <p:spPr>
            <a:xfrm>
              <a:off x="25400" y="25400"/>
              <a:ext cx="2743200" cy="2743200"/>
            </a:xfrm>
            <a:custGeom>
              <a:avLst/>
              <a:gdLst/>
              <a:ahLst/>
              <a:cxnLst/>
              <a:rect l="l" t="t" r="r" b="b"/>
              <a:pathLst>
                <a:path w="2743200" h="2743200">
                  <a:moveTo>
                    <a:pt x="0" y="1371600"/>
                  </a:moveTo>
                  <a:cubicBezTo>
                    <a:pt x="0" y="614045"/>
                    <a:pt x="614045" y="0"/>
                    <a:pt x="1371600" y="0"/>
                  </a:cubicBezTo>
                  <a:cubicBezTo>
                    <a:pt x="2129155" y="0"/>
                    <a:pt x="2743200" y="614045"/>
                    <a:pt x="2743200" y="1371600"/>
                  </a:cubicBezTo>
                  <a:cubicBezTo>
                    <a:pt x="2743200" y="2129155"/>
                    <a:pt x="2129155" y="2743200"/>
                    <a:pt x="1371600" y="2743200"/>
                  </a:cubicBezTo>
                  <a:cubicBezTo>
                    <a:pt x="614045" y="2743200"/>
                    <a:pt x="0" y="2129155"/>
                    <a:pt x="0" y="1371600"/>
                  </a:cubicBezTo>
                  <a:close/>
                </a:path>
              </a:pathLst>
            </a:custGeom>
            <a:gradFill rotWithShape="1">
              <a:gsLst>
                <a:gs pos="0">
                  <a:srgbClr val="004AAD">
                    <a:alpha val="100000"/>
                  </a:srgbClr>
                </a:gs>
                <a:gs pos="100000">
                  <a:srgbClr val="CB6CE6">
                    <a:alpha val="100000"/>
                  </a:srgbClr>
                </a:gs>
              </a:gsLst>
              <a:lin ang="0"/>
            </a:gradFill>
          </p:spPr>
        </p:sp>
        <p:sp>
          <p:nvSpPr>
            <p:cNvPr id="67" name="Freeform 67"/>
            <p:cNvSpPr/>
            <p:nvPr/>
          </p:nvSpPr>
          <p:spPr>
            <a:xfrm>
              <a:off x="0" y="0"/>
              <a:ext cx="2794000" cy="2794000"/>
            </a:xfrm>
            <a:custGeom>
              <a:avLst/>
              <a:gdLst/>
              <a:ahLst/>
              <a:cxnLst/>
              <a:rect l="l" t="t" r="r" b="b"/>
              <a:pathLst>
                <a:path w="2794000" h="2794000">
                  <a:moveTo>
                    <a:pt x="0" y="1397000"/>
                  </a:moveTo>
                  <a:cubicBezTo>
                    <a:pt x="0" y="625475"/>
                    <a:pt x="625475" y="0"/>
                    <a:pt x="1397000" y="0"/>
                  </a:cubicBezTo>
                  <a:lnTo>
                    <a:pt x="1397000" y="25400"/>
                  </a:lnTo>
                  <a:lnTo>
                    <a:pt x="1397000" y="0"/>
                  </a:lnTo>
                  <a:cubicBezTo>
                    <a:pt x="2168525" y="0"/>
                    <a:pt x="2794000" y="625475"/>
                    <a:pt x="2794000" y="1397000"/>
                  </a:cubicBezTo>
                  <a:lnTo>
                    <a:pt x="2768600" y="1397000"/>
                  </a:lnTo>
                  <a:lnTo>
                    <a:pt x="2794000" y="1397000"/>
                  </a:lnTo>
                  <a:cubicBezTo>
                    <a:pt x="2794000" y="2168525"/>
                    <a:pt x="2168525" y="2794000"/>
                    <a:pt x="1397000" y="2794000"/>
                  </a:cubicBezTo>
                  <a:lnTo>
                    <a:pt x="1397000" y="2768600"/>
                  </a:lnTo>
                  <a:lnTo>
                    <a:pt x="1397000" y="2794000"/>
                  </a:lnTo>
                  <a:cubicBezTo>
                    <a:pt x="625475" y="2794000"/>
                    <a:pt x="0" y="2168525"/>
                    <a:pt x="0" y="1397000"/>
                  </a:cubicBezTo>
                  <a:lnTo>
                    <a:pt x="25400" y="1397000"/>
                  </a:lnTo>
                  <a:lnTo>
                    <a:pt x="50800" y="1397000"/>
                  </a:lnTo>
                  <a:lnTo>
                    <a:pt x="25400" y="1397000"/>
                  </a:lnTo>
                  <a:lnTo>
                    <a:pt x="0" y="1397000"/>
                  </a:lnTo>
                  <a:moveTo>
                    <a:pt x="50800" y="1397000"/>
                  </a:moveTo>
                  <a:cubicBezTo>
                    <a:pt x="50800" y="1410970"/>
                    <a:pt x="39370" y="1422400"/>
                    <a:pt x="25400" y="1422400"/>
                  </a:cubicBezTo>
                  <a:cubicBezTo>
                    <a:pt x="11430" y="1422400"/>
                    <a:pt x="0" y="1410970"/>
                    <a:pt x="0" y="1397000"/>
                  </a:cubicBezTo>
                  <a:cubicBezTo>
                    <a:pt x="0" y="1383030"/>
                    <a:pt x="11430" y="1371600"/>
                    <a:pt x="25400" y="1371600"/>
                  </a:cubicBezTo>
                  <a:cubicBezTo>
                    <a:pt x="39370" y="1371600"/>
                    <a:pt x="50800" y="1383030"/>
                    <a:pt x="50800" y="1397000"/>
                  </a:cubicBezTo>
                  <a:cubicBezTo>
                    <a:pt x="50800" y="2140458"/>
                    <a:pt x="653542" y="2743200"/>
                    <a:pt x="1397000" y="2743200"/>
                  </a:cubicBezTo>
                  <a:cubicBezTo>
                    <a:pt x="2140458" y="2743200"/>
                    <a:pt x="2743200" y="2140458"/>
                    <a:pt x="2743200" y="1397000"/>
                  </a:cubicBezTo>
                  <a:cubicBezTo>
                    <a:pt x="2743200" y="653542"/>
                    <a:pt x="2140458" y="50800"/>
                    <a:pt x="1397000" y="50800"/>
                  </a:cubicBezTo>
                  <a:lnTo>
                    <a:pt x="1397000" y="25400"/>
                  </a:lnTo>
                  <a:lnTo>
                    <a:pt x="1397000" y="50800"/>
                  </a:lnTo>
                  <a:cubicBezTo>
                    <a:pt x="653542" y="50800"/>
                    <a:pt x="50800" y="653542"/>
                    <a:pt x="50800" y="1397000"/>
                  </a:cubicBezTo>
                  <a:close/>
                </a:path>
              </a:pathLst>
            </a:custGeom>
            <a:gradFill rotWithShape="1">
              <a:gsLst>
                <a:gs pos="0">
                  <a:srgbClr val="FF3131">
                    <a:alpha val="100000"/>
                  </a:srgbClr>
                </a:gs>
                <a:gs pos="100000">
                  <a:srgbClr val="FF914D">
                    <a:alpha val="100000"/>
                  </a:srgbClr>
                </a:gs>
              </a:gsLst>
              <a:lin ang="0"/>
            </a:gradFill>
          </p:spPr>
        </p:sp>
      </p:grpSp>
      <p:grpSp>
        <p:nvGrpSpPr>
          <p:cNvPr id="68" name="Group 68"/>
          <p:cNvGrpSpPr/>
          <p:nvPr/>
        </p:nvGrpSpPr>
        <p:grpSpPr>
          <a:xfrm>
            <a:off x="7717970" y="8495564"/>
            <a:ext cx="1894670" cy="1894670"/>
            <a:chOff x="0" y="0"/>
            <a:chExt cx="2143776" cy="2143776"/>
          </a:xfrm>
        </p:grpSpPr>
        <p:sp>
          <p:nvSpPr>
            <p:cNvPr id="69" name="Freeform 69" descr="oval shape"/>
            <p:cNvSpPr/>
            <p:nvPr/>
          </p:nvSpPr>
          <p:spPr>
            <a:xfrm>
              <a:off x="25400" y="25400"/>
              <a:ext cx="2092960" cy="2092960"/>
            </a:xfrm>
            <a:custGeom>
              <a:avLst/>
              <a:gdLst/>
              <a:ahLst/>
              <a:cxnLst/>
              <a:rect l="l" t="t" r="r" b="b"/>
              <a:pathLst>
                <a:path w="2092960" h="2092960">
                  <a:moveTo>
                    <a:pt x="0" y="1046480"/>
                  </a:moveTo>
                  <a:cubicBezTo>
                    <a:pt x="0" y="468503"/>
                    <a:pt x="468503" y="0"/>
                    <a:pt x="1046480" y="0"/>
                  </a:cubicBezTo>
                  <a:cubicBezTo>
                    <a:pt x="1624457" y="0"/>
                    <a:pt x="2092960" y="468503"/>
                    <a:pt x="2092960" y="1046480"/>
                  </a:cubicBezTo>
                  <a:cubicBezTo>
                    <a:pt x="2092960" y="1624457"/>
                    <a:pt x="1624457" y="2092960"/>
                    <a:pt x="1046480" y="2092960"/>
                  </a:cubicBezTo>
                  <a:cubicBezTo>
                    <a:pt x="468503" y="2092960"/>
                    <a:pt x="0" y="1624457"/>
                    <a:pt x="0" y="1046480"/>
                  </a:cubicBezTo>
                  <a:close/>
                </a:path>
              </a:pathLst>
            </a:custGeom>
            <a:gradFill rotWithShape="1">
              <a:gsLst>
                <a:gs pos="0">
                  <a:srgbClr val="004AAD">
                    <a:alpha val="100000"/>
                  </a:srgbClr>
                </a:gs>
                <a:gs pos="100000">
                  <a:srgbClr val="CB6CE6">
                    <a:alpha val="100000"/>
                  </a:srgbClr>
                </a:gs>
              </a:gsLst>
              <a:lin ang="0"/>
            </a:gradFill>
          </p:spPr>
        </p:sp>
        <p:sp>
          <p:nvSpPr>
            <p:cNvPr id="70" name="Freeform 70" descr="oval shape"/>
            <p:cNvSpPr/>
            <p:nvPr/>
          </p:nvSpPr>
          <p:spPr>
            <a:xfrm>
              <a:off x="0" y="0"/>
              <a:ext cx="2143760" cy="2143760"/>
            </a:xfrm>
            <a:custGeom>
              <a:avLst/>
              <a:gdLst/>
              <a:ahLst/>
              <a:cxnLst/>
              <a:rect l="l" t="t" r="r" b="b"/>
              <a:pathLst>
                <a:path w="2143760" h="2143760">
                  <a:moveTo>
                    <a:pt x="0" y="1071880"/>
                  </a:moveTo>
                  <a:cubicBezTo>
                    <a:pt x="0" y="479933"/>
                    <a:pt x="479933" y="0"/>
                    <a:pt x="1071880" y="0"/>
                  </a:cubicBezTo>
                  <a:lnTo>
                    <a:pt x="1071880" y="25400"/>
                  </a:lnTo>
                  <a:lnTo>
                    <a:pt x="1071880" y="0"/>
                  </a:lnTo>
                  <a:cubicBezTo>
                    <a:pt x="1663827" y="0"/>
                    <a:pt x="2143760" y="479933"/>
                    <a:pt x="2143760" y="1071880"/>
                  </a:cubicBezTo>
                  <a:lnTo>
                    <a:pt x="2118360" y="1071880"/>
                  </a:lnTo>
                  <a:lnTo>
                    <a:pt x="2143760" y="1071880"/>
                  </a:lnTo>
                  <a:cubicBezTo>
                    <a:pt x="2143760" y="1663827"/>
                    <a:pt x="1663827" y="2143760"/>
                    <a:pt x="1071880" y="2143760"/>
                  </a:cubicBezTo>
                  <a:lnTo>
                    <a:pt x="1071880" y="2118360"/>
                  </a:lnTo>
                  <a:lnTo>
                    <a:pt x="1071880" y="2143760"/>
                  </a:lnTo>
                  <a:cubicBezTo>
                    <a:pt x="479933" y="2143760"/>
                    <a:pt x="0" y="1663827"/>
                    <a:pt x="0" y="1071880"/>
                  </a:cubicBezTo>
                  <a:lnTo>
                    <a:pt x="25400" y="1071880"/>
                  </a:lnTo>
                  <a:lnTo>
                    <a:pt x="50800" y="1071880"/>
                  </a:lnTo>
                  <a:lnTo>
                    <a:pt x="25400" y="1071880"/>
                  </a:lnTo>
                  <a:lnTo>
                    <a:pt x="0" y="1071880"/>
                  </a:lnTo>
                  <a:moveTo>
                    <a:pt x="50800" y="1071880"/>
                  </a:moveTo>
                  <a:cubicBezTo>
                    <a:pt x="50800" y="1085850"/>
                    <a:pt x="39370" y="1097280"/>
                    <a:pt x="25400" y="1097280"/>
                  </a:cubicBezTo>
                  <a:cubicBezTo>
                    <a:pt x="11430" y="1097280"/>
                    <a:pt x="0" y="1085850"/>
                    <a:pt x="0" y="1071880"/>
                  </a:cubicBezTo>
                  <a:cubicBezTo>
                    <a:pt x="0" y="1057910"/>
                    <a:pt x="11430" y="1046480"/>
                    <a:pt x="25400" y="1046480"/>
                  </a:cubicBezTo>
                  <a:cubicBezTo>
                    <a:pt x="39370" y="1046480"/>
                    <a:pt x="50800" y="1057910"/>
                    <a:pt x="50800" y="1071880"/>
                  </a:cubicBezTo>
                  <a:cubicBezTo>
                    <a:pt x="50800" y="1635760"/>
                    <a:pt x="508000" y="2092960"/>
                    <a:pt x="1071880" y="2092960"/>
                  </a:cubicBezTo>
                  <a:cubicBezTo>
                    <a:pt x="1635760" y="2092960"/>
                    <a:pt x="2092960" y="1635760"/>
                    <a:pt x="2092960" y="1071880"/>
                  </a:cubicBezTo>
                  <a:cubicBezTo>
                    <a:pt x="2092960" y="508000"/>
                    <a:pt x="1635760" y="50800"/>
                    <a:pt x="1071880" y="50800"/>
                  </a:cubicBezTo>
                  <a:lnTo>
                    <a:pt x="1071880" y="25400"/>
                  </a:lnTo>
                  <a:lnTo>
                    <a:pt x="1071880" y="50800"/>
                  </a:lnTo>
                  <a:cubicBezTo>
                    <a:pt x="508000" y="50800"/>
                    <a:pt x="50800" y="508000"/>
                    <a:pt x="50800" y="1071880"/>
                  </a:cubicBezTo>
                  <a:close/>
                </a:path>
              </a:pathLst>
            </a:custGeom>
            <a:gradFill rotWithShape="1">
              <a:gsLst>
                <a:gs pos="0">
                  <a:srgbClr val="FF3131">
                    <a:alpha val="100000"/>
                  </a:srgbClr>
                </a:gs>
                <a:gs pos="100000">
                  <a:srgbClr val="FF914D">
                    <a:alpha val="100000"/>
                  </a:srgbClr>
                </a:gs>
              </a:gsLst>
              <a:lin ang="0"/>
            </a:gradFill>
          </p:spPr>
        </p:sp>
        <p:sp>
          <p:nvSpPr>
            <p:cNvPr id="71" name="TextBox 71"/>
            <p:cNvSpPr txBox="1"/>
            <p:nvPr/>
          </p:nvSpPr>
          <p:spPr>
            <a:xfrm>
              <a:off x="0" y="-47625"/>
              <a:ext cx="2143776" cy="2191401"/>
            </a:xfrm>
            <a:prstGeom prst="rect">
              <a:avLst/>
            </a:prstGeom>
          </p:spPr>
          <p:txBody>
            <a:bodyPr lIns="59863" tIns="59863" rIns="59863" bIns="59863" rtlCol="0" anchor="ctr"/>
            <a:lstStyle/>
            <a:p>
              <a:pPr algn="ctr">
                <a:lnSpc>
                  <a:spcPts val="2969"/>
                </a:lnSpc>
              </a:pPr>
              <a:r>
                <a:rPr lang="en-US" sz="2474" dirty="0">
                  <a:solidFill>
                    <a:srgbClr val="F4F6FC"/>
                  </a:solidFill>
                  <a:latin typeface="Calibri (MS)"/>
                  <a:ea typeface="Calibri (MS)"/>
                  <a:cs typeface="Calibri (MS)"/>
                  <a:sym typeface="Calibri (MS)"/>
                </a:rPr>
                <a:t> Payroll Reporting</a:t>
              </a:r>
            </a:p>
            <a:p>
              <a:pPr algn="ctr">
                <a:lnSpc>
                  <a:spcPts val="2969"/>
                </a:lnSpc>
              </a:pPr>
              <a:endParaRPr lang="en-US" sz="2474" dirty="0">
                <a:solidFill>
                  <a:srgbClr val="F4F6FC"/>
                </a:solidFill>
                <a:latin typeface="Calibri (MS)"/>
                <a:ea typeface="Calibri (MS)"/>
                <a:cs typeface="Calibri (MS)"/>
                <a:sym typeface="Calibri (MS)"/>
              </a:endParaRPr>
            </a:p>
          </p:txBody>
        </p:sp>
      </p:grpSp>
      <p:grpSp>
        <p:nvGrpSpPr>
          <p:cNvPr id="72" name="Group 72"/>
          <p:cNvGrpSpPr/>
          <p:nvPr/>
        </p:nvGrpSpPr>
        <p:grpSpPr>
          <a:xfrm>
            <a:off x="15934873" y="3249981"/>
            <a:ext cx="2035344" cy="1975483"/>
            <a:chOff x="0" y="0"/>
            <a:chExt cx="2392879" cy="2322503"/>
          </a:xfrm>
        </p:grpSpPr>
        <p:sp>
          <p:nvSpPr>
            <p:cNvPr id="73" name="Freeform 73" descr="oval shape"/>
            <p:cNvSpPr/>
            <p:nvPr/>
          </p:nvSpPr>
          <p:spPr>
            <a:xfrm>
              <a:off x="29640" y="28768"/>
              <a:ext cx="2333539" cy="2264907"/>
            </a:xfrm>
            <a:custGeom>
              <a:avLst/>
              <a:gdLst/>
              <a:ahLst/>
              <a:cxnLst/>
              <a:rect l="l" t="t" r="r" b="b"/>
              <a:pathLst>
                <a:path w="2333539" h="2264907">
                  <a:moveTo>
                    <a:pt x="0" y="1132454"/>
                  </a:moveTo>
                  <a:cubicBezTo>
                    <a:pt x="0" y="507037"/>
                    <a:pt x="522401" y="0"/>
                    <a:pt x="1166769" y="0"/>
                  </a:cubicBezTo>
                  <a:cubicBezTo>
                    <a:pt x="1811138" y="0"/>
                    <a:pt x="2333538" y="507037"/>
                    <a:pt x="2333538" y="1132454"/>
                  </a:cubicBezTo>
                  <a:cubicBezTo>
                    <a:pt x="2333538" y="1757871"/>
                    <a:pt x="1811138" y="2264908"/>
                    <a:pt x="1166769" y="2264908"/>
                  </a:cubicBezTo>
                  <a:cubicBezTo>
                    <a:pt x="522401" y="2264908"/>
                    <a:pt x="0" y="1757871"/>
                    <a:pt x="0" y="1132454"/>
                  </a:cubicBezTo>
                  <a:close/>
                </a:path>
              </a:pathLst>
            </a:custGeom>
            <a:gradFill rotWithShape="1">
              <a:gsLst>
                <a:gs pos="0">
                  <a:srgbClr val="004AAD">
                    <a:alpha val="100000"/>
                  </a:srgbClr>
                </a:gs>
                <a:gs pos="100000">
                  <a:srgbClr val="CB6CE6">
                    <a:alpha val="100000"/>
                  </a:srgbClr>
                </a:gs>
              </a:gsLst>
              <a:lin ang="0"/>
            </a:gradFill>
          </p:spPr>
        </p:sp>
        <p:sp>
          <p:nvSpPr>
            <p:cNvPr id="74" name="Freeform 74" descr="oval shape"/>
            <p:cNvSpPr/>
            <p:nvPr/>
          </p:nvSpPr>
          <p:spPr>
            <a:xfrm>
              <a:off x="0" y="0"/>
              <a:ext cx="2392818" cy="2322444"/>
            </a:xfrm>
            <a:custGeom>
              <a:avLst/>
              <a:gdLst/>
              <a:ahLst/>
              <a:cxnLst/>
              <a:rect l="l" t="t" r="r" b="b"/>
              <a:pathLst>
                <a:path w="2392818" h="2322444">
                  <a:moveTo>
                    <a:pt x="0" y="1161222"/>
                  </a:moveTo>
                  <a:cubicBezTo>
                    <a:pt x="0" y="519838"/>
                    <a:pt x="535590" y="0"/>
                    <a:pt x="1196409" y="0"/>
                  </a:cubicBezTo>
                  <a:lnTo>
                    <a:pt x="1196409" y="28768"/>
                  </a:lnTo>
                  <a:lnTo>
                    <a:pt x="1196409" y="0"/>
                  </a:lnTo>
                  <a:cubicBezTo>
                    <a:pt x="1857228" y="0"/>
                    <a:pt x="2392818" y="519838"/>
                    <a:pt x="2392818" y="1161222"/>
                  </a:cubicBezTo>
                  <a:lnTo>
                    <a:pt x="2363178" y="1161222"/>
                  </a:lnTo>
                  <a:lnTo>
                    <a:pt x="2392818" y="1161222"/>
                  </a:lnTo>
                  <a:cubicBezTo>
                    <a:pt x="2392818" y="1802605"/>
                    <a:pt x="1857228" y="2322444"/>
                    <a:pt x="1196409" y="2322444"/>
                  </a:cubicBezTo>
                  <a:lnTo>
                    <a:pt x="1196409" y="2293676"/>
                  </a:lnTo>
                  <a:lnTo>
                    <a:pt x="1196409" y="2322444"/>
                  </a:lnTo>
                  <a:cubicBezTo>
                    <a:pt x="535590" y="2322444"/>
                    <a:pt x="0" y="1802605"/>
                    <a:pt x="0" y="1161222"/>
                  </a:cubicBezTo>
                  <a:lnTo>
                    <a:pt x="29640" y="1161222"/>
                  </a:lnTo>
                  <a:lnTo>
                    <a:pt x="59280" y="1161222"/>
                  </a:lnTo>
                  <a:lnTo>
                    <a:pt x="29640" y="1161222"/>
                  </a:lnTo>
                  <a:lnTo>
                    <a:pt x="0" y="1161222"/>
                  </a:lnTo>
                  <a:moveTo>
                    <a:pt x="59280" y="1161222"/>
                  </a:moveTo>
                  <a:cubicBezTo>
                    <a:pt x="59280" y="1177044"/>
                    <a:pt x="45942" y="1189990"/>
                    <a:pt x="29640" y="1189990"/>
                  </a:cubicBezTo>
                  <a:cubicBezTo>
                    <a:pt x="13338" y="1189990"/>
                    <a:pt x="0" y="1177044"/>
                    <a:pt x="0" y="1161222"/>
                  </a:cubicBezTo>
                  <a:cubicBezTo>
                    <a:pt x="0" y="1145399"/>
                    <a:pt x="13338" y="1132454"/>
                    <a:pt x="29640" y="1132454"/>
                  </a:cubicBezTo>
                  <a:cubicBezTo>
                    <a:pt x="45942" y="1132454"/>
                    <a:pt x="59280" y="1145399"/>
                    <a:pt x="59280" y="1161222"/>
                  </a:cubicBezTo>
                  <a:cubicBezTo>
                    <a:pt x="59280" y="1770817"/>
                    <a:pt x="568342" y="2264907"/>
                    <a:pt x="1196409" y="2264907"/>
                  </a:cubicBezTo>
                  <a:cubicBezTo>
                    <a:pt x="1824476" y="2264907"/>
                    <a:pt x="2333539" y="1770817"/>
                    <a:pt x="2333539" y="1161222"/>
                  </a:cubicBezTo>
                  <a:cubicBezTo>
                    <a:pt x="2333539" y="551627"/>
                    <a:pt x="1824476" y="57536"/>
                    <a:pt x="1196409" y="57536"/>
                  </a:cubicBezTo>
                  <a:lnTo>
                    <a:pt x="1196409" y="28768"/>
                  </a:lnTo>
                  <a:lnTo>
                    <a:pt x="1196409" y="57536"/>
                  </a:lnTo>
                  <a:cubicBezTo>
                    <a:pt x="568342" y="57536"/>
                    <a:pt x="59280" y="551627"/>
                    <a:pt x="59280" y="1161222"/>
                  </a:cubicBezTo>
                  <a:close/>
                </a:path>
              </a:pathLst>
            </a:custGeom>
            <a:gradFill rotWithShape="1">
              <a:gsLst>
                <a:gs pos="0">
                  <a:srgbClr val="8C52FF">
                    <a:alpha val="100000"/>
                  </a:srgbClr>
                </a:gs>
                <a:gs pos="100000">
                  <a:srgbClr val="00BF63">
                    <a:alpha val="100000"/>
                  </a:srgbClr>
                </a:gs>
              </a:gsLst>
              <a:lin ang="0"/>
            </a:gradFill>
          </p:spPr>
        </p:sp>
        <p:sp>
          <p:nvSpPr>
            <p:cNvPr id="75" name="TextBox 75"/>
            <p:cNvSpPr txBox="1"/>
            <p:nvPr/>
          </p:nvSpPr>
          <p:spPr>
            <a:xfrm>
              <a:off x="0" y="-57150"/>
              <a:ext cx="2392879" cy="2379653"/>
            </a:xfrm>
            <a:prstGeom prst="rect">
              <a:avLst/>
            </a:prstGeom>
          </p:spPr>
          <p:txBody>
            <a:bodyPr lIns="57613" tIns="57613" rIns="57613" bIns="57613" rtlCol="0" anchor="ctr"/>
            <a:lstStyle/>
            <a:p>
              <a:pPr algn="ctr">
                <a:lnSpc>
                  <a:spcPts val="2857"/>
                </a:lnSpc>
              </a:pPr>
              <a:r>
                <a:rPr lang="en-US" sz="2381" dirty="0">
                  <a:solidFill>
                    <a:srgbClr val="F4F6FC"/>
                  </a:solidFill>
                  <a:latin typeface="Calibri (MS)"/>
                  <a:ea typeface="Calibri (MS)"/>
                  <a:cs typeface="Calibri (MS)"/>
                  <a:sym typeface="Calibri (MS)"/>
                </a:rPr>
                <a:t> Manage</a:t>
              </a:r>
            </a:p>
            <a:p>
              <a:pPr algn="ctr">
                <a:lnSpc>
                  <a:spcPts val="2857"/>
                </a:lnSpc>
              </a:pPr>
              <a:r>
                <a:rPr lang="en-US" sz="2381" dirty="0">
                  <a:solidFill>
                    <a:srgbClr val="F4F6FC"/>
                  </a:solidFill>
                  <a:latin typeface="Calibri (MS)"/>
                  <a:ea typeface="Calibri (MS)"/>
                  <a:cs typeface="Calibri (MS)"/>
                  <a:sym typeface="Calibri (MS)"/>
                </a:rPr>
                <a:t>Adjustments and</a:t>
              </a:r>
            </a:p>
            <a:p>
              <a:pPr algn="ctr">
                <a:lnSpc>
                  <a:spcPts val="2857"/>
                </a:lnSpc>
              </a:pPr>
              <a:r>
                <a:rPr lang="en-US" sz="2381" dirty="0">
                  <a:solidFill>
                    <a:srgbClr val="F4F6FC"/>
                  </a:solidFill>
                  <a:latin typeface="Calibri (MS)"/>
                  <a:ea typeface="Calibri (MS)"/>
                  <a:cs typeface="Calibri (MS)"/>
                  <a:sym typeface="Calibri (MS)"/>
                </a:rPr>
                <a:t> corrections</a:t>
              </a:r>
            </a:p>
            <a:p>
              <a:pPr algn="ctr">
                <a:lnSpc>
                  <a:spcPts val="2857"/>
                </a:lnSpc>
              </a:pPr>
              <a:endParaRPr lang="en-US" sz="2381" dirty="0">
                <a:solidFill>
                  <a:srgbClr val="F4F6FC"/>
                </a:solidFill>
                <a:latin typeface="Calibri (MS)"/>
                <a:ea typeface="Calibri (MS)"/>
                <a:cs typeface="Calibri (MS)"/>
                <a:sym typeface="Calibri (MS)"/>
              </a:endParaRPr>
            </a:p>
          </p:txBody>
        </p:sp>
      </p:grpSp>
      <p:grpSp>
        <p:nvGrpSpPr>
          <p:cNvPr id="76" name="Group 76"/>
          <p:cNvGrpSpPr/>
          <p:nvPr/>
        </p:nvGrpSpPr>
        <p:grpSpPr>
          <a:xfrm>
            <a:off x="15110409" y="5315339"/>
            <a:ext cx="1915493" cy="1915493"/>
            <a:chOff x="0" y="0"/>
            <a:chExt cx="2553991" cy="2553991"/>
          </a:xfrm>
        </p:grpSpPr>
        <p:sp>
          <p:nvSpPr>
            <p:cNvPr id="77" name="Freeform 77" descr="oval shape"/>
            <p:cNvSpPr/>
            <p:nvPr/>
          </p:nvSpPr>
          <p:spPr>
            <a:xfrm>
              <a:off x="25400" y="25400"/>
              <a:ext cx="2503170" cy="2503170"/>
            </a:xfrm>
            <a:custGeom>
              <a:avLst/>
              <a:gdLst/>
              <a:ahLst/>
              <a:cxnLst/>
              <a:rect l="l" t="t" r="r" b="b"/>
              <a:pathLst>
                <a:path w="2503170" h="2503170">
                  <a:moveTo>
                    <a:pt x="0" y="1251585"/>
                  </a:moveTo>
                  <a:cubicBezTo>
                    <a:pt x="0" y="560324"/>
                    <a:pt x="560324" y="0"/>
                    <a:pt x="1251585" y="0"/>
                  </a:cubicBezTo>
                  <a:cubicBezTo>
                    <a:pt x="1942846" y="0"/>
                    <a:pt x="2503170" y="560324"/>
                    <a:pt x="2503170" y="1251585"/>
                  </a:cubicBezTo>
                  <a:cubicBezTo>
                    <a:pt x="2503170" y="1942846"/>
                    <a:pt x="1942846" y="2503170"/>
                    <a:pt x="1251585" y="2503170"/>
                  </a:cubicBezTo>
                  <a:cubicBezTo>
                    <a:pt x="560324" y="2503170"/>
                    <a:pt x="0" y="1942846"/>
                    <a:pt x="0" y="1251585"/>
                  </a:cubicBezTo>
                  <a:close/>
                </a:path>
              </a:pathLst>
            </a:custGeom>
            <a:gradFill rotWithShape="1">
              <a:gsLst>
                <a:gs pos="0">
                  <a:srgbClr val="004AAD">
                    <a:alpha val="100000"/>
                  </a:srgbClr>
                </a:gs>
                <a:gs pos="100000">
                  <a:srgbClr val="CB6CE6">
                    <a:alpha val="100000"/>
                  </a:srgbClr>
                </a:gs>
              </a:gsLst>
              <a:lin ang="0"/>
            </a:gradFill>
          </p:spPr>
        </p:sp>
        <p:sp>
          <p:nvSpPr>
            <p:cNvPr id="78" name="Freeform 78" descr="oval shape"/>
            <p:cNvSpPr/>
            <p:nvPr/>
          </p:nvSpPr>
          <p:spPr>
            <a:xfrm>
              <a:off x="0" y="0"/>
              <a:ext cx="2553970" cy="2553970"/>
            </a:xfrm>
            <a:custGeom>
              <a:avLst/>
              <a:gdLst/>
              <a:ahLst/>
              <a:cxnLst/>
              <a:rect l="l" t="t" r="r" b="b"/>
              <a:pathLst>
                <a:path w="2553970" h="2553970">
                  <a:moveTo>
                    <a:pt x="0" y="1276985"/>
                  </a:moveTo>
                  <a:cubicBezTo>
                    <a:pt x="0" y="571754"/>
                    <a:pt x="571754" y="0"/>
                    <a:pt x="1276985" y="0"/>
                  </a:cubicBezTo>
                  <a:lnTo>
                    <a:pt x="1276985" y="25400"/>
                  </a:lnTo>
                  <a:lnTo>
                    <a:pt x="1276985" y="0"/>
                  </a:lnTo>
                  <a:cubicBezTo>
                    <a:pt x="1982216" y="0"/>
                    <a:pt x="2553970" y="571754"/>
                    <a:pt x="2553970" y="1276985"/>
                  </a:cubicBezTo>
                  <a:lnTo>
                    <a:pt x="2528570" y="1276985"/>
                  </a:lnTo>
                  <a:lnTo>
                    <a:pt x="2553970" y="1276985"/>
                  </a:lnTo>
                  <a:cubicBezTo>
                    <a:pt x="2553970" y="1982216"/>
                    <a:pt x="1982216" y="2553970"/>
                    <a:pt x="1276985" y="2553970"/>
                  </a:cubicBezTo>
                  <a:lnTo>
                    <a:pt x="1276985" y="2528570"/>
                  </a:lnTo>
                  <a:lnTo>
                    <a:pt x="1276985" y="2553970"/>
                  </a:lnTo>
                  <a:cubicBezTo>
                    <a:pt x="571754" y="2553970"/>
                    <a:pt x="0" y="1982216"/>
                    <a:pt x="0" y="1276985"/>
                  </a:cubicBezTo>
                  <a:lnTo>
                    <a:pt x="25400" y="1276985"/>
                  </a:lnTo>
                  <a:lnTo>
                    <a:pt x="50800" y="1276985"/>
                  </a:lnTo>
                  <a:lnTo>
                    <a:pt x="25400" y="1276985"/>
                  </a:lnTo>
                  <a:lnTo>
                    <a:pt x="0" y="1276985"/>
                  </a:lnTo>
                  <a:moveTo>
                    <a:pt x="50800" y="1276985"/>
                  </a:moveTo>
                  <a:cubicBezTo>
                    <a:pt x="50800" y="1290955"/>
                    <a:pt x="39370" y="1302385"/>
                    <a:pt x="25400" y="1302385"/>
                  </a:cubicBezTo>
                  <a:cubicBezTo>
                    <a:pt x="11430" y="1302385"/>
                    <a:pt x="0" y="1290955"/>
                    <a:pt x="0" y="1276985"/>
                  </a:cubicBezTo>
                  <a:cubicBezTo>
                    <a:pt x="0" y="1263015"/>
                    <a:pt x="11430" y="1251585"/>
                    <a:pt x="25400" y="1251585"/>
                  </a:cubicBezTo>
                  <a:cubicBezTo>
                    <a:pt x="39370" y="1251585"/>
                    <a:pt x="50800" y="1263015"/>
                    <a:pt x="50800" y="1276985"/>
                  </a:cubicBezTo>
                  <a:cubicBezTo>
                    <a:pt x="50800" y="1954149"/>
                    <a:pt x="599821" y="2503170"/>
                    <a:pt x="1276985" y="2503170"/>
                  </a:cubicBezTo>
                  <a:cubicBezTo>
                    <a:pt x="1954149" y="2503170"/>
                    <a:pt x="2503170" y="1954149"/>
                    <a:pt x="2503170" y="1276985"/>
                  </a:cubicBezTo>
                  <a:cubicBezTo>
                    <a:pt x="2503170" y="599821"/>
                    <a:pt x="1954149" y="50800"/>
                    <a:pt x="1276985" y="50800"/>
                  </a:cubicBezTo>
                  <a:lnTo>
                    <a:pt x="1276985" y="25400"/>
                  </a:lnTo>
                  <a:lnTo>
                    <a:pt x="1276985" y="50800"/>
                  </a:lnTo>
                  <a:cubicBezTo>
                    <a:pt x="599821" y="50800"/>
                    <a:pt x="50800" y="599821"/>
                    <a:pt x="50800" y="1276985"/>
                  </a:cubicBezTo>
                  <a:close/>
                </a:path>
              </a:pathLst>
            </a:custGeom>
            <a:gradFill rotWithShape="1">
              <a:gsLst>
                <a:gs pos="0">
                  <a:srgbClr val="8C52FF">
                    <a:alpha val="100000"/>
                  </a:srgbClr>
                </a:gs>
                <a:gs pos="100000">
                  <a:srgbClr val="00BF63">
                    <a:alpha val="100000"/>
                  </a:srgbClr>
                </a:gs>
              </a:gsLst>
              <a:lin ang="0"/>
            </a:gradFill>
          </p:spPr>
        </p:sp>
        <p:sp>
          <p:nvSpPr>
            <p:cNvPr id="79" name="TextBox 79"/>
            <p:cNvSpPr txBox="1"/>
            <p:nvPr/>
          </p:nvSpPr>
          <p:spPr>
            <a:xfrm>
              <a:off x="0" y="-47625"/>
              <a:ext cx="2553991" cy="2601616"/>
            </a:xfrm>
            <a:prstGeom prst="rect">
              <a:avLst/>
            </a:prstGeom>
          </p:spPr>
          <p:txBody>
            <a:bodyPr lIns="50800" tIns="50800" rIns="50800" bIns="50800" rtlCol="0" anchor="ctr"/>
            <a:lstStyle/>
            <a:p>
              <a:pPr algn="ctr">
                <a:lnSpc>
                  <a:spcPts val="2520"/>
                </a:lnSpc>
              </a:pPr>
              <a:r>
                <a:rPr lang="en-US" sz="2100" dirty="0">
                  <a:solidFill>
                    <a:srgbClr val="F4F6FC"/>
                  </a:solidFill>
                  <a:latin typeface="Calibri (MS)"/>
                  <a:ea typeface="Calibri (MS)"/>
                  <a:cs typeface="Calibri (MS)"/>
                  <a:sym typeface="Calibri (MS)"/>
                </a:rPr>
                <a:t>Bank </a:t>
              </a:r>
            </a:p>
            <a:p>
              <a:pPr algn="ctr">
                <a:lnSpc>
                  <a:spcPts val="2520"/>
                </a:lnSpc>
              </a:pPr>
              <a:r>
                <a:rPr lang="en-US" sz="2100" dirty="0">
                  <a:solidFill>
                    <a:srgbClr val="F4F6FC"/>
                  </a:solidFill>
                  <a:latin typeface="Calibri (MS)"/>
                  <a:ea typeface="Calibri (MS)"/>
                  <a:cs typeface="Calibri (MS)"/>
                  <a:sym typeface="Calibri (MS)"/>
                </a:rPr>
                <a:t>Transfer </a:t>
              </a:r>
            </a:p>
            <a:p>
              <a:pPr algn="ctr">
                <a:lnSpc>
                  <a:spcPts val="2520"/>
                </a:lnSpc>
              </a:pPr>
              <a:r>
                <a:rPr lang="en-US" sz="2100" dirty="0">
                  <a:solidFill>
                    <a:srgbClr val="F4F6FC"/>
                  </a:solidFill>
                  <a:latin typeface="Calibri (MS)"/>
                  <a:ea typeface="Calibri (MS)"/>
                  <a:cs typeface="Calibri (MS)"/>
                  <a:sym typeface="Calibri (MS)"/>
                </a:rPr>
                <a:t>and </a:t>
              </a:r>
            </a:p>
            <a:p>
              <a:pPr algn="ctr">
                <a:lnSpc>
                  <a:spcPts val="2520"/>
                </a:lnSpc>
              </a:pPr>
              <a:r>
                <a:rPr lang="en-US" sz="2100" dirty="0">
                  <a:solidFill>
                    <a:srgbClr val="F4F6FC"/>
                  </a:solidFill>
                  <a:latin typeface="Calibri (MS)"/>
                  <a:ea typeface="Calibri (MS)"/>
                  <a:cs typeface="Calibri (MS)"/>
                  <a:sym typeface="Calibri (MS)"/>
                </a:rPr>
                <a:t>Payments</a:t>
              </a:r>
            </a:p>
          </p:txBody>
        </p:sp>
      </p:grpSp>
      <p:grpSp>
        <p:nvGrpSpPr>
          <p:cNvPr id="80" name="Group 80"/>
          <p:cNvGrpSpPr/>
          <p:nvPr/>
        </p:nvGrpSpPr>
        <p:grpSpPr>
          <a:xfrm>
            <a:off x="4065827" y="1433597"/>
            <a:ext cx="1784805" cy="1618804"/>
            <a:chOff x="0" y="0"/>
            <a:chExt cx="2037596" cy="1848083"/>
          </a:xfrm>
        </p:grpSpPr>
        <p:sp>
          <p:nvSpPr>
            <p:cNvPr id="81" name="Freeform 81" descr="oval shape"/>
            <p:cNvSpPr/>
            <p:nvPr/>
          </p:nvSpPr>
          <p:spPr>
            <a:xfrm>
              <a:off x="25400" y="25400"/>
              <a:ext cx="1986788" cy="1797304"/>
            </a:xfrm>
            <a:custGeom>
              <a:avLst/>
              <a:gdLst/>
              <a:ahLst/>
              <a:cxnLst/>
              <a:rect l="l" t="t" r="r" b="b"/>
              <a:pathLst>
                <a:path w="1986788" h="1797304">
                  <a:moveTo>
                    <a:pt x="0" y="898652"/>
                  </a:moveTo>
                  <a:cubicBezTo>
                    <a:pt x="0" y="402336"/>
                    <a:pt x="444754" y="0"/>
                    <a:pt x="993394" y="0"/>
                  </a:cubicBezTo>
                  <a:cubicBezTo>
                    <a:pt x="1542034" y="0"/>
                    <a:pt x="1986788" y="402336"/>
                    <a:pt x="1986788" y="898652"/>
                  </a:cubicBezTo>
                  <a:cubicBezTo>
                    <a:pt x="1986788" y="1394968"/>
                    <a:pt x="1542034" y="1797304"/>
                    <a:pt x="993394" y="1797304"/>
                  </a:cubicBezTo>
                  <a:cubicBezTo>
                    <a:pt x="444754" y="1797304"/>
                    <a:pt x="0" y="1394968"/>
                    <a:pt x="0" y="898652"/>
                  </a:cubicBezTo>
                  <a:close/>
                </a:path>
              </a:pathLst>
            </a:custGeom>
            <a:gradFill rotWithShape="1">
              <a:gsLst>
                <a:gs pos="0">
                  <a:srgbClr val="004AAD">
                    <a:alpha val="100000"/>
                  </a:srgbClr>
                </a:gs>
                <a:gs pos="100000">
                  <a:srgbClr val="CB6CE6">
                    <a:alpha val="100000"/>
                  </a:srgbClr>
                </a:gs>
              </a:gsLst>
              <a:lin ang="0"/>
            </a:gradFill>
          </p:spPr>
        </p:sp>
        <p:sp>
          <p:nvSpPr>
            <p:cNvPr id="82" name="Freeform 82" descr="oval shape"/>
            <p:cNvSpPr/>
            <p:nvPr/>
          </p:nvSpPr>
          <p:spPr>
            <a:xfrm>
              <a:off x="0" y="0"/>
              <a:ext cx="2037588" cy="1848104"/>
            </a:xfrm>
            <a:custGeom>
              <a:avLst/>
              <a:gdLst/>
              <a:ahLst/>
              <a:cxnLst/>
              <a:rect l="l" t="t" r="r" b="b"/>
              <a:pathLst>
                <a:path w="2037588" h="1848104">
                  <a:moveTo>
                    <a:pt x="0" y="924052"/>
                  </a:moveTo>
                  <a:cubicBezTo>
                    <a:pt x="0" y="411353"/>
                    <a:pt x="458597" y="0"/>
                    <a:pt x="1018794" y="0"/>
                  </a:cubicBezTo>
                  <a:lnTo>
                    <a:pt x="1018794" y="25400"/>
                  </a:lnTo>
                  <a:lnTo>
                    <a:pt x="1018794" y="0"/>
                  </a:lnTo>
                  <a:cubicBezTo>
                    <a:pt x="1578991" y="0"/>
                    <a:pt x="2037588" y="411353"/>
                    <a:pt x="2037588" y="924052"/>
                  </a:cubicBezTo>
                  <a:cubicBezTo>
                    <a:pt x="2037588" y="1436751"/>
                    <a:pt x="1578991" y="1848104"/>
                    <a:pt x="1018794" y="1848104"/>
                  </a:cubicBezTo>
                  <a:lnTo>
                    <a:pt x="1018794" y="1822704"/>
                  </a:lnTo>
                  <a:lnTo>
                    <a:pt x="1018794" y="1848104"/>
                  </a:lnTo>
                  <a:cubicBezTo>
                    <a:pt x="458597" y="1848104"/>
                    <a:pt x="0" y="1436751"/>
                    <a:pt x="0" y="924052"/>
                  </a:cubicBezTo>
                  <a:lnTo>
                    <a:pt x="25400" y="924052"/>
                  </a:lnTo>
                  <a:lnTo>
                    <a:pt x="50800" y="924052"/>
                  </a:lnTo>
                  <a:lnTo>
                    <a:pt x="25400" y="924052"/>
                  </a:lnTo>
                  <a:lnTo>
                    <a:pt x="0" y="924052"/>
                  </a:lnTo>
                  <a:moveTo>
                    <a:pt x="50800" y="924052"/>
                  </a:moveTo>
                  <a:cubicBezTo>
                    <a:pt x="50800" y="938022"/>
                    <a:pt x="39370" y="949452"/>
                    <a:pt x="25400" y="949452"/>
                  </a:cubicBezTo>
                  <a:cubicBezTo>
                    <a:pt x="11430" y="949452"/>
                    <a:pt x="0" y="938022"/>
                    <a:pt x="0" y="924052"/>
                  </a:cubicBezTo>
                  <a:cubicBezTo>
                    <a:pt x="0" y="910082"/>
                    <a:pt x="11430" y="898652"/>
                    <a:pt x="25400" y="898652"/>
                  </a:cubicBezTo>
                  <a:cubicBezTo>
                    <a:pt x="39370" y="898652"/>
                    <a:pt x="50800" y="910082"/>
                    <a:pt x="50800" y="924052"/>
                  </a:cubicBezTo>
                  <a:cubicBezTo>
                    <a:pt x="50800" y="1403985"/>
                    <a:pt x="481711" y="1797304"/>
                    <a:pt x="1018794" y="1797304"/>
                  </a:cubicBezTo>
                  <a:cubicBezTo>
                    <a:pt x="1555877" y="1797304"/>
                    <a:pt x="1986788" y="1403985"/>
                    <a:pt x="1986788" y="924052"/>
                  </a:cubicBezTo>
                  <a:lnTo>
                    <a:pt x="2012188" y="924052"/>
                  </a:lnTo>
                  <a:lnTo>
                    <a:pt x="1986788" y="924052"/>
                  </a:lnTo>
                  <a:cubicBezTo>
                    <a:pt x="1986788" y="444119"/>
                    <a:pt x="1555877" y="50800"/>
                    <a:pt x="1018794" y="50800"/>
                  </a:cubicBezTo>
                  <a:lnTo>
                    <a:pt x="1018794" y="25400"/>
                  </a:lnTo>
                  <a:lnTo>
                    <a:pt x="1018794" y="50800"/>
                  </a:lnTo>
                  <a:cubicBezTo>
                    <a:pt x="481711" y="50800"/>
                    <a:pt x="50800" y="444119"/>
                    <a:pt x="50800" y="924052"/>
                  </a:cubicBezTo>
                  <a:close/>
                </a:path>
              </a:pathLst>
            </a:custGeom>
            <a:gradFill rotWithShape="1">
              <a:gsLst>
                <a:gs pos="0">
                  <a:srgbClr val="FFF7AD">
                    <a:alpha val="100000"/>
                  </a:srgbClr>
                </a:gs>
                <a:gs pos="100000">
                  <a:srgbClr val="FFA9F9">
                    <a:alpha val="100000"/>
                  </a:srgbClr>
                </a:gs>
              </a:gsLst>
              <a:lin ang="0"/>
            </a:gradFill>
          </p:spPr>
        </p:sp>
        <p:sp>
          <p:nvSpPr>
            <p:cNvPr id="83" name="TextBox 83"/>
            <p:cNvSpPr txBox="1"/>
            <p:nvPr/>
          </p:nvSpPr>
          <p:spPr>
            <a:xfrm>
              <a:off x="0" y="-19050"/>
              <a:ext cx="2037596" cy="1867133"/>
            </a:xfrm>
            <a:prstGeom prst="rect">
              <a:avLst/>
            </a:prstGeom>
          </p:spPr>
          <p:txBody>
            <a:bodyPr lIns="59330" tIns="59330" rIns="59330" bIns="59330" rtlCol="0" anchor="ctr"/>
            <a:lstStyle/>
            <a:p>
              <a:pPr algn="ctr">
                <a:lnSpc>
                  <a:spcPts val="2270"/>
                </a:lnSpc>
              </a:pPr>
              <a:r>
                <a:rPr lang="en-US" sz="2102" dirty="0">
                  <a:solidFill>
                    <a:srgbClr val="F4F6FC"/>
                  </a:solidFill>
                  <a:latin typeface="Calibri (MS)"/>
                  <a:ea typeface="Calibri (MS)"/>
                  <a:cs typeface="Calibri (MS)"/>
                  <a:sym typeface="Calibri (MS)"/>
                </a:rPr>
                <a:t>Define Payroll Elements</a:t>
              </a:r>
            </a:p>
          </p:txBody>
        </p:sp>
      </p:grpSp>
      <p:sp>
        <p:nvSpPr>
          <p:cNvPr id="84" name="TextBox 84"/>
          <p:cNvSpPr txBox="1"/>
          <p:nvPr/>
        </p:nvSpPr>
        <p:spPr>
          <a:xfrm>
            <a:off x="10008747" y="6886997"/>
            <a:ext cx="2130048" cy="990600"/>
          </a:xfrm>
          <a:prstGeom prst="rect">
            <a:avLst/>
          </a:prstGeom>
        </p:spPr>
        <p:txBody>
          <a:bodyPr lIns="0" tIns="0" rIns="0" bIns="0" rtlCol="0" anchor="t">
            <a:spAutoFit/>
          </a:bodyPr>
          <a:lstStyle/>
          <a:p>
            <a:pPr algn="ctr">
              <a:lnSpc>
                <a:spcPts val="2520"/>
              </a:lnSpc>
              <a:spcBef>
                <a:spcPct val="0"/>
              </a:spcBef>
            </a:pPr>
            <a:r>
              <a:rPr lang="en-US" sz="2100" dirty="0">
                <a:solidFill>
                  <a:srgbClr val="FFFFFF"/>
                </a:solidFill>
                <a:latin typeface="Calibri (MS)"/>
                <a:ea typeface="Calibri (MS)"/>
                <a:cs typeface="Calibri (MS)"/>
                <a:sym typeface="Calibri (MS)"/>
              </a:rPr>
              <a:t>PAYROLL RECONCILIATION AND REPORTING </a:t>
            </a:r>
          </a:p>
        </p:txBody>
      </p:sp>
      <p:grpSp>
        <p:nvGrpSpPr>
          <p:cNvPr id="85" name="Group 85"/>
          <p:cNvGrpSpPr/>
          <p:nvPr/>
        </p:nvGrpSpPr>
        <p:grpSpPr>
          <a:xfrm>
            <a:off x="2843453" y="5818098"/>
            <a:ext cx="1948210" cy="1948210"/>
            <a:chOff x="0" y="0"/>
            <a:chExt cx="2544519" cy="2544519"/>
          </a:xfrm>
        </p:grpSpPr>
        <p:sp>
          <p:nvSpPr>
            <p:cNvPr id="86" name="Freeform 86" descr="oval shape"/>
            <p:cNvSpPr/>
            <p:nvPr/>
          </p:nvSpPr>
          <p:spPr>
            <a:xfrm>
              <a:off x="25400" y="25400"/>
              <a:ext cx="2493772" cy="2493772"/>
            </a:xfrm>
            <a:custGeom>
              <a:avLst/>
              <a:gdLst/>
              <a:ahLst/>
              <a:cxnLst/>
              <a:rect l="l" t="t" r="r" b="b"/>
              <a:pathLst>
                <a:path w="2493772" h="2493772">
                  <a:moveTo>
                    <a:pt x="0" y="1246886"/>
                  </a:moveTo>
                  <a:cubicBezTo>
                    <a:pt x="0" y="558292"/>
                    <a:pt x="558292" y="0"/>
                    <a:pt x="1246886" y="0"/>
                  </a:cubicBezTo>
                  <a:cubicBezTo>
                    <a:pt x="1935480" y="0"/>
                    <a:pt x="2493772" y="558292"/>
                    <a:pt x="2493772" y="1246886"/>
                  </a:cubicBezTo>
                  <a:cubicBezTo>
                    <a:pt x="2493772" y="1935480"/>
                    <a:pt x="1935480" y="2493772"/>
                    <a:pt x="1246886" y="2493772"/>
                  </a:cubicBezTo>
                  <a:cubicBezTo>
                    <a:pt x="558292" y="2493772"/>
                    <a:pt x="0" y="1935480"/>
                    <a:pt x="0" y="1246886"/>
                  </a:cubicBezTo>
                  <a:close/>
                </a:path>
              </a:pathLst>
            </a:custGeom>
            <a:gradFill rotWithShape="1">
              <a:gsLst>
                <a:gs pos="0">
                  <a:srgbClr val="004AAD">
                    <a:alpha val="100000"/>
                  </a:srgbClr>
                </a:gs>
                <a:gs pos="100000">
                  <a:srgbClr val="CB6CE6">
                    <a:alpha val="100000"/>
                  </a:srgbClr>
                </a:gs>
              </a:gsLst>
              <a:lin ang="0"/>
            </a:gradFill>
          </p:spPr>
        </p:sp>
        <p:sp>
          <p:nvSpPr>
            <p:cNvPr id="87" name="Freeform 87" descr="oval shape"/>
            <p:cNvSpPr/>
            <p:nvPr/>
          </p:nvSpPr>
          <p:spPr>
            <a:xfrm>
              <a:off x="0" y="0"/>
              <a:ext cx="2544572" cy="2544572"/>
            </a:xfrm>
            <a:custGeom>
              <a:avLst/>
              <a:gdLst/>
              <a:ahLst/>
              <a:cxnLst/>
              <a:rect l="l" t="t" r="r" b="b"/>
              <a:pathLst>
                <a:path w="2544572" h="2544572">
                  <a:moveTo>
                    <a:pt x="0" y="1272286"/>
                  </a:moveTo>
                  <a:cubicBezTo>
                    <a:pt x="0" y="569595"/>
                    <a:pt x="569595" y="0"/>
                    <a:pt x="1272286" y="0"/>
                  </a:cubicBezTo>
                  <a:lnTo>
                    <a:pt x="1272286" y="25400"/>
                  </a:lnTo>
                  <a:lnTo>
                    <a:pt x="1272286" y="0"/>
                  </a:lnTo>
                  <a:cubicBezTo>
                    <a:pt x="1974850" y="0"/>
                    <a:pt x="2544572" y="569595"/>
                    <a:pt x="2544572" y="1272286"/>
                  </a:cubicBezTo>
                  <a:lnTo>
                    <a:pt x="2519172" y="1272286"/>
                  </a:lnTo>
                  <a:lnTo>
                    <a:pt x="2544572" y="1272286"/>
                  </a:lnTo>
                  <a:cubicBezTo>
                    <a:pt x="2544572" y="1974977"/>
                    <a:pt x="1974977" y="2544572"/>
                    <a:pt x="1272286" y="2544572"/>
                  </a:cubicBezTo>
                  <a:lnTo>
                    <a:pt x="1272286" y="2519172"/>
                  </a:lnTo>
                  <a:lnTo>
                    <a:pt x="1272286" y="2544572"/>
                  </a:lnTo>
                  <a:cubicBezTo>
                    <a:pt x="569595" y="2544572"/>
                    <a:pt x="0" y="1974850"/>
                    <a:pt x="0" y="1272286"/>
                  </a:cubicBezTo>
                  <a:lnTo>
                    <a:pt x="25400" y="1272286"/>
                  </a:lnTo>
                  <a:lnTo>
                    <a:pt x="50800" y="1272286"/>
                  </a:lnTo>
                  <a:lnTo>
                    <a:pt x="25400" y="1272286"/>
                  </a:lnTo>
                  <a:lnTo>
                    <a:pt x="0" y="1272286"/>
                  </a:lnTo>
                  <a:moveTo>
                    <a:pt x="50800" y="1272286"/>
                  </a:moveTo>
                  <a:cubicBezTo>
                    <a:pt x="50800" y="1286256"/>
                    <a:pt x="39370" y="1297686"/>
                    <a:pt x="25400" y="1297686"/>
                  </a:cubicBezTo>
                  <a:cubicBezTo>
                    <a:pt x="11430" y="1297686"/>
                    <a:pt x="0" y="1286256"/>
                    <a:pt x="0" y="1272286"/>
                  </a:cubicBezTo>
                  <a:cubicBezTo>
                    <a:pt x="0" y="1258316"/>
                    <a:pt x="11430" y="1246886"/>
                    <a:pt x="25400" y="1246886"/>
                  </a:cubicBezTo>
                  <a:cubicBezTo>
                    <a:pt x="39370" y="1246886"/>
                    <a:pt x="50800" y="1258316"/>
                    <a:pt x="50800" y="1272286"/>
                  </a:cubicBezTo>
                  <a:cubicBezTo>
                    <a:pt x="50800" y="1946910"/>
                    <a:pt x="597662" y="2493772"/>
                    <a:pt x="1272286" y="2493772"/>
                  </a:cubicBezTo>
                  <a:cubicBezTo>
                    <a:pt x="1946910" y="2493772"/>
                    <a:pt x="2493772" y="1946910"/>
                    <a:pt x="2493772" y="1272286"/>
                  </a:cubicBezTo>
                  <a:cubicBezTo>
                    <a:pt x="2493772" y="597662"/>
                    <a:pt x="1946910" y="50800"/>
                    <a:pt x="1272286" y="50800"/>
                  </a:cubicBezTo>
                  <a:lnTo>
                    <a:pt x="1272286" y="25400"/>
                  </a:lnTo>
                  <a:lnTo>
                    <a:pt x="1272286" y="50800"/>
                  </a:lnTo>
                  <a:cubicBezTo>
                    <a:pt x="597662" y="50800"/>
                    <a:pt x="50800" y="597662"/>
                    <a:pt x="50800" y="1272286"/>
                  </a:cubicBezTo>
                  <a:close/>
                </a:path>
              </a:pathLst>
            </a:custGeom>
            <a:gradFill rotWithShape="1">
              <a:gsLst>
                <a:gs pos="0">
                  <a:srgbClr val="FFF7AD">
                    <a:alpha val="100000"/>
                  </a:srgbClr>
                </a:gs>
                <a:gs pos="100000">
                  <a:srgbClr val="FFA9F9">
                    <a:alpha val="100000"/>
                  </a:srgbClr>
                </a:gs>
              </a:gsLst>
              <a:lin ang="0"/>
            </a:gradFill>
          </p:spPr>
        </p:sp>
        <p:sp>
          <p:nvSpPr>
            <p:cNvPr id="88" name="TextBox 88"/>
            <p:cNvSpPr txBox="1"/>
            <p:nvPr/>
          </p:nvSpPr>
          <p:spPr>
            <a:xfrm>
              <a:off x="0" y="-38100"/>
              <a:ext cx="2544519" cy="2582619"/>
            </a:xfrm>
            <a:prstGeom prst="rect">
              <a:avLst/>
            </a:prstGeom>
          </p:spPr>
          <p:txBody>
            <a:bodyPr lIns="51860" tIns="51860" rIns="51860" bIns="51860" rtlCol="0" anchor="ctr"/>
            <a:lstStyle/>
            <a:p>
              <a:pPr algn="ctr">
                <a:lnSpc>
                  <a:spcPts val="2572"/>
                </a:lnSpc>
              </a:pPr>
              <a:r>
                <a:rPr lang="en-US" sz="2143">
                  <a:solidFill>
                    <a:srgbClr val="F4F6FC"/>
                  </a:solidFill>
                  <a:latin typeface="Calibri (MS)"/>
                  <a:ea typeface="Calibri (MS)"/>
                  <a:cs typeface="Calibri (MS)"/>
                  <a:sym typeface="Calibri (MS)"/>
                </a:rPr>
                <a:t>Update Employee Records</a:t>
              </a:r>
            </a:p>
            <a:p>
              <a:pPr algn="ctr">
                <a:lnSpc>
                  <a:spcPts val="2572"/>
                </a:lnSpc>
              </a:pPr>
              <a:endParaRPr lang="en-US" sz="2143">
                <a:solidFill>
                  <a:srgbClr val="F4F6FC"/>
                </a:solidFill>
                <a:latin typeface="Calibri (MS)"/>
                <a:ea typeface="Calibri (MS)"/>
                <a:cs typeface="Calibri (MS)"/>
                <a:sym typeface="Calibri (MS)"/>
              </a:endParaRPr>
            </a:p>
          </p:txBody>
        </p:sp>
      </p:grpSp>
      <p:sp>
        <p:nvSpPr>
          <p:cNvPr id="89" name="TextBox 89"/>
          <p:cNvSpPr txBox="1"/>
          <p:nvPr/>
        </p:nvSpPr>
        <p:spPr>
          <a:xfrm>
            <a:off x="5745954" y="673442"/>
            <a:ext cx="6938810" cy="733214"/>
          </a:xfrm>
          <a:prstGeom prst="rect">
            <a:avLst/>
          </a:prstGeom>
        </p:spPr>
        <p:txBody>
          <a:bodyPr wrap="square" lIns="0" tIns="0" rIns="0" bIns="0" rtlCol="0" anchor="t">
            <a:spAutoFit/>
          </a:bodyPr>
          <a:lstStyle/>
          <a:p>
            <a:pPr algn="ctr">
              <a:lnSpc>
                <a:spcPts val="5279"/>
              </a:lnSpc>
              <a:spcBef>
                <a:spcPct val="0"/>
              </a:spcBef>
            </a:pPr>
            <a:r>
              <a:rPr lang="en-US" sz="6000" b="1" dirty="0">
                <a:solidFill>
                  <a:srgbClr val="FFFFFF"/>
                </a:solidFill>
                <a:latin typeface="+mj-lt"/>
                <a:ea typeface="Calibri (MS) Bold"/>
                <a:cs typeface="Calibri (MS) Bold"/>
                <a:sym typeface="Calibri (MS) Bold"/>
              </a:rPr>
              <a:t>SUMMARY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0"/>
                                        </p:tgtEl>
                                        <p:attrNameLst>
                                          <p:attrName>style.visibility</p:attrName>
                                        </p:attrNameLst>
                                      </p:cBhvr>
                                      <p:to>
                                        <p:strVal val="visible"/>
                                      </p:to>
                                    </p:set>
                                    <p:animEffect transition="in" filter="wipe(down)">
                                      <p:cBhvr>
                                        <p:cTn id="37" dur="500"/>
                                        <p:tgtEl>
                                          <p:spTgt spid="8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down)">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down)">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wipe(down)">
                                      <p:cBhvr>
                                        <p:cTn id="57" dur="500"/>
                                        <p:tgtEl>
                                          <p:spTgt spid="3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down)">
                                      <p:cBhvr>
                                        <p:cTn id="62" dur="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85"/>
                                        </p:tgtEl>
                                        <p:attrNameLst>
                                          <p:attrName>style.visibility</p:attrName>
                                        </p:attrNameLst>
                                      </p:cBhvr>
                                      <p:to>
                                        <p:strVal val="visible"/>
                                      </p:to>
                                    </p:set>
                                    <p:animEffect transition="in" filter="wipe(down)">
                                      <p:cBhvr>
                                        <p:cTn id="67" dur="500"/>
                                        <p:tgtEl>
                                          <p:spTgt spid="8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down)">
                                      <p:cBhvr>
                                        <p:cTn id="72" dur="5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54"/>
                                        </p:tgtEl>
                                        <p:attrNameLst>
                                          <p:attrName>style.visibility</p:attrName>
                                        </p:attrNameLst>
                                      </p:cBhvr>
                                      <p:to>
                                        <p:strVal val="visible"/>
                                      </p:to>
                                    </p:set>
                                    <p:animEffect transition="in" filter="wipe(down)">
                                      <p:cBhvr>
                                        <p:cTn id="77" dur="500"/>
                                        <p:tgtEl>
                                          <p:spTgt spid="5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57"/>
                                        </p:tgtEl>
                                        <p:attrNameLst>
                                          <p:attrName>style.visibility</p:attrName>
                                        </p:attrNameLst>
                                      </p:cBhvr>
                                      <p:to>
                                        <p:strVal val="visible"/>
                                      </p:to>
                                    </p:set>
                                    <p:animEffect transition="in" filter="wipe(down)">
                                      <p:cBhvr>
                                        <p:cTn id="82" dur="500"/>
                                        <p:tgtEl>
                                          <p:spTgt spid="5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wipe(down)">
                                      <p:cBhvr>
                                        <p:cTn id="87" dur="500"/>
                                        <p:tgtEl>
                                          <p:spTgt spid="1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wipe(down)">
                                      <p:cBhvr>
                                        <p:cTn id="92" dur="500"/>
                                        <p:tgtEl>
                                          <p:spTgt spid="5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wipe(down)">
                                      <p:cBhvr>
                                        <p:cTn id="97" dur="500"/>
                                        <p:tgtEl>
                                          <p:spTgt spid="1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60"/>
                                        </p:tgtEl>
                                        <p:attrNameLst>
                                          <p:attrName>style.visibility</p:attrName>
                                        </p:attrNameLst>
                                      </p:cBhvr>
                                      <p:to>
                                        <p:strVal val="visible"/>
                                      </p:to>
                                    </p:set>
                                    <p:animEffect transition="in" filter="wipe(down)">
                                      <p:cBhvr>
                                        <p:cTn id="102" dur="500"/>
                                        <p:tgtEl>
                                          <p:spTgt spid="6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nodeType="clickEffect">
                                  <p:stCondLst>
                                    <p:cond delay="0"/>
                                  </p:stCondLst>
                                  <p:childTnLst>
                                    <p:set>
                                      <p:cBhvr>
                                        <p:cTn id="106" dur="1" fill="hold">
                                          <p:stCondLst>
                                            <p:cond delay="0"/>
                                          </p:stCondLst>
                                        </p:cTn>
                                        <p:tgtEl>
                                          <p:spTgt spid="11"/>
                                        </p:tgtEl>
                                        <p:attrNameLst>
                                          <p:attrName>style.visibility</p:attrName>
                                        </p:attrNameLst>
                                      </p:cBhvr>
                                      <p:to>
                                        <p:strVal val="visible"/>
                                      </p:to>
                                    </p:set>
                                    <p:animEffect transition="in" filter="wipe(down)">
                                      <p:cBhvr>
                                        <p:cTn id="107" dur="500"/>
                                        <p:tgtEl>
                                          <p:spTgt spid="1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72"/>
                                        </p:tgtEl>
                                        <p:attrNameLst>
                                          <p:attrName>style.visibility</p:attrName>
                                        </p:attrNameLst>
                                      </p:cBhvr>
                                      <p:to>
                                        <p:strVal val="visible"/>
                                      </p:to>
                                    </p:set>
                                    <p:animEffect transition="in" filter="wipe(down)">
                                      <p:cBhvr>
                                        <p:cTn id="112" dur="500"/>
                                        <p:tgtEl>
                                          <p:spTgt spid="72"/>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wipe(down)">
                                      <p:cBhvr>
                                        <p:cTn id="117" dur="500"/>
                                        <p:tgtEl>
                                          <p:spTgt spid="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76"/>
                                        </p:tgtEl>
                                        <p:attrNameLst>
                                          <p:attrName>style.visibility</p:attrName>
                                        </p:attrNameLst>
                                      </p:cBhvr>
                                      <p:to>
                                        <p:strVal val="visible"/>
                                      </p:to>
                                    </p:set>
                                    <p:animEffect transition="in" filter="wipe(down)">
                                      <p:cBhvr>
                                        <p:cTn id="122" dur="500"/>
                                        <p:tgtEl>
                                          <p:spTgt spid="76"/>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12"/>
                                        </p:tgtEl>
                                        <p:attrNameLst>
                                          <p:attrName>style.visibility</p:attrName>
                                        </p:attrNameLst>
                                      </p:cBhvr>
                                      <p:to>
                                        <p:strVal val="visible"/>
                                      </p:to>
                                    </p:set>
                                    <p:animEffect transition="in" filter="wipe(down)">
                                      <p:cBhvr>
                                        <p:cTn id="127" dur="500"/>
                                        <p:tgtEl>
                                          <p:spTgt spid="1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nodeType="clickEffect">
                                  <p:stCondLst>
                                    <p:cond delay="0"/>
                                  </p:stCondLst>
                                  <p:childTnLst>
                                    <p:set>
                                      <p:cBhvr>
                                        <p:cTn id="131" dur="1" fill="hold">
                                          <p:stCondLst>
                                            <p:cond delay="0"/>
                                          </p:stCondLst>
                                        </p:cTn>
                                        <p:tgtEl>
                                          <p:spTgt spid="65"/>
                                        </p:tgtEl>
                                        <p:attrNameLst>
                                          <p:attrName>style.visibility</p:attrName>
                                        </p:attrNameLst>
                                      </p:cBhvr>
                                      <p:to>
                                        <p:strVal val="visible"/>
                                      </p:to>
                                    </p:set>
                                    <p:animEffect transition="in" filter="wipe(down)">
                                      <p:cBhvr>
                                        <p:cTn id="132" dur="500"/>
                                        <p:tgtEl>
                                          <p:spTgt spid="65"/>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84"/>
                                        </p:tgtEl>
                                        <p:attrNameLst>
                                          <p:attrName>style.visibility</p:attrName>
                                        </p:attrNameLst>
                                      </p:cBhvr>
                                      <p:to>
                                        <p:strVal val="visible"/>
                                      </p:to>
                                    </p:set>
                                    <p:animEffect transition="in" filter="wipe(down)">
                                      <p:cBhvr>
                                        <p:cTn id="137" dur="500"/>
                                        <p:tgtEl>
                                          <p:spTgt spid="84"/>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9"/>
                                        </p:tgtEl>
                                        <p:attrNameLst>
                                          <p:attrName>style.visibility</p:attrName>
                                        </p:attrNameLst>
                                      </p:cBhvr>
                                      <p:to>
                                        <p:strVal val="visible"/>
                                      </p:to>
                                    </p:set>
                                    <p:animEffect transition="in" filter="wipe(down)">
                                      <p:cBhvr>
                                        <p:cTn id="142" dur="500"/>
                                        <p:tgtEl>
                                          <p:spTgt spid="9"/>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nodeType="clickEffect">
                                  <p:stCondLst>
                                    <p:cond delay="0"/>
                                  </p:stCondLst>
                                  <p:childTnLst>
                                    <p:set>
                                      <p:cBhvr>
                                        <p:cTn id="146" dur="1" fill="hold">
                                          <p:stCondLst>
                                            <p:cond delay="0"/>
                                          </p:stCondLst>
                                        </p:cTn>
                                        <p:tgtEl>
                                          <p:spTgt spid="38"/>
                                        </p:tgtEl>
                                        <p:attrNameLst>
                                          <p:attrName>style.visibility</p:attrName>
                                        </p:attrNameLst>
                                      </p:cBhvr>
                                      <p:to>
                                        <p:strVal val="visible"/>
                                      </p:to>
                                    </p:set>
                                    <p:animEffect transition="in" filter="wipe(down)">
                                      <p:cBhvr>
                                        <p:cTn id="147" dur="500"/>
                                        <p:tgtEl>
                                          <p:spTgt spid="3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4" fill="hold" nodeType="clickEffect">
                                  <p:stCondLst>
                                    <p:cond delay="0"/>
                                  </p:stCondLst>
                                  <p:childTnLst>
                                    <p:set>
                                      <p:cBhvr>
                                        <p:cTn id="151" dur="1" fill="hold">
                                          <p:stCondLst>
                                            <p:cond delay="0"/>
                                          </p:stCondLst>
                                        </p:cTn>
                                        <p:tgtEl>
                                          <p:spTgt spid="64"/>
                                        </p:tgtEl>
                                        <p:attrNameLst>
                                          <p:attrName>style.visibility</p:attrName>
                                        </p:attrNameLst>
                                      </p:cBhvr>
                                      <p:to>
                                        <p:strVal val="visible"/>
                                      </p:to>
                                    </p:set>
                                    <p:animEffect transition="in" filter="wipe(down)">
                                      <p:cBhvr>
                                        <p:cTn id="152" dur="500"/>
                                        <p:tgtEl>
                                          <p:spTgt spid="64"/>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4" fill="hold" nodeType="clickEffect">
                                  <p:stCondLst>
                                    <p:cond delay="0"/>
                                  </p:stCondLst>
                                  <p:childTnLst>
                                    <p:set>
                                      <p:cBhvr>
                                        <p:cTn id="156" dur="1" fill="hold">
                                          <p:stCondLst>
                                            <p:cond delay="0"/>
                                          </p:stCondLst>
                                        </p:cTn>
                                        <p:tgtEl>
                                          <p:spTgt spid="68"/>
                                        </p:tgtEl>
                                        <p:attrNameLst>
                                          <p:attrName>style.visibility</p:attrName>
                                        </p:attrNameLst>
                                      </p:cBhvr>
                                      <p:to>
                                        <p:strVal val="visible"/>
                                      </p:to>
                                    </p:set>
                                    <p:animEffect transition="in" filter="wipe(down)">
                                      <p:cBhvr>
                                        <p:cTn id="157" dur="500"/>
                                        <p:tgtEl>
                                          <p:spTgt spid="68"/>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4" fill="hold" nodeType="clickEffect">
                                  <p:stCondLst>
                                    <p:cond delay="0"/>
                                  </p:stCondLst>
                                  <p:childTnLst>
                                    <p:set>
                                      <p:cBhvr>
                                        <p:cTn id="161" dur="1" fill="hold">
                                          <p:stCondLst>
                                            <p:cond delay="0"/>
                                          </p:stCondLst>
                                        </p:cTn>
                                        <p:tgtEl>
                                          <p:spTgt spid="18"/>
                                        </p:tgtEl>
                                        <p:attrNameLst>
                                          <p:attrName>style.visibility</p:attrName>
                                        </p:attrNameLst>
                                      </p:cBhvr>
                                      <p:to>
                                        <p:strVal val="visible"/>
                                      </p:to>
                                    </p:set>
                                    <p:animEffect transition="in" filter="wipe(down)">
                                      <p:cBhvr>
                                        <p:cTn id="162" dur="500"/>
                                        <p:tgtEl>
                                          <p:spTgt spid="18"/>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4" fill="hold" nodeType="clickEffect">
                                  <p:stCondLst>
                                    <p:cond delay="0"/>
                                  </p:stCondLst>
                                  <p:childTnLst>
                                    <p:set>
                                      <p:cBhvr>
                                        <p:cTn id="166" dur="1" fill="hold">
                                          <p:stCondLst>
                                            <p:cond delay="0"/>
                                          </p:stCondLst>
                                        </p:cTn>
                                        <p:tgtEl>
                                          <p:spTgt spid="46"/>
                                        </p:tgtEl>
                                        <p:attrNameLst>
                                          <p:attrName>style.visibility</p:attrName>
                                        </p:attrNameLst>
                                      </p:cBhvr>
                                      <p:to>
                                        <p:strVal val="visible"/>
                                      </p:to>
                                    </p:set>
                                    <p:animEffect transition="in" filter="wipe(down)">
                                      <p:cBhvr>
                                        <p:cTn id="167" dur="500"/>
                                        <p:tgtEl>
                                          <p:spTgt spid="46"/>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4" fill="hold" nodeType="clickEffect">
                                  <p:stCondLst>
                                    <p:cond delay="0"/>
                                  </p:stCondLst>
                                  <p:childTnLst>
                                    <p:set>
                                      <p:cBhvr>
                                        <p:cTn id="171" dur="1" fill="hold">
                                          <p:stCondLst>
                                            <p:cond delay="0"/>
                                          </p:stCondLst>
                                        </p:cTn>
                                        <p:tgtEl>
                                          <p:spTgt spid="17"/>
                                        </p:tgtEl>
                                        <p:attrNameLst>
                                          <p:attrName>style.visibility</p:attrName>
                                        </p:attrNameLst>
                                      </p:cBhvr>
                                      <p:to>
                                        <p:strVal val="visible"/>
                                      </p:to>
                                    </p:set>
                                    <p:animEffect transition="in" filter="wipe(down)">
                                      <p:cBhvr>
                                        <p:cTn id="172" dur="500"/>
                                        <p:tgtEl>
                                          <p:spTgt spid="17"/>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4" fill="hold" nodeType="clickEffect">
                                  <p:stCondLst>
                                    <p:cond delay="0"/>
                                  </p:stCondLst>
                                  <p:childTnLst>
                                    <p:set>
                                      <p:cBhvr>
                                        <p:cTn id="176" dur="1" fill="hold">
                                          <p:stCondLst>
                                            <p:cond delay="0"/>
                                          </p:stCondLst>
                                        </p:cTn>
                                        <p:tgtEl>
                                          <p:spTgt spid="42"/>
                                        </p:tgtEl>
                                        <p:attrNameLst>
                                          <p:attrName>style.visibility</p:attrName>
                                        </p:attrNameLst>
                                      </p:cBhvr>
                                      <p:to>
                                        <p:strVal val="visible"/>
                                      </p:to>
                                    </p:set>
                                    <p:animEffect transition="in" filter="wipe(down)">
                                      <p:cBhvr>
                                        <p:cTn id="17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6962082" y="0"/>
            <a:ext cx="2651835" cy="2651835"/>
          </a:xfrm>
          <a:custGeom>
            <a:avLst/>
            <a:gdLst/>
            <a:ahLst/>
            <a:cxnLst/>
            <a:rect l="l" t="t" r="r" b="b"/>
            <a:pathLst>
              <a:path w="2651835" h="2651835">
                <a:moveTo>
                  <a:pt x="0" y="0"/>
                </a:moveTo>
                <a:lnTo>
                  <a:pt x="2651836" y="0"/>
                </a:lnTo>
                <a:lnTo>
                  <a:pt x="2651836"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637321" y="2636321"/>
            <a:ext cx="7650679" cy="7650679"/>
            <a:chOff x="0" y="0"/>
            <a:chExt cx="3331210" cy="3331210"/>
          </a:xfrm>
        </p:grpSpPr>
        <p:sp>
          <p:nvSpPr>
            <p:cNvPr id="4" name="Freeform 4"/>
            <p:cNvSpPr/>
            <p:nvPr/>
          </p:nvSpPr>
          <p:spPr>
            <a:xfrm>
              <a:off x="0" y="0"/>
              <a:ext cx="3331210" cy="3331210"/>
            </a:xfrm>
            <a:custGeom>
              <a:avLst/>
              <a:gdLst/>
              <a:ahLst/>
              <a:cxnLst/>
              <a:rect l="l" t="t" r="r" b="b"/>
              <a:pathLst>
                <a:path w="3331210" h="3331210">
                  <a:moveTo>
                    <a:pt x="3331210" y="3331210"/>
                  </a:moveTo>
                  <a:lnTo>
                    <a:pt x="0" y="3331210"/>
                  </a:lnTo>
                  <a:cubicBezTo>
                    <a:pt x="0" y="1490980"/>
                    <a:pt x="1490980" y="0"/>
                    <a:pt x="3331210" y="0"/>
                  </a:cubicBezTo>
                  <a:lnTo>
                    <a:pt x="3331210" y="3331210"/>
                  </a:lnTo>
                  <a:close/>
                </a:path>
              </a:pathLst>
            </a:custGeom>
            <a:blipFill>
              <a:blip r:embed="rId4"/>
              <a:stretch>
                <a:fillRect l="-25000" r="-25000"/>
              </a:stretch>
            </a:blipFill>
          </p:spPr>
        </p:sp>
      </p:grpSp>
      <p:sp>
        <p:nvSpPr>
          <p:cNvPr id="6" name="TextBox 6"/>
          <p:cNvSpPr txBox="1"/>
          <p:nvPr/>
        </p:nvSpPr>
        <p:spPr>
          <a:xfrm>
            <a:off x="609600" y="4078381"/>
            <a:ext cx="11963399" cy="1532471"/>
          </a:xfrm>
          <a:prstGeom prst="rect">
            <a:avLst/>
          </a:prstGeom>
        </p:spPr>
        <p:txBody>
          <a:bodyPr wrap="square" lIns="0" tIns="0" rIns="0" bIns="0" rtlCol="0" anchor="t">
            <a:spAutoFit/>
          </a:bodyPr>
          <a:lstStyle/>
          <a:p>
            <a:pPr marL="0" lvl="0" indent="0" algn="ctr">
              <a:lnSpc>
                <a:spcPts val="5783"/>
              </a:lnSpc>
            </a:pPr>
            <a:r>
              <a:rPr lang="en-US" sz="6000" b="1" spc="251" dirty="0">
                <a:solidFill>
                  <a:srgbClr val="FFFFFF"/>
                </a:solidFill>
                <a:latin typeface="Now Bold"/>
                <a:ea typeface="Now Bold"/>
                <a:cs typeface="Now Bold"/>
                <a:sym typeface="Now Bold"/>
              </a:rPr>
              <a:t>Thank you for your time and attention!</a:t>
            </a:r>
          </a:p>
        </p:txBody>
      </p:sp>
      <p:sp>
        <p:nvSpPr>
          <p:cNvPr id="7" name="TextBox 7"/>
          <p:cNvSpPr txBox="1"/>
          <p:nvPr/>
        </p:nvSpPr>
        <p:spPr>
          <a:xfrm>
            <a:off x="3515016" y="1188867"/>
            <a:ext cx="1810574" cy="675207"/>
          </a:xfrm>
          <a:prstGeom prst="rect">
            <a:avLst/>
          </a:prstGeom>
        </p:spPr>
        <p:txBody>
          <a:bodyPr lIns="0" tIns="0" rIns="0" bIns="0" rtlCol="0" anchor="t">
            <a:spAutoFit/>
          </a:bodyPr>
          <a:lstStyle/>
          <a:p>
            <a:pPr algn="l">
              <a:lnSpc>
                <a:spcPts val="2666"/>
              </a:lnSpc>
            </a:pPr>
            <a:r>
              <a:rPr lang="en-US" sz="2167" i="1" spc="-43">
                <a:solidFill>
                  <a:srgbClr val="56AEFF"/>
                </a:solidFill>
                <a:latin typeface="DM Sans Italics"/>
                <a:ea typeface="DM Sans Italics"/>
                <a:cs typeface="DM Sans Italics"/>
                <a:sym typeface="DM Sans Italics"/>
              </a:rPr>
              <a:t>Pioneers</a:t>
            </a:r>
          </a:p>
          <a:p>
            <a:pPr algn="l">
              <a:lnSpc>
                <a:spcPts val="2666"/>
              </a:lnSpc>
            </a:pPr>
            <a:endParaRPr lang="en-US" sz="2167" i="1" spc="-43">
              <a:solidFill>
                <a:srgbClr val="56AEFF"/>
              </a:solidFill>
              <a:latin typeface="DM Sans Italics"/>
              <a:ea typeface="DM Sans Italics"/>
              <a:cs typeface="DM Sans Italics"/>
              <a:sym typeface="DM Sans Italics"/>
            </a:endParaRPr>
          </a:p>
        </p:txBody>
      </p:sp>
      <p:sp>
        <p:nvSpPr>
          <p:cNvPr id="8" name="Freeform 8"/>
          <p:cNvSpPr/>
          <p:nvPr/>
        </p:nvSpPr>
        <p:spPr>
          <a:xfrm>
            <a:off x="2471959" y="1028700"/>
            <a:ext cx="720510" cy="835374"/>
          </a:xfrm>
          <a:custGeom>
            <a:avLst/>
            <a:gdLst/>
            <a:ahLst/>
            <a:cxnLst/>
            <a:rect l="l" t="t" r="r" b="b"/>
            <a:pathLst>
              <a:path w="720510" h="835374">
                <a:moveTo>
                  <a:pt x="0" y="0"/>
                </a:moveTo>
                <a:lnTo>
                  <a:pt x="720510" y="0"/>
                </a:lnTo>
                <a:lnTo>
                  <a:pt x="720510" y="835374"/>
                </a:lnTo>
                <a:lnTo>
                  <a:pt x="0" y="8353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1325918" y="0"/>
            <a:ext cx="2651835" cy="2651835"/>
          </a:xfrm>
          <a:custGeom>
            <a:avLst/>
            <a:gdLst/>
            <a:ahLst/>
            <a:cxnLst/>
            <a:rect l="l" t="t" r="r" b="b"/>
            <a:pathLst>
              <a:path w="2651835" h="2651835">
                <a:moveTo>
                  <a:pt x="0" y="0"/>
                </a:moveTo>
                <a:lnTo>
                  <a:pt x="2651836" y="0"/>
                </a:lnTo>
                <a:lnTo>
                  <a:pt x="2651836" y="2651835"/>
                </a:lnTo>
                <a:lnTo>
                  <a:pt x="0" y="2651835"/>
                </a:lnTo>
                <a:lnTo>
                  <a:pt x="0" y="0"/>
                </a:lnTo>
                <a:close/>
              </a:path>
            </a:pathLst>
          </a:custGeom>
          <a:blipFill>
            <a:blip r:embed="rId7">
              <a:alphaModFix amt="20999"/>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1143000" y="6288754"/>
            <a:ext cx="9826526" cy="447675"/>
          </a:xfrm>
          <a:prstGeom prst="rect">
            <a:avLst/>
          </a:prstGeom>
        </p:spPr>
        <p:txBody>
          <a:bodyPr lIns="0" tIns="0" rIns="0" bIns="0" rtlCol="0" anchor="t">
            <a:spAutoFit/>
          </a:bodyPr>
          <a:lstStyle/>
          <a:p>
            <a:pPr algn="ctr">
              <a:lnSpc>
                <a:spcPts val="3479"/>
              </a:lnSpc>
              <a:spcBef>
                <a:spcPct val="0"/>
              </a:spcBef>
            </a:pPr>
            <a:r>
              <a:rPr lang="en-US" sz="2899" b="1" dirty="0">
                <a:solidFill>
                  <a:srgbClr val="FFFFFF"/>
                </a:solidFill>
                <a:latin typeface="Now Bold"/>
                <a:ea typeface="Now Bold"/>
                <a:cs typeface="Now Bold"/>
                <a:sym typeface="Now Bold"/>
              </a:rPr>
              <a:t>HAPPY TO ANSWER ANY QUESTIONS YOU MAY HAVE</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817</Words>
  <Application>Microsoft Office PowerPoint</Application>
  <PresentationFormat>Custom</PresentationFormat>
  <Paragraphs>126</Paragraphs>
  <Slides>10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DM Sans Bold</vt:lpstr>
      <vt:lpstr>Arial</vt:lpstr>
      <vt:lpstr>DM Sans</vt:lpstr>
      <vt:lpstr>DM Sans Italics</vt:lpstr>
      <vt:lpstr>Canva Sans</vt:lpstr>
      <vt:lpstr>Now Bold</vt:lpstr>
      <vt:lpstr>Calibri</vt:lpstr>
      <vt:lpstr>Calibri (MS)</vt:lpstr>
      <vt:lpstr>Touvlo</vt:lpstr>
      <vt:lpstr>DM Sans Bold Italics</vt:lpstr>
      <vt:lpstr>Calibri (MS)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3</dc:title>
  <dc:creator>iprahem sleem</dc:creator>
  <cp:lastModifiedBy>iprahem sleem</cp:lastModifiedBy>
  <cp:revision>4</cp:revision>
  <dcterms:created xsi:type="dcterms:W3CDTF">2006-08-16T00:00:00Z</dcterms:created>
  <dcterms:modified xsi:type="dcterms:W3CDTF">2025-04-27T15:44:15Z</dcterms:modified>
  <dc:identifier>DAGYuuSbXJ0</dc:identifier>
</cp:coreProperties>
</file>